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5143500" cx="9144000"/>
  <p:notesSz cx="6858000" cy="9144000"/>
  <p:embeddedFontLst>
    <p:embeddedFont>
      <p:font typeface="Anton"/>
      <p:regular r:id="rId54"/>
    </p:embeddedFont>
    <p:embeddedFont>
      <p:font typeface="Oswald Regular"/>
      <p:regular r:id="rId55"/>
      <p:bold r:id="rId56"/>
    </p:embeddedFont>
    <p:embeddedFont>
      <p:font typeface="Fjalla One"/>
      <p:regular r:id="rId57"/>
    </p:embeddedFont>
    <p:embeddedFont>
      <p:font typeface="Source Code Pro"/>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font" Target="fonts/SourceCodePr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SourceCodePro-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OswaldRegular-regular.fntdata"/><Relationship Id="rId10" Type="http://schemas.openxmlformats.org/officeDocument/2006/relationships/slide" Target="slides/slide5.xml"/><Relationship Id="rId54" Type="http://schemas.openxmlformats.org/officeDocument/2006/relationships/font" Target="fonts/Anton-regular.fntdata"/><Relationship Id="rId13" Type="http://schemas.openxmlformats.org/officeDocument/2006/relationships/slide" Target="slides/slide8.xml"/><Relationship Id="rId57" Type="http://schemas.openxmlformats.org/officeDocument/2006/relationships/font" Target="fonts/FjallaOne-regular.fntdata"/><Relationship Id="rId12" Type="http://schemas.openxmlformats.org/officeDocument/2006/relationships/slide" Target="slides/slide7.xml"/><Relationship Id="rId56" Type="http://schemas.openxmlformats.org/officeDocument/2006/relationships/font" Target="fonts/OswaldRegular-bold.fntdata"/><Relationship Id="rId15" Type="http://schemas.openxmlformats.org/officeDocument/2006/relationships/slide" Target="slides/slide10.xml"/><Relationship Id="rId59" Type="http://schemas.openxmlformats.org/officeDocument/2006/relationships/font" Target="fonts/SourceCodePro-bold.fntdata"/><Relationship Id="rId14" Type="http://schemas.openxmlformats.org/officeDocument/2006/relationships/slide" Target="slides/slide9.xml"/><Relationship Id="rId58" Type="http://schemas.openxmlformats.org/officeDocument/2006/relationships/font" Target="fonts/SourceCodePr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g5d4335792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5d4335792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 name="Shape 69"/>
        <p:cNvGrpSpPr/>
        <p:nvPr/>
      </p:nvGrpSpPr>
      <p:grpSpPr>
        <a:xfrm>
          <a:off x="0" y="0"/>
          <a:ext cx="0" cy="0"/>
          <a:chOff x="0" y="0"/>
          <a:chExt cx="0" cy="0"/>
        </a:xfrm>
      </p:grpSpPr>
      <p:sp>
        <p:nvSpPr>
          <p:cNvPr id="70" name="Google Shape;70;g5d4335792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5d4335792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6" name="Shape 76"/>
        <p:cNvGrpSpPr/>
        <p:nvPr/>
      </p:nvGrpSpPr>
      <p:grpSpPr>
        <a:xfrm>
          <a:off x="0" y="0"/>
          <a:ext cx="0" cy="0"/>
          <a:chOff x="0" y="0"/>
          <a:chExt cx="0" cy="0"/>
        </a:xfrm>
      </p:grpSpPr>
      <p:sp>
        <p:nvSpPr>
          <p:cNvPr id="77" name="Google Shape;77;g5dca40aba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5dca40aba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g5dca40aba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5dca40aba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Google Shape;93;g5e0137205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5e0137205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7" name="Shape 97"/>
        <p:cNvGrpSpPr/>
        <p:nvPr/>
      </p:nvGrpSpPr>
      <p:grpSpPr>
        <a:xfrm>
          <a:off x="0" y="0"/>
          <a:ext cx="0" cy="0"/>
          <a:chOff x="0" y="0"/>
          <a:chExt cx="0" cy="0"/>
        </a:xfrm>
      </p:grpSpPr>
      <p:sp>
        <p:nvSpPr>
          <p:cNvPr id="98" name="Google Shape;98;g5df22430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5df22430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8" name="Shape 108"/>
        <p:cNvGrpSpPr/>
        <p:nvPr/>
      </p:nvGrpSpPr>
      <p:grpSpPr>
        <a:xfrm>
          <a:off x="0" y="0"/>
          <a:ext cx="0" cy="0"/>
          <a:chOff x="0" y="0"/>
          <a:chExt cx="0" cy="0"/>
        </a:xfrm>
      </p:grpSpPr>
      <p:sp>
        <p:nvSpPr>
          <p:cNvPr id="109" name="Google Shape;109;g5df224302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5df224302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9" name="Shape 119"/>
        <p:cNvGrpSpPr/>
        <p:nvPr/>
      </p:nvGrpSpPr>
      <p:grpSpPr>
        <a:xfrm>
          <a:off x="0" y="0"/>
          <a:ext cx="0" cy="0"/>
          <a:chOff x="0" y="0"/>
          <a:chExt cx="0" cy="0"/>
        </a:xfrm>
      </p:grpSpPr>
      <p:sp>
        <p:nvSpPr>
          <p:cNvPr id="120" name="Google Shape;120;g5dca40aba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5dca40aba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9" name="Shape 129"/>
        <p:cNvGrpSpPr/>
        <p:nvPr/>
      </p:nvGrpSpPr>
      <p:grpSpPr>
        <a:xfrm>
          <a:off x="0" y="0"/>
          <a:ext cx="0" cy="0"/>
          <a:chOff x="0" y="0"/>
          <a:chExt cx="0" cy="0"/>
        </a:xfrm>
      </p:grpSpPr>
      <p:sp>
        <p:nvSpPr>
          <p:cNvPr id="130" name="Google Shape;130;g5dca40aba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5dca40aba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g5dca40aba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5dca40aba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Sometimes it’s not as straightforward as a single http request. In some cases you may be dealing with filters or you may not even see the output of your request but you still have a few options: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3" name="Shape 143"/>
        <p:cNvGrpSpPr/>
        <p:nvPr/>
      </p:nvGrpSpPr>
      <p:grpSpPr>
        <a:xfrm>
          <a:off x="0" y="0"/>
          <a:ext cx="0" cy="0"/>
          <a:chOff x="0" y="0"/>
          <a:chExt cx="0" cy="0"/>
        </a:xfrm>
      </p:grpSpPr>
      <p:sp>
        <p:nvSpPr>
          <p:cNvPr id="144" name="Google Shape;144;g5df2243028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5df224302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0" name="Shape 150"/>
        <p:cNvGrpSpPr/>
        <p:nvPr/>
      </p:nvGrpSpPr>
      <p:grpSpPr>
        <a:xfrm>
          <a:off x="0" y="0"/>
          <a:ext cx="0" cy="0"/>
          <a:chOff x="0" y="0"/>
          <a:chExt cx="0" cy="0"/>
        </a:xfrm>
      </p:grpSpPr>
      <p:sp>
        <p:nvSpPr>
          <p:cNvPr id="151" name="Google Shape;151;g5df2243028_2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5df2243028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5" name="Shape 155"/>
        <p:cNvGrpSpPr/>
        <p:nvPr/>
      </p:nvGrpSpPr>
      <p:grpSpPr>
        <a:xfrm>
          <a:off x="0" y="0"/>
          <a:ext cx="0" cy="0"/>
          <a:chOff x="0" y="0"/>
          <a:chExt cx="0" cy="0"/>
        </a:xfrm>
      </p:grpSpPr>
      <p:sp>
        <p:nvSpPr>
          <p:cNvPr id="156" name="Google Shape;156;g5d4335792d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5d4335792d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There are two common headless browsers in use, with lots of wrapper libraries providing easy integration with any language you can imagine. These are both serious browsers with all of the baggage that implies.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3" name="Shape 163"/>
        <p:cNvGrpSpPr/>
        <p:nvPr/>
      </p:nvGrpSpPr>
      <p:grpSpPr>
        <a:xfrm>
          <a:off x="0" y="0"/>
          <a:ext cx="0" cy="0"/>
          <a:chOff x="0" y="0"/>
          <a:chExt cx="0" cy="0"/>
        </a:xfrm>
      </p:grpSpPr>
      <p:sp>
        <p:nvSpPr>
          <p:cNvPr id="164" name="Google Shape;164;g5df224302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5df224302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Rather than using an actual browser engine, these renderers work by doing the HTML and CSS parsing, without any kind of JavaScript support or dynamic layout engine.  These tend to provide a restricted environment where most HTML can be handled safely and efficiently.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highlight>
                  <a:srgbClr val="00FF00"/>
                </a:highlight>
              </a:rPr>
              <a:t>WeasyPrint</a:t>
            </a:r>
            <a:r>
              <a:rPr lang="en"/>
              <a:t> is a great example of this class of HTML-&gt;PDF converters, which we’ll talk about in more detail later.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0" name="Shape 170"/>
        <p:cNvGrpSpPr/>
        <p:nvPr/>
      </p:nvGrpSpPr>
      <p:grpSpPr>
        <a:xfrm>
          <a:off x="0" y="0"/>
          <a:ext cx="0" cy="0"/>
          <a:chOff x="0" y="0"/>
          <a:chExt cx="0" cy="0"/>
        </a:xfrm>
      </p:grpSpPr>
      <p:sp>
        <p:nvSpPr>
          <p:cNvPr id="171" name="Google Shape;171;g5df2243028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5df2243028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5" name="Shape 175"/>
        <p:cNvGrpSpPr/>
        <p:nvPr/>
      </p:nvGrpSpPr>
      <p:grpSpPr>
        <a:xfrm>
          <a:off x="0" y="0"/>
          <a:ext cx="0" cy="0"/>
          <a:chOff x="0" y="0"/>
          <a:chExt cx="0" cy="0"/>
        </a:xfrm>
      </p:grpSpPr>
      <p:sp>
        <p:nvSpPr>
          <p:cNvPr id="176" name="Google Shape;176;g5dca40ab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5dca40ab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a:t>
            </a:r>
            <a:r>
              <a:rPr lang="en"/>
              <a:t>ost modern web applications performing PDF generation do not actually generate PDFs directly; this requires a lot of hand tweaking, generation of completely separate templates, etc.  Instead, they perform HTML-&gt;PDF conversion. As such, any XSS into this data gets you running in the context of the server -- not the client!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attack strategy used will depend on what conversion system is in use in the application, but these can be broken into two categories: Headless browsers and HTML renderers.</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2" name="Shape 182"/>
        <p:cNvGrpSpPr/>
        <p:nvPr/>
      </p:nvGrpSpPr>
      <p:grpSpPr>
        <a:xfrm>
          <a:off x="0" y="0"/>
          <a:ext cx="0" cy="0"/>
          <a:chOff x="0" y="0"/>
          <a:chExt cx="0" cy="0"/>
        </a:xfrm>
      </p:grpSpPr>
      <p:sp>
        <p:nvSpPr>
          <p:cNvPr id="183" name="Google Shape;183;g5d4335792d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5d4335792d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3" name="Shape 193"/>
        <p:cNvGrpSpPr/>
        <p:nvPr/>
      </p:nvGrpSpPr>
      <p:grpSpPr>
        <a:xfrm>
          <a:off x="0" y="0"/>
          <a:ext cx="0" cy="0"/>
          <a:chOff x="0" y="0"/>
          <a:chExt cx="0" cy="0"/>
        </a:xfrm>
      </p:grpSpPr>
      <p:sp>
        <p:nvSpPr>
          <p:cNvPr id="194" name="Google Shape;194;g5df2243028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5df2243028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1" name="Shape 201"/>
        <p:cNvGrpSpPr/>
        <p:nvPr/>
      </p:nvGrpSpPr>
      <p:grpSpPr>
        <a:xfrm>
          <a:off x="0" y="0"/>
          <a:ext cx="0" cy="0"/>
          <a:chOff x="0" y="0"/>
          <a:chExt cx="0" cy="0"/>
        </a:xfrm>
      </p:grpSpPr>
      <p:sp>
        <p:nvSpPr>
          <p:cNvPr id="202" name="Google Shape;202;g5e0137205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5e0137205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8" name="Shape 208"/>
        <p:cNvGrpSpPr/>
        <p:nvPr/>
      </p:nvGrpSpPr>
      <p:grpSpPr>
        <a:xfrm>
          <a:off x="0" y="0"/>
          <a:ext cx="0" cy="0"/>
          <a:chOff x="0" y="0"/>
          <a:chExt cx="0" cy="0"/>
        </a:xfrm>
      </p:grpSpPr>
      <p:sp>
        <p:nvSpPr>
          <p:cNvPr id="209" name="Google Shape;209;g5df224302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5df224302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5" name="Shape 215"/>
        <p:cNvGrpSpPr/>
        <p:nvPr/>
      </p:nvGrpSpPr>
      <p:grpSpPr>
        <a:xfrm>
          <a:off x="0" y="0"/>
          <a:ext cx="0" cy="0"/>
          <a:chOff x="0" y="0"/>
          <a:chExt cx="0" cy="0"/>
        </a:xfrm>
      </p:grpSpPr>
      <p:sp>
        <p:nvSpPr>
          <p:cNvPr id="216" name="Google Shape;216;g5df224302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5df224302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6" name="Shape 226"/>
        <p:cNvGrpSpPr/>
        <p:nvPr/>
      </p:nvGrpSpPr>
      <p:grpSpPr>
        <a:xfrm>
          <a:off x="0" y="0"/>
          <a:ext cx="0" cy="0"/>
          <a:chOff x="0" y="0"/>
          <a:chExt cx="0" cy="0"/>
        </a:xfrm>
      </p:grpSpPr>
      <p:sp>
        <p:nvSpPr>
          <p:cNvPr id="227" name="Google Shape;227;g5df224302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5df224302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0" name="Shape 240"/>
        <p:cNvGrpSpPr/>
        <p:nvPr/>
      </p:nvGrpSpPr>
      <p:grpSpPr>
        <a:xfrm>
          <a:off x="0" y="0"/>
          <a:ext cx="0" cy="0"/>
          <a:chOff x="0" y="0"/>
          <a:chExt cx="0" cy="0"/>
        </a:xfrm>
      </p:grpSpPr>
      <p:sp>
        <p:nvSpPr>
          <p:cNvPr id="241" name="Google Shape;241;g5df224302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5df2243028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8" name="Shape 248"/>
        <p:cNvGrpSpPr/>
        <p:nvPr/>
      </p:nvGrpSpPr>
      <p:grpSpPr>
        <a:xfrm>
          <a:off x="0" y="0"/>
          <a:ext cx="0" cy="0"/>
          <a:chOff x="0" y="0"/>
          <a:chExt cx="0" cy="0"/>
        </a:xfrm>
      </p:grpSpPr>
      <p:sp>
        <p:nvSpPr>
          <p:cNvPr id="249" name="Google Shape;249;g5df2243028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5df2243028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3" name="Shape 253"/>
        <p:cNvGrpSpPr/>
        <p:nvPr/>
      </p:nvGrpSpPr>
      <p:grpSpPr>
        <a:xfrm>
          <a:off x="0" y="0"/>
          <a:ext cx="0" cy="0"/>
          <a:chOff x="0" y="0"/>
          <a:chExt cx="0" cy="0"/>
        </a:xfrm>
      </p:grpSpPr>
      <p:sp>
        <p:nvSpPr>
          <p:cNvPr id="254" name="Google Shape;254;g5ddacb1da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5ddacb1da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0" name="Shape 260"/>
        <p:cNvGrpSpPr/>
        <p:nvPr/>
      </p:nvGrpSpPr>
      <p:grpSpPr>
        <a:xfrm>
          <a:off x="0" y="0"/>
          <a:ext cx="0" cy="0"/>
          <a:chOff x="0" y="0"/>
          <a:chExt cx="0" cy="0"/>
        </a:xfrm>
      </p:grpSpPr>
      <p:sp>
        <p:nvSpPr>
          <p:cNvPr id="261" name="Google Shape;261;g5ddacb1da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5ddacb1da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7" name="Shape 267"/>
        <p:cNvGrpSpPr/>
        <p:nvPr/>
      </p:nvGrpSpPr>
      <p:grpSpPr>
        <a:xfrm>
          <a:off x="0" y="0"/>
          <a:ext cx="0" cy="0"/>
          <a:chOff x="0" y="0"/>
          <a:chExt cx="0" cy="0"/>
        </a:xfrm>
      </p:grpSpPr>
      <p:sp>
        <p:nvSpPr>
          <p:cNvPr id="268" name="Google Shape;268;g5df2243028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5df2243028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7" name="Shape 277"/>
        <p:cNvGrpSpPr/>
        <p:nvPr/>
      </p:nvGrpSpPr>
      <p:grpSpPr>
        <a:xfrm>
          <a:off x="0" y="0"/>
          <a:ext cx="0" cy="0"/>
          <a:chOff x="0" y="0"/>
          <a:chExt cx="0" cy="0"/>
        </a:xfrm>
      </p:grpSpPr>
      <p:sp>
        <p:nvSpPr>
          <p:cNvPr id="278" name="Google Shape;278;g5df2243028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5df2243028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4" name="Shape 284"/>
        <p:cNvGrpSpPr/>
        <p:nvPr/>
      </p:nvGrpSpPr>
      <p:grpSpPr>
        <a:xfrm>
          <a:off x="0" y="0"/>
          <a:ext cx="0" cy="0"/>
          <a:chOff x="0" y="0"/>
          <a:chExt cx="0" cy="0"/>
        </a:xfrm>
      </p:grpSpPr>
      <p:sp>
        <p:nvSpPr>
          <p:cNvPr id="285" name="Google Shape;285;g5df2243028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5df2243028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1" name="Shape 291"/>
        <p:cNvGrpSpPr/>
        <p:nvPr/>
      </p:nvGrpSpPr>
      <p:grpSpPr>
        <a:xfrm>
          <a:off x="0" y="0"/>
          <a:ext cx="0" cy="0"/>
          <a:chOff x="0" y="0"/>
          <a:chExt cx="0" cy="0"/>
        </a:xfrm>
      </p:grpSpPr>
      <p:sp>
        <p:nvSpPr>
          <p:cNvPr id="292" name="Google Shape;292;g5df2243028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5df2243028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8" name="Shape 298"/>
        <p:cNvGrpSpPr/>
        <p:nvPr/>
      </p:nvGrpSpPr>
      <p:grpSpPr>
        <a:xfrm>
          <a:off x="0" y="0"/>
          <a:ext cx="0" cy="0"/>
          <a:chOff x="0" y="0"/>
          <a:chExt cx="0" cy="0"/>
        </a:xfrm>
      </p:grpSpPr>
      <p:sp>
        <p:nvSpPr>
          <p:cNvPr id="299" name="Google Shape;299;g5df2243028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5df2243028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5" name="Shape 305"/>
        <p:cNvGrpSpPr/>
        <p:nvPr/>
      </p:nvGrpSpPr>
      <p:grpSpPr>
        <a:xfrm>
          <a:off x="0" y="0"/>
          <a:ext cx="0" cy="0"/>
          <a:chOff x="0" y="0"/>
          <a:chExt cx="0" cy="0"/>
        </a:xfrm>
      </p:grpSpPr>
      <p:sp>
        <p:nvSpPr>
          <p:cNvPr id="306" name="Google Shape;306;g5ddacb1da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5ddacb1da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2" name="Shape 312"/>
        <p:cNvGrpSpPr/>
        <p:nvPr/>
      </p:nvGrpSpPr>
      <p:grpSpPr>
        <a:xfrm>
          <a:off x="0" y="0"/>
          <a:ext cx="0" cy="0"/>
          <a:chOff x="0" y="0"/>
          <a:chExt cx="0" cy="0"/>
        </a:xfrm>
      </p:grpSpPr>
      <p:sp>
        <p:nvSpPr>
          <p:cNvPr id="313" name="Google Shape;313;g5ddacb1da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5ddacb1da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9" name="Shape 319"/>
        <p:cNvGrpSpPr/>
        <p:nvPr/>
      </p:nvGrpSpPr>
      <p:grpSpPr>
        <a:xfrm>
          <a:off x="0" y="0"/>
          <a:ext cx="0" cy="0"/>
          <a:chOff x="0" y="0"/>
          <a:chExt cx="0" cy="0"/>
        </a:xfrm>
      </p:grpSpPr>
      <p:sp>
        <p:nvSpPr>
          <p:cNvPr id="320" name="Google Shape;320;g5ddacb1da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5ddacb1da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6" name="Shape 326"/>
        <p:cNvGrpSpPr/>
        <p:nvPr/>
      </p:nvGrpSpPr>
      <p:grpSpPr>
        <a:xfrm>
          <a:off x="0" y="0"/>
          <a:ext cx="0" cy="0"/>
          <a:chOff x="0" y="0"/>
          <a:chExt cx="0" cy="0"/>
        </a:xfrm>
      </p:grpSpPr>
      <p:sp>
        <p:nvSpPr>
          <p:cNvPr id="327" name="Google Shape;327;g5df2243028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5df2243028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7" name="Shape 337"/>
        <p:cNvGrpSpPr/>
        <p:nvPr/>
      </p:nvGrpSpPr>
      <p:grpSpPr>
        <a:xfrm>
          <a:off x="0" y="0"/>
          <a:ext cx="0" cy="0"/>
          <a:chOff x="0" y="0"/>
          <a:chExt cx="0" cy="0"/>
        </a:xfrm>
      </p:grpSpPr>
      <p:sp>
        <p:nvSpPr>
          <p:cNvPr id="338" name="Google Shape;338;g5d4335792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5d4335792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2" name="Shape 342"/>
        <p:cNvGrpSpPr/>
        <p:nvPr/>
      </p:nvGrpSpPr>
      <p:grpSpPr>
        <a:xfrm>
          <a:off x="0" y="0"/>
          <a:ext cx="0" cy="0"/>
          <a:chOff x="0" y="0"/>
          <a:chExt cx="0" cy="0"/>
        </a:xfrm>
      </p:grpSpPr>
      <p:sp>
        <p:nvSpPr>
          <p:cNvPr id="343" name="Google Shape;343;g5df2243028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5df2243028_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0" name="Shape 350"/>
        <p:cNvGrpSpPr/>
        <p:nvPr/>
      </p:nvGrpSpPr>
      <p:grpSpPr>
        <a:xfrm>
          <a:off x="0" y="0"/>
          <a:ext cx="0" cy="0"/>
          <a:chOff x="0" y="0"/>
          <a:chExt cx="0" cy="0"/>
        </a:xfrm>
      </p:grpSpPr>
      <p:sp>
        <p:nvSpPr>
          <p:cNvPr id="351" name="Google Shape;351;g5d4335792d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5d4335792d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7" name="Shape 357"/>
        <p:cNvGrpSpPr/>
        <p:nvPr/>
      </p:nvGrpSpPr>
      <p:grpSpPr>
        <a:xfrm>
          <a:off x="0" y="0"/>
          <a:ext cx="0" cy="0"/>
          <a:chOff x="0" y="0"/>
          <a:chExt cx="0" cy="0"/>
        </a:xfrm>
      </p:grpSpPr>
      <p:sp>
        <p:nvSpPr>
          <p:cNvPr id="358" name="Google Shape;358;g5d4335792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5d4335792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2" name="Shape 362"/>
        <p:cNvGrpSpPr/>
        <p:nvPr/>
      </p:nvGrpSpPr>
      <p:grpSpPr>
        <a:xfrm>
          <a:off x="0" y="0"/>
          <a:ext cx="0" cy="0"/>
          <a:chOff x="0" y="0"/>
          <a:chExt cx="0" cy="0"/>
        </a:xfrm>
      </p:grpSpPr>
      <p:sp>
        <p:nvSpPr>
          <p:cNvPr id="363" name="Google Shape;363;g5e0137205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5e0137205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7" name="Shape 367"/>
        <p:cNvGrpSpPr/>
        <p:nvPr/>
      </p:nvGrpSpPr>
      <p:grpSpPr>
        <a:xfrm>
          <a:off x="0" y="0"/>
          <a:ext cx="0" cy="0"/>
          <a:chOff x="0" y="0"/>
          <a:chExt cx="0" cy="0"/>
        </a:xfrm>
      </p:grpSpPr>
      <p:sp>
        <p:nvSpPr>
          <p:cNvPr id="368" name="Google Shape;368;g5df2243028_2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5df2243028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4" name="Shape 374"/>
        <p:cNvGrpSpPr/>
        <p:nvPr/>
      </p:nvGrpSpPr>
      <p:grpSpPr>
        <a:xfrm>
          <a:off x="0" y="0"/>
          <a:ext cx="0" cy="0"/>
          <a:chOff x="0" y="0"/>
          <a:chExt cx="0" cy="0"/>
        </a:xfrm>
      </p:grpSpPr>
      <p:sp>
        <p:nvSpPr>
          <p:cNvPr id="375" name="Google Shape;375;g5d4335792d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5d4335792d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1" name="Shape 381"/>
        <p:cNvGrpSpPr/>
        <p:nvPr/>
      </p:nvGrpSpPr>
      <p:grpSpPr>
        <a:xfrm>
          <a:off x="0" y="0"/>
          <a:ext cx="0" cy="0"/>
          <a:chOff x="0" y="0"/>
          <a:chExt cx="0" cy="0"/>
        </a:xfrm>
      </p:grpSpPr>
      <p:sp>
        <p:nvSpPr>
          <p:cNvPr id="382" name="Google Shape;382;g5e0137205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5e0137205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6" name="Shape 386"/>
        <p:cNvGrpSpPr/>
        <p:nvPr/>
      </p:nvGrpSpPr>
      <p:grpSpPr>
        <a:xfrm>
          <a:off x="0" y="0"/>
          <a:ext cx="0" cy="0"/>
          <a:chOff x="0" y="0"/>
          <a:chExt cx="0" cy="0"/>
        </a:xfrm>
      </p:grpSpPr>
      <p:sp>
        <p:nvSpPr>
          <p:cNvPr id="387" name="Google Shape;387;g5e0137205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5e0137205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3" name="Shape 393"/>
        <p:cNvGrpSpPr/>
        <p:nvPr/>
      </p:nvGrpSpPr>
      <p:grpSpPr>
        <a:xfrm>
          <a:off x="0" y="0"/>
          <a:ext cx="0" cy="0"/>
          <a:chOff x="0" y="0"/>
          <a:chExt cx="0" cy="0"/>
        </a:xfrm>
      </p:grpSpPr>
      <p:sp>
        <p:nvSpPr>
          <p:cNvPr id="394" name="Google Shape;394;g5e0137205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5e0137205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0" name="Shape 400"/>
        <p:cNvGrpSpPr/>
        <p:nvPr/>
      </p:nvGrpSpPr>
      <p:grpSpPr>
        <a:xfrm>
          <a:off x="0" y="0"/>
          <a:ext cx="0" cy="0"/>
          <a:chOff x="0" y="0"/>
          <a:chExt cx="0" cy="0"/>
        </a:xfrm>
      </p:grpSpPr>
      <p:sp>
        <p:nvSpPr>
          <p:cNvPr id="401" name="Google Shape;401;g5e0137205d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5e0137205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2" name="Shape 412"/>
        <p:cNvGrpSpPr/>
        <p:nvPr/>
      </p:nvGrpSpPr>
      <p:grpSpPr>
        <a:xfrm>
          <a:off x="0" y="0"/>
          <a:ext cx="0" cy="0"/>
          <a:chOff x="0" y="0"/>
          <a:chExt cx="0" cy="0"/>
        </a:xfrm>
      </p:grpSpPr>
      <p:sp>
        <p:nvSpPr>
          <p:cNvPr id="413" name="Google Shape;413;g5e0137205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5e0137205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site.com/myfunnycatmeme.jpe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nvd.nist.gov/vuln/detail/CVE-2017-9506" TargetMode="External"/><Relationship Id="rId4" Type="http://schemas.openxmlformats.org/officeDocument/2006/relationships/image" Target="../media/image1.png"/><Relationship Id="rId5" Type="http://schemas.openxmlformats.org/officeDocument/2006/relationships/hyperlink" Target="https://medium.com/bugbountywriteup/piercing-the-veil-server-side-request-forgery-to-niprnet-access-c358fd5e249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nvd.nist.gov/vuln/detail/CVE-2017-9506" TargetMode="External"/><Relationship Id="rId4" Type="http://schemas.openxmlformats.org/officeDocument/2006/relationships/hyperlink" Target="https://medium.com/bugbountywriteup/piercing-the-veil-server-side-request-forgery-to-niprnet-access-c358fd5e249a" TargetMode="External"/><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nvd.nist.gov/vuln/detail/CVE-2018-1000600#vulnCurrentDescriptionTitle" TargetMode="Externa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169.254.169.254/user-data" TargetMode="Externa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ex.ploit.info/"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www.youtube.com/watch?v=Gcab8sLBmnk" TargetMode="External"/><Relationship Id="rId4" Type="http://schemas.openxmlformats.org/officeDocument/2006/relationships/image" Target="../media/image1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s://github.com/daeken/httprebin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hyperlink" Target="https://github.com/daeken/SSRFTest" TargetMode="External"/><Relationship Id="rId4" Type="http://schemas.openxmlformats.org/officeDocument/2006/relationships/hyperlink" Target="https://ssrftest.co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7.jpg"/><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53" name="Shape 53"/>
        <p:cNvGrpSpPr/>
        <p:nvPr/>
      </p:nvGrpSpPr>
      <p:grpSpPr>
        <a:xfrm>
          <a:off x="0" y="0"/>
          <a:ext cx="0" cy="0"/>
          <a:chOff x="0" y="0"/>
          <a:chExt cx="0" cy="0"/>
        </a:xfrm>
      </p:grpSpPr>
      <p:sp>
        <p:nvSpPr>
          <p:cNvPr id="54" name="Google Shape;54;p13"/>
          <p:cNvSpPr txBox="1"/>
          <p:nvPr>
            <p:ph idx="1" type="subTitle"/>
          </p:nvPr>
        </p:nvSpPr>
        <p:spPr>
          <a:xfrm>
            <a:off x="496450" y="12568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OWNING THE CLOUT THROUGH SSRF </a:t>
            </a:r>
            <a:endParaRPr b="1" sz="4000">
              <a:solidFill>
                <a:srgbClr val="FF00FF"/>
              </a:solidFill>
              <a:latin typeface="Fjalla One"/>
              <a:ea typeface="Fjalla One"/>
              <a:cs typeface="Fjalla One"/>
              <a:sym typeface="Fjalla One"/>
            </a:endParaRPr>
          </a:p>
          <a:p>
            <a:pPr indent="0" lvl="0" marL="0" rtl="0" algn="l">
              <a:spcBef>
                <a:spcPts val="0"/>
              </a:spcBef>
              <a:spcAft>
                <a:spcPts val="0"/>
              </a:spcAft>
              <a:buNone/>
            </a:pPr>
            <a:r>
              <a:rPr b="1" lang="en" sz="4000">
                <a:solidFill>
                  <a:srgbClr val="FF00FF"/>
                </a:solidFill>
                <a:latin typeface="Fjalla One"/>
                <a:ea typeface="Fjalla One"/>
                <a:cs typeface="Fjalla One"/>
                <a:sym typeface="Fjalla One"/>
              </a:rPr>
              <a:t>AND PDF GENERATORS</a:t>
            </a:r>
            <a:endParaRPr b="1" sz="4000">
              <a:solidFill>
                <a:srgbClr val="FF00FF"/>
              </a:solidFill>
              <a:latin typeface="Fjalla One"/>
              <a:ea typeface="Fjalla One"/>
              <a:cs typeface="Fjalla One"/>
              <a:sym typeface="Fjalla One"/>
            </a:endParaRPr>
          </a:p>
        </p:txBody>
      </p:sp>
      <p:sp>
        <p:nvSpPr>
          <p:cNvPr id="55" name="Google Shape;55;p13"/>
          <p:cNvSpPr txBox="1"/>
          <p:nvPr>
            <p:ph idx="1" type="subTitle"/>
          </p:nvPr>
        </p:nvSpPr>
        <p:spPr>
          <a:xfrm>
            <a:off x="556500" y="2571750"/>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Anton"/>
                <a:ea typeface="Anton"/>
                <a:cs typeface="Anton"/>
                <a:sym typeface="Anton"/>
              </a:rPr>
              <a:t>Ben Sadeghipour </a:t>
            </a:r>
            <a:endParaRPr sz="2000">
              <a:solidFill>
                <a:srgbClr val="FFFFFF"/>
              </a:solidFill>
              <a:latin typeface="Anton"/>
              <a:ea typeface="Anton"/>
              <a:cs typeface="Anton"/>
              <a:sym typeface="Anton"/>
            </a:endParaRPr>
          </a:p>
          <a:p>
            <a:pPr indent="0" lvl="0" marL="0" rtl="0" algn="l">
              <a:spcBef>
                <a:spcPts val="0"/>
              </a:spcBef>
              <a:spcAft>
                <a:spcPts val="0"/>
              </a:spcAft>
              <a:buNone/>
            </a:pPr>
            <a:r>
              <a:rPr lang="en" sz="2000">
                <a:solidFill>
                  <a:srgbClr val="FFFFFF"/>
                </a:solidFill>
                <a:latin typeface="Anton"/>
                <a:ea typeface="Anton"/>
                <a:cs typeface="Anton"/>
                <a:sym typeface="Anton"/>
              </a:rPr>
              <a:t>Cody Brocious</a:t>
            </a:r>
            <a:endParaRPr sz="2000">
              <a:solidFill>
                <a:srgbClr val="FFFFFF"/>
              </a:solidFill>
              <a:latin typeface="Anton"/>
              <a:ea typeface="Anton"/>
              <a:cs typeface="Anton"/>
              <a:sym typeface="Anton"/>
            </a:endParaRPr>
          </a:p>
        </p:txBody>
      </p:sp>
      <p:cxnSp>
        <p:nvCxnSpPr>
          <p:cNvPr id="56" name="Google Shape;56;p13"/>
          <p:cNvCxnSpPr/>
          <p:nvPr/>
        </p:nvCxnSpPr>
        <p:spPr>
          <a:xfrm flipH="1" rot="10800000">
            <a:off x="440500" y="2578975"/>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60" name="Shape 60"/>
        <p:cNvGrpSpPr/>
        <p:nvPr/>
      </p:nvGrpSpPr>
      <p:grpSpPr>
        <a:xfrm>
          <a:off x="0" y="0"/>
          <a:ext cx="0" cy="0"/>
          <a:chOff x="0" y="0"/>
          <a:chExt cx="0" cy="0"/>
        </a:xfrm>
      </p:grpSpPr>
      <p:sp>
        <p:nvSpPr>
          <p:cNvPr id="61" name="Google Shape;61;p14"/>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WHO ARE WE</a:t>
            </a:r>
            <a:endParaRPr b="1" sz="4000">
              <a:solidFill>
                <a:srgbClr val="FF00FF"/>
              </a:solidFill>
              <a:latin typeface="Fjalla One"/>
              <a:ea typeface="Fjalla One"/>
              <a:cs typeface="Fjalla One"/>
              <a:sym typeface="Fjalla One"/>
            </a:endParaRPr>
          </a:p>
        </p:txBody>
      </p:sp>
      <p:pic>
        <p:nvPicPr>
          <p:cNvPr id="62" name="Google Shape;62;p14"/>
          <p:cNvPicPr preferRelativeResize="0"/>
          <p:nvPr/>
        </p:nvPicPr>
        <p:blipFill>
          <a:blip r:embed="rId3">
            <a:alphaModFix/>
          </a:blip>
          <a:stretch>
            <a:fillRect/>
          </a:stretch>
        </p:blipFill>
        <p:spPr>
          <a:xfrm>
            <a:off x="1168700" y="1530675"/>
            <a:ext cx="1133400" cy="1133400"/>
          </a:xfrm>
          <a:prstGeom prst="ellipse">
            <a:avLst/>
          </a:prstGeom>
          <a:noFill/>
          <a:ln>
            <a:noFill/>
          </a:ln>
        </p:spPr>
      </p:pic>
      <p:sp>
        <p:nvSpPr>
          <p:cNvPr id="63" name="Google Shape;63;p14"/>
          <p:cNvSpPr txBox="1"/>
          <p:nvPr/>
        </p:nvSpPr>
        <p:spPr>
          <a:xfrm>
            <a:off x="2927925" y="1372875"/>
            <a:ext cx="5142300" cy="14490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Head of Hacker Operations at HackerOne</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Top 20 hacker on HackerOne</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Snapchat, Yahoo, DoD, Airbnb, Valve, etc.</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Youtube/Twitch/social media: @NahamSec</a:t>
            </a:r>
            <a:endParaRPr sz="2000">
              <a:solidFill>
                <a:srgbClr val="FFFFFF"/>
              </a:solidFill>
              <a:latin typeface="Oswald Regular"/>
              <a:ea typeface="Oswald Regular"/>
              <a:cs typeface="Oswald Regular"/>
              <a:sym typeface="Oswald Regular"/>
            </a:endParaRPr>
          </a:p>
        </p:txBody>
      </p:sp>
      <p:sp>
        <p:nvSpPr>
          <p:cNvPr id="64" name="Google Shape;64;p14"/>
          <p:cNvSpPr txBox="1"/>
          <p:nvPr/>
        </p:nvSpPr>
        <p:spPr>
          <a:xfrm>
            <a:off x="980750" y="2664075"/>
            <a:ext cx="1509300" cy="40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FFFFFF"/>
                </a:solidFill>
                <a:latin typeface="Fjalla One"/>
                <a:ea typeface="Fjalla One"/>
                <a:cs typeface="Fjalla One"/>
                <a:sym typeface="Fjalla One"/>
              </a:rPr>
              <a:t>Ben Sadeghipour</a:t>
            </a:r>
            <a:endParaRPr sz="1500">
              <a:solidFill>
                <a:srgbClr val="FFFFFF"/>
              </a:solidFill>
              <a:latin typeface="Fjalla One"/>
              <a:ea typeface="Fjalla One"/>
              <a:cs typeface="Fjalla One"/>
              <a:sym typeface="Fjalla One"/>
            </a:endParaRPr>
          </a:p>
        </p:txBody>
      </p:sp>
      <p:pic>
        <p:nvPicPr>
          <p:cNvPr id="65" name="Google Shape;65;p14"/>
          <p:cNvPicPr preferRelativeResize="0"/>
          <p:nvPr/>
        </p:nvPicPr>
        <p:blipFill rotWithShape="1">
          <a:blip r:embed="rId4">
            <a:alphaModFix/>
          </a:blip>
          <a:srcRect b="99" l="0" r="0" t="99"/>
          <a:stretch/>
        </p:blipFill>
        <p:spPr>
          <a:xfrm>
            <a:off x="1168700" y="3242725"/>
            <a:ext cx="1133400" cy="1133400"/>
          </a:xfrm>
          <a:prstGeom prst="ellipse">
            <a:avLst/>
          </a:prstGeom>
          <a:noFill/>
          <a:ln>
            <a:noFill/>
          </a:ln>
        </p:spPr>
      </p:pic>
      <p:sp>
        <p:nvSpPr>
          <p:cNvPr id="66" name="Google Shape;66;p14"/>
          <p:cNvSpPr txBox="1"/>
          <p:nvPr/>
        </p:nvSpPr>
        <p:spPr>
          <a:xfrm>
            <a:off x="2927925" y="3084925"/>
            <a:ext cx="5142300" cy="14490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Head of Hacker Education at HackerOne</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Not top 20 on HackerOne</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Hotel locks, Nintendo Switch, iTunes, etc.</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Twitter: @daeken</a:t>
            </a:r>
            <a:endParaRPr sz="2000">
              <a:solidFill>
                <a:srgbClr val="FFFFFF"/>
              </a:solidFill>
              <a:latin typeface="Oswald Regular"/>
              <a:ea typeface="Oswald Regular"/>
              <a:cs typeface="Oswald Regular"/>
              <a:sym typeface="Oswald Regular"/>
            </a:endParaRPr>
          </a:p>
        </p:txBody>
      </p:sp>
      <p:sp>
        <p:nvSpPr>
          <p:cNvPr id="67" name="Google Shape;67;p14"/>
          <p:cNvSpPr txBox="1"/>
          <p:nvPr/>
        </p:nvSpPr>
        <p:spPr>
          <a:xfrm>
            <a:off x="980750" y="4430225"/>
            <a:ext cx="1509300" cy="40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FFFFFF"/>
                </a:solidFill>
                <a:latin typeface="Fjalla One"/>
                <a:ea typeface="Fjalla One"/>
                <a:cs typeface="Fjalla One"/>
                <a:sym typeface="Fjalla One"/>
              </a:rPr>
              <a:t>Cody Brocious</a:t>
            </a:r>
            <a:endParaRPr sz="1500">
              <a:solidFill>
                <a:srgbClr val="FFFFFF"/>
              </a:solidFill>
              <a:latin typeface="Fjalla One"/>
              <a:ea typeface="Fjalla One"/>
              <a:cs typeface="Fjalla One"/>
              <a:sym typeface="Fjalla One"/>
            </a:endParaRPr>
          </a:p>
        </p:txBody>
      </p:sp>
      <p:cxnSp>
        <p:nvCxnSpPr>
          <p:cNvPr id="68" name="Google Shape;68;p14"/>
          <p:cNvCxnSpPr/>
          <p:nvPr/>
        </p:nvCxnSpPr>
        <p:spPr>
          <a:xfrm flipH="1" rot="10800000">
            <a:off x="515475" y="12924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72" name="Shape 72"/>
        <p:cNvGrpSpPr/>
        <p:nvPr/>
      </p:nvGrpSpPr>
      <p:grpSpPr>
        <a:xfrm>
          <a:off x="0" y="0"/>
          <a:ext cx="0" cy="0"/>
          <a:chOff x="0" y="0"/>
          <a:chExt cx="0" cy="0"/>
        </a:xfrm>
      </p:grpSpPr>
      <p:sp>
        <p:nvSpPr>
          <p:cNvPr id="73" name="Google Shape;73;p15"/>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In a Server-Side Request Forgery (SSRF) attack, the attacker can abuse functionality on the server to read or update internal resources. The attacker can supply or a modify a URL which the code running on the server will read or submit data to, and by carefully selecting the URLs, the attacker may be able to read server configuration such as AWS metadata, connect to internal services like http enabled databases or perform post requests towards internal services which are not intended to be exposed.</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rgbClr val="00FF00"/>
                </a:solidFill>
                <a:latin typeface="Oswald Regular"/>
                <a:ea typeface="Oswald Regular"/>
                <a:cs typeface="Oswald Regular"/>
                <a:sym typeface="Oswald Regular"/>
              </a:rPr>
              <a:t>TL;DR: Make requests using the target host and in some cases render JS server side</a:t>
            </a:r>
            <a:endParaRPr sz="2000">
              <a:solidFill>
                <a:srgbClr val="00FF00"/>
              </a:solidFill>
              <a:latin typeface="Oswald Regular"/>
              <a:ea typeface="Oswald Regular"/>
              <a:cs typeface="Oswald Regular"/>
              <a:sym typeface="Oswald Regular"/>
            </a:endParaRPr>
          </a:p>
        </p:txBody>
      </p:sp>
      <p:sp>
        <p:nvSpPr>
          <p:cNvPr id="74" name="Google Shape;74;p15"/>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SSRF According to OWASP</a:t>
            </a:r>
            <a:endParaRPr b="1" sz="4000">
              <a:solidFill>
                <a:srgbClr val="FF00FF"/>
              </a:solidFill>
              <a:latin typeface="Fjalla One"/>
              <a:ea typeface="Fjalla One"/>
              <a:cs typeface="Fjalla One"/>
              <a:sym typeface="Fjalla One"/>
            </a:endParaRPr>
          </a:p>
        </p:txBody>
      </p:sp>
      <p:cxnSp>
        <p:nvCxnSpPr>
          <p:cNvPr id="75" name="Google Shape;75;p15"/>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79" name="Shape 79"/>
        <p:cNvGrpSpPr/>
        <p:nvPr/>
      </p:nvGrpSpPr>
      <p:grpSpPr>
        <a:xfrm>
          <a:off x="0" y="0"/>
          <a:ext cx="0" cy="0"/>
          <a:chOff x="0" y="0"/>
          <a:chExt cx="0" cy="0"/>
        </a:xfrm>
      </p:grpSpPr>
      <p:sp>
        <p:nvSpPr>
          <p:cNvPr id="80" name="Google Shape;80;p16"/>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What is Cloud Metadata?</a:t>
            </a:r>
            <a:endParaRPr b="1" sz="4000">
              <a:solidFill>
                <a:srgbClr val="FF00FF"/>
              </a:solidFill>
              <a:latin typeface="Fjalla One"/>
              <a:ea typeface="Fjalla One"/>
              <a:cs typeface="Fjalla One"/>
              <a:sym typeface="Fjalla One"/>
            </a:endParaRPr>
          </a:p>
        </p:txBody>
      </p:sp>
      <p:sp>
        <p:nvSpPr>
          <p:cNvPr id="81" name="Google Shape;81;p16"/>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chemeClr val="lt1"/>
                </a:solidFill>
                <a:latin typeface="Oswald Regular"/>
                <a:ea typeface="Oswald Regular"/>
                <a:cs typeface="Oswald Regular"/>
                <a:sym typeface="Oswald Regular"/>
              </a:rPr>
              <a:t>169.254.164.254 is accessible internally within the machine you have access to.</a:t>
            </a:r>
            <a:endParaRPr sz="2000">
              <a:solidFill>
                <a:schemeClr val="lt1"/>
              </a:solidFill>
              <a:latin typeface="Oswald Regular"/>
              <a:ea typeface="Oswald Regular"/>
              <a:cs typeface="Oswald Regular"/>
              <a:sym typeface="Oswald Regular"/>
            </a:endParaRPr>
          </a:p>
          <a:p>
            <a:pPr indent="-355600" lvl="0" marL="4572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Provides details like internal IP, hostname, project details, etc.</a:t>
            </a:r>
            <a:endParaRPr sz="2000">
              <a:solidFill>
                <a:schemeClr val="lt1"/>
              </a:solidFill>
              <a:latin typeface="Oswald Regular"/>
              <a:ea typeface="Oswald Regular"/>
              <a:cs typeface="Oswald Regular"/>
              <a:sym typeface="Oswald Regular"/>
            </a:endParaRPr>
          </a:p>
        </p:txBody>
      </p:sp>
      <p:cxnSp>
        <p:nvCxnSpPr>
          <p:cNvPr id="82" name="Google Shape;82;p16"/>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
        <p:nvSpPr>
          <p:cNvPr id="83" name="Google Shape;83;p16"/>
          <p:cNvSpPr txBox="1"/>
          <p:nvPr/>
        </p:nvSpPr>
        <p:spPr>
          <a:xfrm>
            <a:off x="672100" y="3589975"/>
            <a:ext cx="7599300" cy="95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rgbClr val="00FF00"/>
                </a:solidFill>
                <a:latin typeface="Oswald Regular"/>
                <a:ea typeface="Oswald Regular"/>
                <a:cs typeface="Oswald Regular"/>
                <a:sym typeface="Oswald Regular"/>
              </a:rPr>
              <a:t>And if you’re lucky enough, it could also give you access to access_key &amp; secret_key as well</a:t>
            </a:r>
            <a:endParaRPr>
              <a:latin typeface="Oswald Regular"/>
              <a:ea typeface="Oswald Regular"/>
              <a:cs typeface="Oswald Regular"/>
              <a:sym typeface="Oswald Regul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87" name="Shape 87"/>
        <p:cNvGrpSpPr/>
        <p:nvPr/>
      </p:nvGrpSpPr>
      <p:grpSpPr>
        <a:xfrm>
          <a:off x="0" y="0"/>
          <a:ext cx="0" cy="0"/>
          <a:chOff x="0" y="0"/>
          <a:chExt cx="0" cy="0"/>
        </a:xfrm>
      </p:grpSpPr>
      <p:sp>
        <p:nvSpPr>
          <p:cNvPr id="88" name="Google Shape;88;p17"/>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Basic Example</a:t>
            </a:r>
            <a:endParaRPr b="1" sz="4000">
              <a:solidFill>
                <a:srgbClr val="FF00FF"/>
              </a:solidFill>
              <a:latin typeface="Fjalla One"/>
              <a:ea typeface="Fjalla One"/>
              <a:cs typeface="Fjalla One"/>
              <a:sym typeface="Fjalla One"/>
            </a:endParaRPr>
          </a:p>
        </p:txBody>
      </p:sp>
      <p:sp>
        <p:nvSpPr>
          <p:cNvPr id="89" name="Google Shape;89;p17"/>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Upload avatar via URL and triggers the following request:</a:t>
            </a:r>
            <a:endParaRPr sz="2000">
              <a:solidFill>
                <a:srgbClr val="FFFFFF"/>
              </a:solidFill>
              <a:latin typeface="Oswald Regular"/>
              <a:ea typeface="Oswald Regular"/>
              <a:cs typeface="Oswald Regular"/>
              <a:sym typeface="Oswald Regular"/>
            </a:endParaRPr>
          </a:p>
          <a:p>
            <a:pPr indent="457200" lvl="0" marL="457200" rtl="0" algn="l">
              <a:spcBef>
                <a:spcPts val="0"/>
              </a:spcBef>
              <a:spcAft>
                <a:spcPts val="0"/>
              </a:spcAft>
              <a:buClr>
                <a:schemeClr val="dk1"/>
              </a:buClr>
              <a:buSzPts val="1100"/>
              <a:buFont typeface="Arial"/>
              <a:buNone/>
            </a:pPr>
            <a:r>
              <a:rPr lang="en" sz="2000">
                <a:solidFill>
                  <a:srgbClr val="FFFFFF"/>
                </a:solidFill>
                <a:latin typeface="Oswald Regular"/>
                <a:ea typeface="Oswald Regular"/>
                <a:cs typeface="Oswald Regular"/>
                <a:sym typeface="Oswald Regular"/>
              </a:rPr>
              <a:t>GET /api/v1/fetch?url=</a:t>
            </a:r>
            <a:r>
              <a:rPr lang="en" sz="2000">
                <a:solidFill>
                  <a:srgbClr val="FFFFFF"/>
                </a:solidFill>
                <a:uFill>
                  <a:noFill/>
                </a:uFill>
                <a:latin typeface="Oswald Regular"/>
                <a:ea typeface="Oswald Regular"/>
                <a:cs typeface="Oswald Regular"/>
                <a:sym typeface="Oswald Regular"/>
                <a:hlinkClick r:id="rId3"/>
              </a:rPr>
              <a:t>https://site.com/myfunnycatmeme.jpeg</a:t>
            </a:r>
            <a:endParaRPr sz="2000">
              <a:solidFill>
                <a:srgbClr val="FFFFFF"/>
              </a:solidFill>
              <a:latin typeface="Oswald Regular"/>
              <a:ea typeface="Oswald Regular"/>
              <a:cs typeface="Oswald Regular"/>
              <a:sym typeface="Oswald Regular"/>
            </a:endParaRPr>
          </a:p>
          <a:p>
            <a:pPr indent="457200" lvl="0" marL="457200" rtl="0" algn="l">
              <a:spcBef>
                <a:spcPts val="0"/>
              </a:spcBef>
              <a:spcAft>
                <a:spcPts val="0"/>
              </a:spcAft>
              <a:buNone/>
            </a:pPr>
            <a:r>
              <a:rPr lang="en" sz="2000">
                <a:solidFill>
                  <a:srgbClr val="FFFFFF"/>
                </a:solidFill>
                <a:latin typeface="Oswald Regular"/>
                <a:ea typeface="Oswald Regular"/>
                <a:cs typeface="Oswald Regular"/>
                <a:sym typeface="Oswald Regular"/>
              </a:rPr>
              <a:t>Host: thesiteweareabouttpwn.com</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Changing the URL parameter to </a:t>
            </a:r>
            <a:r>
              <a:rPr lang="en" sz="2000">
                <a:solidFill>
                  <a:srgbClr val="FFFFFF"/>
                </a:solidFill>
                <a:latin typeface="Oswald Regular"/>
                <a:ea typeface="Oswald Regular"/>
                <a:cs typeface="Oswald Regular"/>
                <a:sym typeface="Oswald Regular"/>
              </a:rPr>
              <a:t>something.internal.target.</a:t>
            </a:r>
            <a:r>
              <a:rPr lang="en" sz="2000">
                <a:solidFill>
                  <a:srgbClr val="FFFFFF"/>
                </a:solidFill>
                <a:latin typeface="Oswald Regular"/>
                <a:ea typeface="Oswald Regular"/>
                <a:cs typeface="Oswald Regular"/>
                <a:sym typeface="Oswald Regular"/>
              </a:rPr>
              <a:t>com may give us access to see internal assets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Not limited to http, you can use other protocols </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file:///etc/passwd </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gopher:// </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ssh:// </a:t>
            </a:r>
            <a:endParaRPr sz="2000">
              <a:solidFill>
                <a:srgbClr val="FFFFFF"/>
              </a:solidFill>
              <a:latin typeface="Oswald Regular"/>
              <a:ea typeface="Oswald Regular"/>
              <a:cs typeface="Oswald Regular"/>
              <a:sym typeface="Oswald Regular"/>
            </a:endParaRPr>
          </a:p>
          <a:p>
            <a:pPr indent="0" lvl="0" marL="45720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p:txBody>
      </p:sp>
      <p:cxnSp>
        <p:nvCxnSpPr>
          <p:cNvPr id="90" name="Google Shape;90;p17"/>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
        <p:nvSpPr>
          <p:cNvPr id="91" name="Google Shape;91;p17"/>
          <p:cNvSpPr txBox="1"/>
          <p:nvPr/>
        </p:nvSpPr>
        <p:spPr>
          <a:xfrm>
            <a:off x="903300" y="4472800"/>
            <a:ext cx="36687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chemeClr val="lt1"/>
                </a:solidFill>
                <a:latin typeface="Oswald Regular"/>
                <a:ea typeface="Oswald Regular"/>
                <a:cs typeface="Oswald Regular"/>
                <a:sym typeface="Oswald Regular"/>
              </a:rPr>
              <a:t>… </a:t>
            </a:r>
            <a:r>
              <a:rPr lang="en" sz="2000">
                <a:solidFill>
                  <a:schemeClr val="lt1"/>
                </a:solidFill>
                <a:latin typeface="Oswald Regular"/>
                <a:ea typeface="Oswald Regular"/>
                <a:cs typeface="Oswald Regular"/>
                <a:sym typeface="Oswald Regular"/>
              </a:rPr>
              <a:t>But it’s not always that easy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95" name="Shape 95"/>
        <p:cNvGrpSpPr/>
        <p:nvPr/>
      </p:nvGrpSpPr>
      <p:grpSpPr>
        <a:xfrm>
          <a:off x="0" y="0"/>
          <a:ext cx="0" cy="0"/>
          <a:chOff x="0" y="0"/>
          <a:chExt cx="0" cy="0"/>
        </a:xfrm>
      </p:grpSpPr>
      <p:sp>
        <p:nvSpPr>
          <p:cNvPr id="96" name="Google Shape;96;p18"/>
          <p:cNvSpPr txBox="1"/>
          <p:nvPr>
            <p:ph idx="1" type="subTitle"/>
          </p:nvPr>
        </p:nvSpPr>
        <p:spPr>
          <a:xfrm>
            <a:off x="3096900" y="2175450"/>
            <a:ext cx="29502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CVE Examples</a:t>
            </a:r>
            <a:endParaRPr b="1" sz="4000">
              <a:solidFill>
                <a:srgbClr val="FF00FF"/>
              </a:solidFill>
              <a:latin typeface="Fjalla One"/>
              <a:ea typeface="Fjalla One"/>
              <a:cs typeface="Fjalla One"/>
              <a:sym typeface="Fjalla On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00" name="Shape 100"/>
        <p:cNvGrpSpPr/>
        <p:nvPr/>
      </p:nvGrpSpPr>
      <p:grpSpPr>
        <a:xfrm>
          <a:off x="0" y="0"/>
          <a:ext cx="0" cy="0"/>
          <a:chOff x="0" y="0"/>
          <a:chExt cx="0" cy="0"/>
        </a:xfrm>
      </p:grpSpPr>
      <p:sp>
        <p:nvSpPr>
          <p:cNvPr id="101" name="Google Shape;101;p19"/>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Similar to previous slides</a:t>
            </a:r>
            <a:endParaRPr sz="2000">
              <a:solidFill>
                <a:srgbClr val="FFFFFF"/>
              </a:solidFill>
              <a:latin typeface="Oswald Regular"/>
              <a:ea typeface="Oswald Regular"/>
              <a:cs typeface="Oswald Regular"/>
              <a:sym typeface="Oswald Regular"/>
            </a:endParaRPr>
          </a:p>
          <a:p>
            <a:pPr indent="0" lvl="0" marL="457200" rtl="0" algn="l">
              <a:spcBef>
                <a:spcPts val="0"/>
              </a:spcBef>
              <a:spcAft>
                <a:spcPts val="0"/>
              </a:spcAft>
              <a:buNone/>
            </a:pPr>
            <a:r>
              <a:rPr lang="en" sz="2000" u="sng">
                <a:solidFill>
                  <a:schemeClr val="hlink"/>
                </a:solidFill>
                <a:latin typeface="Oswald Regular"/>
                <a:ea typeface="Oswald Regular"/>
                <a:cs typeface="Oswald Regular"/>
                <a:sym typeface="Oswald Regular"/>
                <a:hlinkClick r:id="rId3"/>
              </a:rPr>
              <a:t>JIRA  CVE-2017-9506</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p:txBody>
      </p:sp>
      <p:sp>
        <p:nvSpPr>
          <p:cNvPr id="102" name="Google Shape;102;p19"/>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CVE Examples</a:t>
            </a:r>
            <a:endParaRPr b="1" sz="4000">
              <a:solidFill>
                <a:srgbClr val="FF00FF"/>
              </a:solidFill>
              <a:latin typeface="Fjalla One"/>
              <a:ea typeface="Fjalla One"/>
              <a:cs typeface="Fjalla One"/>
              <a:sym typeface="Fjalla One"/>
            </a:endParaRPr>
          </a:p>
        </p:txBody>
      </p:sp>
      <p:cxnSp>
        <p:nvCxnSpPr>
          <p:cNvPr id="103" name="Google Shape;103;p19"/>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pic>
        <p:nvPicPr>
          <p:cNvPr id="104" name="Google Shape;104;p19"/>
          <p:cNvPicPr preferRelativeResize="0"/>
          <p:nvPr/>
        </p:nvPicPr>
        <p:blipFill rotWithShape="1">
          <a:blip r:embed="rId4">
            <a:alphaModFix/>
          </a:blip>
          <a:srcRect b="13179" l="0" r="0" t="0"/>
          <a:stretch/>
        </p:blipFill>
        <p:spPr>
          <a:xfrm>
            <a:off x="910050" y="2611075"/>
            <a:ext cx="7323899" cy="1902600"/>
          </a:xfrm>
          <a:prstGeom prst="rect">
            <a:avLst/>
          </a:prstGeom>
          <a:noFill/>
          <a:ln>
            <a:noFill/>
          </a:ln>
        </p:spPr>
      </p:pic>
      <p:sp>
        <p:nvSpPr>
          <p:cNvPr id="105" name="Google Shape;105;p19"/>
          <p:cNvSpPr txBox="1"/>
          <p:nvPr/>
        </p:nvSpPr>
        <p:spPr>
          <a:xfrm>
            <a:off x="1118550" y="4513675"/>
            <a:ext cx="6906900" cy="4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FFFFF"/>
                </a:solidFill>
                <a:uFill>
                  <a:noFill/>
                </a:uFill>
                <a:hlinkClick r:id="rId5"/>
              </a:rPr>
              <a:t>https://medium.com/bugbountywriteup/piercing-the-veil-server-side-request-forgery-to-niprnet-access-c358fd5e249a</a:t>
            </a:r>
            <a:endParaRPr sz="1000">
              <a:solidFill>
                <a:srgbClr val="FFFFFF"/>
              </a:solidFill>
            </a:endParaRPr>
          </a:p>
        </p:txBody>
      </p:sp>
      <p:cxnSp>
        <p:nvCxnSpPr>
          <p:cNvPr id="106" name="Google Shape;106;p19"/>
          <p:cNvCxnSpPr/>
          <p:nvPr/>
        </p:nvCxnSpPr>
        <p:spPr>
          <a:xfrm rot="10800000">
            <a:off x="4219875" y="2764125"/>
            <a:ext cx="1014600" cy="895800"/>
          </a:xfrm>
          <a:prstGeom prst="straightConnector1">
            <a:avLst/>
          </a:prstGeom>
          <a:noFill/>
          <a:ln cap="flat" cmpd="sng" w="9525">
            <a:solidFill>
              <a:srgbClr val="00FF00"/>
            </a:solidFill>
            <a:prstDash val="solid"/>
            <a:round/>
            <a:headEnd len="med" w="med" type="none"/>
            <a:tailEnd len="med" w="med" type="triangle"/>
          </a:ln>
        </p:spPr>
      </p:cxnSp>
      <p:sp>
        <p:nvSpPr>
          <p:cNvPr id="107" name="Google Shape;107;p19"/>
          <p:cNvSpPr txBox="1"/>
          <p:nvPr/>
        </p:nvSpPr>
        <p:spPr>
          <a:xfrm>
            <a:off x="4415700" y="3600425"/>
            <a:ext cx="3254100" cy="748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500">
                <a:highlight>
                  <a:srgbClr val="00FF00"/>
                </a:highlight>
                <a:latin typeface="Fjalla One"/>
                <a:ea typeface="Fjalla One"/>
                <a:cs typeface="Fjalla One"/>
                <a:sym typeface="Fjalla One"/>
              </a:rPr>
              <a:t>Pointing consumerUri to Google </a:t>
            </a:r>
            <a:endParaRPr sz="1500">
              <a:highlight>
                <a:srgbClr val="00FF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11" name="Shape 111"/>
        <p:cNvGrpSpPr/>
        <p:nvPr/>
      </p:nvGrpSpPr>
      <p:grpSpPr>
        <a:xfrm>
          <a:off x="0" y="0"/>
          <a:ext cx="0" cy="0"/>
          <a:chOff x="0" y="0"/>
          <a:chExt cx="0" cy="0"/>
        </a:xfrm>
      </p:grpSpPr>
      <p:sp>
        <p:nvSpPr>
          <p:cNvPr id="112" name="Google Shape;112;p20"/>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Similar to previous slides</a:t>
            </a:r>
            <a:endParaRPr sz="2000">
              <a:solidFill>
                <a:srgbClr val="FFFFFF"/>
              </a:solidFill>
              <a:latin typeface="Oswald Regular"/>
              <a:ea typeface="Oswald Regular"/>
              <a:cs typeface="Oswald Regular"/>
              <a:sym typeface="Oswald Regular"/>
            </a:endParaRPr>
          </a:p>
          <a:p>
            <a:pPr indent="0" lvl="0" marL="457200" rtl="0" algn="l">
              <a:spcBef>
                <a:spcPts val="0"/>
              </a:spcBef>
              <a:spcAft>
                <a:spcPts val="0"/>
              </a:spcAft>
              <a:buNone/>
            </a:pPr>
            <a:r>
              <a:rPr lang="en" sz="2000" u="sng">
                <a:solidFill>
                  <a:schemeClr val="accent5"/>
                </a:solidFill>
                <a:latin typeface="Oswald Regular"/>
                <a:ea typeface="Oswald Regular"/>
                <a:cs typeface="Oswald Regular"/>
                <a:sym typeface="Oswald Regular"/>
                <a:hlinkClick r:id="rId3"/>
              </a:rPr>
              <a:t>JIRA  CVE-2017-9506</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p:txBody>
      </p:sp>
      <p:sp>
        <p:nvSpPr>
          <p:cNvPr id="113" name="Google Shape;113;p20"/>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CVE Examples</a:t>
            </a:r>
            <a:endParaRPr b="1" sz="4000">
              <a:solidFill>
                <a:srgbClr val="FF00FF"/>
              </a:solidFill>
              <a:latin typeface="Fjalla One"/>
              <a:ea typeface="Fjalla One"/>
              <a:cs typeface="Fjalla One"/>
              <a:sym typeface="Fjalla One"/>
            </a:endParaRPr>
          </a:p>
        </p:txBody>
      </p:sp>
      <p:cxnSp>
        <p:nvCxnSpPr>
          <p:cNvPr id="114" name="Google Shape;114;p20"/>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
        <p:nvSpPr>
          <p:cNvPr id="115" name="Google Shape;115;p20"/>
          <p:cNvSpPr txBox="1"/>
          <p:nvPr/>
        </p:nvSpPr>
        <p:spPr>
          <a:xfrm>
            <a:off x="1092600" y="3687925"/>
            <a:ext cx="6906900" cy="4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u="sng">
                <a:solidFill>
                  <a:srgbClr val="FFFFFF"/>
                </a:solidFill>
                <a:hlinkClick r:id="rId4"/>
              </a:rPr>
              <a:t>https://medium.com/bugbountywriteup/piercing-the-veil-server-side-request-forgery-to-niprnet-access-c358fd5e249a</a:t>
            </a:r>
            <a:endParaRPr sz="1000">
              <a:solidFill>
                <a:srgbClr val="FFFFFF"/>
              </a:solidFill>
            </a:endParaRPr>
          </a:p>
        </p:txBody>
      </p:sp>
      <p:pic>
        <p:nvPicPr>
          <p:cNvPr id="116" name="Google Shape;116;p20"/>
          <p:cNvPicPr preferRelativeResize="0"/>
          <p:nvPr/>
        </p:nvPicPr>
        <p:blipFill>
          <a:blip r:embed="rId5">
            <a:alphaModFix/>
          </a:blip>
          <a:stretch>
            <a:fillRect/>
          </a:stretch>
        </p:blipFill>
        <p:spPr>
          <a:xfrm>
            <a:off x="928650" y="2751325"/>
            <a:ext cx="7018949" cy="970550"/>
          </a:xfrm>
          <a:prstGeom prst="rect">
            <a:avLst/>
          </a:prstGeom>
          <a:noFill/>
          <a:ln>
            <a:noFill/>
          </a:ln>
        </p:spPr>
      </p:pic>
      <p:cxnSp>
        <p:nvCxnSpPr>
          <p:cNvPr id="117" name="Google Shape;117;p20"/>
          <p:cNvCxnSpPr/>
          <p:nvPr/>
        </p:nvCxnSpPr>
        <p:spPr>
          <a:xfrm flipH="1">
            <a:off x="6116300" y="2281325"/>
            <a:ext cx="90900" cy="546000"/>
          </a:xfrm>
          <a:prstGeom prst="straightConnector1">
            <a:avLst/>
          </a:prstGeom>
          <a:noFill/>
          <a:ln cap="flat" cmpd="sng" w="9525">
            <a:solidFill>
              <a:srgbClr val="00FF00"/>
            </a:solidFill>
            <a:prstDash val="solid"/>
            <a:round/>
            <a:headEnd len="med" w="med" type="none"/>
            <a:tailEnd len="med" w="med" type="triangle"/>
          </a:ln>
        </p:spPr>
      </p:cxnSp>
      <p:sp>
        <p:nvSpPr>
          <p:cNvPr id="118" name="Google Shape;118;p20"/>
          <p:cNvSpPr txBox="1"/>
          <p:nvPr/>
        </p:nvSpPr>
        <p:spPr>
          <a:xfrm>
            <a:off x="5897725" y="1988475"/>
            <a:ext cx="12123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Fjalla One"/>
                <a:ea typeface="Fjalla One"/>
                <a:cs typeface="Fjalla One"/>
                <a:sym typeface="Fjalla One"/>
              </a:rPr>
              <a:t>Metadata</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22" name="Shape 122"/>
        <p:cNvGrpSpPr/>
        <p:nvPr/>
      </p:nvGrpSpPr>
      <p:grpSpPr>
        <a:xfrm>
          <a:off x="0" y="0"/>
          <a:ext cx="0" cy="0"/>
          <a:chOff x="0" y="0"/>
          <a:chExt cx="0" cy="0"/>
        </a:xfrm>
      </p:grpSpPr>
      <p:sp>
        <p:nvSpPr>
          <p:cNvPr id="123" name="Google Shape;123;p21"/>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Similar to previous slides</a:t>
            </a:r>
            <a:endParaRPr sz="2000">
              <a:solidFill>
                <a:srgbClr val="FFFFFF"/>
              </a:solidFill>
              <a:latin typeface="Oswald Regular"/>
              <a:ea typeface="Oswald Regular"/>
              <a:cs typeface="Oswald Regular"/>
              <a:sym typeface="Oswald Regular"/>
            </a:endParaRPr>
          </a:p>
          <a:p>
            <a:pPr indent="0" lvl="0" marL="457200" rtl="0" algn="l">
              <a:spcBef>
                <a:spcPts val="0"/>
              </a:spcBef>
              <a:spcAft>
                <a:spcPts val="0"/>
              </a:spcAft>
              <a:buNone/>
            </a:pPr>
            <a:r>
              <a:rPr lang="en" sz="2000" u="sng">
                <a:solidFill>
                  <a:schemeClr val="hlink"/>
                </a:solidFill>
                <a:latin typeface="Oswald Regular"/>
                <a:ea typeface="Oswald Regular"/>
                <a:cs typeface="Oswald Regular"/>
                <a:sym typeface="Oswald Regular"/>
                <a:hlinkClick r:id="rId3"/>
              </a:rPr>
              <a:t>Jenkins - CVE-2018-1000600</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Clr>
                <a:srgbClr val="000000"/>
              </a:buClr>
              <a:buSzPts val="1100"/>
              <a:buFont typeface="Arial"/>
              <a:buNone/>
            </a:pPr>
            <a:r>
              <a:t/>
            </a:r>
            <a:endParaRPr sz="2000">
              <a:solidFill>
                <a:srgbClr val="FFFFFF"/>
              </a:solidFill>
              <a:latin typeface="Fjalla One"/>
              <a:ea typeface="Fjalla One"/>
              <a:cs typeface="Fjalla One"/>
              <a:sym typeface="Fjalla One"/>
            </a:endParaRPr>
          </a:p>
        </p:txBody>
      </p:sp>
      <p:sp>
        <p:nvSpPr>
          <p:cNvPr id="124" name="Google Shape;124;p21"/>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CVE Examples</a:t>
            </a:r>
            <a:endParaRPr b="1" sz="4000">
              <a:solidFill>
                <a:srgbClr val="FF00FF"/>
              </a:solidFill>
              <a:latin typeface="Fjalla One"/>
              <a:ea typeface="Fjalla One"/>
              <a:cs typeface="Fjalla One"/>
              <a:sym typeface="Fjalla One"/>
            </a:endParaRPr>
          </a:p>
        </p:txBody>
      </p:sp>
      <p:cxnSp>
        <p:nvCxnSpPr>
          <p:cNvPr id="125" name="Google Shape;125;p21"/>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pic>
        <p:nvPicPr>
          <p:cNvPr id="126" name="Google Shape;126;p21"/>
          <p:cNvPicPr preferRelativeResize="0"/>
          <p:nvPr/>
        </p:nvPicPr>
        <p:blipFill>
          <a:blip r:embed="rId4">
            <a:alphaModFix/>
          </a:blip>
          <a:stretch>
            <a:fillRect/>
          </a:stretch>
        </p:blipFill>
        <p:spPr>
          <a:xfrm>
            <a:off x="1979812" y="2358650"/>
            <a:ext cx="4865326" cy="2598825"/>
          </a:xfrm>
          <a:prstGeom prst="rect">
            <a:avLst/>
          </a:prstGeom>
          <a:noFill/>
          <a:ln>
            <a:noFill/>
          </a:ln>
        </p:spPr>
      </p:pic>
      <p:cxnSp>
        <p:nvCxnSpPr>
          <p:cNvPr id="127" name="Google Shape;127;p21"/>
          <p:cNvCxnSpPr/>
          <p:nvPr/>
        </p:nvCxnSpPr>
        <p:spPr>
          <a:xfrm rot="10800000">
            <a:off x="3267975" y="2844650"/>
            <a:ext cx="615900" cy="31500"/>
          </a:xfrm>
          <a:prstGeom prst="straightConnector1">
            <a:avLst/>
          </a:prstGeom>
          <a:noFill/>
          <a:ln cap="flat" cmpd="sng" w="9525">
            <a:solidFill>
              <a:srgbClr val="00FF00"/>
            </a:solidFill>
            <a:prstDash val="solid"/>
            <a:round/>
            <a:headEnd len="med" w="med" type="none"/>
            <a:tailEnd len="med" w="med" type="triangle"/>
          </a:ln>
        </p:spPr>
      </p:cxnSp>
      <p:sp>
        <p:nvSpPr>
          <p:cNvPr id="128" name="Google Shape;128;p21"/>
          <p:cNvSpPr txBox="1"/>
          <p:nvPr/>
        </p:nvSpPr>
        <p:spPr>
          <a:xfrm>
            <a:off x="3219025" y="2844650"/>
            <a:ext cx="3561900" cy="454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500">
                <a:solidFill>
                  <a:schemeClr val="dk1"/>
                </a:solidFill>
                <a:highlight>
                  <a:srgbClr val="00FF00"/>
                </a:highlight>
                <a:latin typeface="Fjalla One"/>
                <a:ea typeface="Fjalla One"/>
                <a:cs typeface="Fjalla One"/>
                <a:sym typeface="Fjalla One"/>
              </a:rPr>
              <a:t>Pointing apiUri to AWS Metadata </a:t>
            </a:r>
            <a:endParaRPr sz="1500">
              <a:solidFill>
                <a:schemeClr val="dk1"/>
              </a:solidFill>
              <a:highlight>
                <a:srgbClr val="00FF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32" name="Shape 132"/>
        <p:cNvGrpSpPr/>
        <p:nvPr/>
      </p:nvGrpSpPr>
      <p:grpSpPr>
        <a:xfrm>
          <a:off x="0" y="0"/>
          <a:ext cx="0" cy="0"/>
          <a:chOff x="0" y="0"/>
          <a:chExt cx="0" cy="0"/>
        </a:xfrm>
      </p:grpSpPr>
      <p:sp>
        <p:nvSpPr>
          <p:cNvPr id="133" name="Google Shape;133;p22"/>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Sometimes it’s not as straightforward as a single http request. In some cases you may be dealing with filters or you may not even see the output of your request but you still have a few options</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p:txBody>
      </p:sp>
      <p:sp>
        <p:nvSpPr>
          <p:cNvPr id="134" name="Google Shape;134;p22"/>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SSRF Hurdles</a:t>
            </a:r>
            <a:endParaRPr b="1" sz="4000">
              <a:solidFill>
                <a:srgbClr val="FF00FF"/>
              </a:solidFill>
              <a:latin typeface="Fjalla One"/>
              <a:ea typeface="Fjalla One"/>
              <a:cs typeface="Fjalla One"/>
              <a:sym typeface="Fjalla One"/>
            </a:endParaRPr>
          </a:p>
        </p:txBody>
      </p:sp>
      <p:cxnSp>
        <p:nvCxnSpPr>
          <p:cNvPr id="135" name="Google Shape;135;p22"/>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39" name="Shape 139"/>
        <p:cNvGrpSpPr/>
        <p:nvPr/>
      </p:nvGrpSpPr>
      <p:grpSpPr>
        <a:xfrm>
          <a:off x="0" y="0"/>
          <a:ext cx="0" cy="0"/>
          <a:chOff x="0" y="0"/>
          <a:chExt cx="0" cy="0"/>
        </a:xfrm>
      </p:grpSpPr>
      <p:sp>
        <p:nvSpPr>
          <p:cNvPr id="140" name="Google Shape;140;p23"/>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SSRF Hurdles</a:t>
            </a:r>
            <a:endParaRPr b="1" sz="4000">
              <a:solidFill>
                <a:srgbClr val="FF00FF"/>
              </a:solidFill>
              <a:latin typeface="Fjalla One"/>
              <a:ea typeface="Fjalla One"/>
              <a:cs typeface="Fjalla One"/>
              <a:sym typeface="Fjalla One"/>
            </a:endParaRPr>
          </a:p>
        </p:txBody>
      </p:sp>
      <p:cxnSp>
        <p:nvCxnSpPr>
          <p:cNvPr id="141" name="Google Shape;141;p23"/>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
        <p:nvSpPr>
          <p:cNvPr id="142" name="Google Shape;142;p23"/>
          <p:cNvSpPr txBox="1"/>
          <p:nvPr/>
        </p:nvSpPr>
        <p:spPr>
          <a:xfrm>
            <a:off x="664425" y="1717600"/>
            <a:ext cx="7599300" cy="3165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highlight>
                  <a:srgbClr val="00FF00"/>
                </a:highlight>
                <a:latin typeface="Oswald Regular"/>
                <a:ea typeface="Oswald Regular"/>
                <a:cs typeface="Oswald Regular"/>
                <a:sym typeface="Oswald Regular"/>
              </a:rPr>
              <a:t>Problem</a:t>
            </a:r>
            <a:r>
              <a:rPr lang="en" sz="2000">
                <a:solidFill>
                  <a:srgbClr val="FFFFFF"/>
                </a:solidFill>
                <a:latin typeface="Oswald Regular"/>
                <a:ea typeface="Oswald Regular"/>
                <a:cs typeface="Oswald Regular"/>
                <a:sym typeface="Oswald Regular"/>
              </a:rPr>
              <a:t>: metadata or internal IPs are getting filtered </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chemeClr val="lt1"/>
                </a:solidFill>
                <a:highlight>
                  <a:srgbClr val="FF00FF"/>
                </a:highlight>
                <a:latin typeface="Oswald Regular"/>
                <a:ea typeface="Oswald Regular"/>
                <a:cs typeface="Oswald Regular"/>
                <a:sym typeface="Oswald Regular"/>
              </a:rPr>
              <a:t>Solution</a:t>
            </a:r>
            <a:r>
              <a:rPr lang="en" sz="2000">
                <a:solidFill>
                  <a:srgbClr val="FFFFFF"/>
                </a:solidFill>
                <a:latin typeface="Oswald Regular"/>
                <a:ea typeface="Oswald Regular"/>
                <a:cs typeface="Oswald Regular"/>
                <a:sym typeface="Oswald Regular"/>
              </a:rPr>
              <a:t>: Use a custom domain like meta.mydomain.com and point it to the asset you are trying to access (aws.mydomain.com -&gt; 169.254.169.254)</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chemeClr val="dk1"/>
                </a:solidFill>
                <a:highlight>
                  <a:srgbClr val="00FF00"/>
                </a:highlight>
                <a:latin typeface="Oswald Regular"/>
                <a:ea typeface="Oswald Regular"/>
                <a:cs typeface="Oswald Regular"/>
                <a:sym typeface="Oswald Regular"/>
              </a:rPr>
              <a:t>Problem</a:t>
            </a:r>
            <a:r>
              <a:rPr lang="en" sz="2000">
                <a:solidFill>
                  <a:srgbClr val="FFFFFF"/>
                </a:solidFill>
                <a:latin typeface="Oswald Regular"/>
                <a:ea typeface="Oswald Regular"/>
                <a:cs typeface="Oswald Regular"/>
                <a:sym typeface="Oswald Regular"/>
              </a:rPr>
              <a:t>: Only able to use whitelisted domains</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highlight>
                  <a:srgbClr val="FF00FF"/>
                </a:highlight>
                <a:latin typeface="Oswald Regular"/>
                <a:ea typeface="Oswald Regular"/>
                <a:cs typeface="Oswald Regular"/>
                <a:sym typeface="Oswald Regular"/>
              </a:rPr>
              <a:t>Solution</a:t>
            </a:r>
            <a:r>
              <a:rPr lang="en" sz="2000">
                <a:solidFill>
                  <a:srgbClr val="FFFFFF"/>
                </a:solidFill>
                <a:latin typeface="Oswald Regular"/>
                <a:ea typeface="Oswald Regular"/>
                <a:cs typeface="Oswald Regular"/>
                <a:sym typeface="Oswald Regular"/>
              </a:rPr>
              <a:t>: Find an ‘Open Redirect’ on the whitelisted domain(s) and use that to exploit your SSRF</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chemeClr val="dk1"/>
                </a:solidFill>
                <a:highlight>
                  <a:srgbClr val="00FF00"/>
                </a:highlight>
                <a:latin typeface="Oswald Regular"/>
                <a:ea typeface="Oswald Regular"/>
                <a:cs typeface="Oswald Regular"/>
                <a:sym typeface="Oswald Regular"/>
              </a:rPr>
              <a:t>Problem</a:t>
            </a:r>
            <a:r>
              <a:rPr lang="en" sz="2000">
                <a:solidFill>
                  <a:srgbClr val="FFFFFF"/>
                </a:solidFill>
                <a:latin typeface="Oswald Regular"/>
                <a:ea typeface="Oswald Regular"/>
                <a:cs typeface="Oswald Regular"/>
                <a:sym typeface="Oswald Regular"/>
              </a:rPr>
              <a:t>: SSRF is there but I can’t see the output</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chemeClr val="lt1"/>
                </a:solidFill>
                <a:highlight>
                  <a:srgbClr val="FF00FF"/>
                </a:highlight>
                <a:latin typeface="Oswald Regular"/>
                <a:ea typeface="Oswald Regular"/>
                <a:cs typeface="Oswald Regular"/>
                <a:sym typeface="Oswald Regular"/>
              </a:rPr>
              <a:t>Solution</a:t>
            </a:r>
            <a:r>
              <a:rPr lang="en" sz="2000">
                <a:solidFill>
                  <a:srgbClr val="FFFFFF"/>
                </a:solidFill>
                <a:latin typeface="Oswald Regular"/>
                <a:ea typeface="Oswald Regular"/>
                <a:cs typeface="Oswald Regular"/>
                <a:sym typeface="Oswald Regular"/>
              </a:rPr>
              <a:t>: Use Javascript and exfil data</a:t>
            </a:r>
            <a:endParaRPr sz="2000">
              <a:solidFill>
                <a:srgbClr val="FFFFFF"/>
              </a:solidFill>
              <a:latin typeface="Oswald Regular"/>
              <a:ea typeface="Oswald Regular"/>
              <a:cs typeface="Oswald Regular"/>
              <a:sym typeface="Oswald Regul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46" name="Shape 146"/>
        <p:cNvGrpSpPr/>
        <p:nvPr/>
      </p:nvGrpSpPr>
      <p:grpSpPr>
        <a:xfrm>
          <a:off x="0" y="0"/>
          <a:ext cx="0" cy="0"/>
          <a:chOff x="0" y="0"/>
          <a:chExt cx="0" cy="0"/>
        </a:xfrm>
      </p:grpSpPr>
      <p:sp>
        <p:nvSpPr>
          <p:cNvPr id="147" name="Google Shape;147;p24"/>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XSS on the target application where it also gets pushed to the PDF </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How to confirm it: &lt;script&gt;document.write(123)&lt;/</a:t>
            </a:r>
            <a:r>
              <a:rPr lang="en" sz="2000">
                <a:solidFill>
                  <a:srgbClr val="FFFFFF"/>
                </a:solidFill>
                <a:latin typeface="Oswald Regular"/>
                <a:ea typeface="Oswald Regular"/>
                <a:cs typeface="Oswald Regular"/>
                <a:sym typeface="Oswald Regular"/>
              </a:rPr>
              <a:t>script</a:t>
            </a:r>
            <a:r>
              <a:rPr lang="en" sz="2000">
                <a:solidFill>
                  <a:srgbClr val="FFFFFF"/>
                </a:solidFill>
                <a:latin typeface="Oswald Regular"/>
                <a:ea typeface="Oswald Regular"/>
                <a:cs typeface="Oswald Regular"/>
                <a:sym typeface="Oswald Regular"/>
              </a:rPr>
              <a:t>&gt;</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Generate PDF and it should print 123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Follows redirection by pointing the url or HTML tag (iframe/img etc) to our host where redirect.php redirects to </a:t>
            </a:r>
            <a:r>
              <a:rPr lang="en" sz="2000">
                <a:solidFill>
                  <a:schemeClr val="lt1"/>
                </a:solidFill>
                <a:latin typeface="Oswald Regular"/>
                <a:ea typeface="Oswald Regular"/>
                <a:cs typeface="Oswald Regular"/>
                <a:sym typeface="Oswald Regular"/>
              </a:rPr>
              <a:t>success.php</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 mysite.com/redirect.php -&gt; redirects to mysite.com/success.php</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Any customization that involves HTML/CSS (Font name, colors, styling)</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Open redirect on the target application in case of any domain whitelisting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p:txBody>
      </p:sp>
      <p:sp>
        <p:nvSpPr>
          <p:cNvPr id="148" name="Google Shape;148;p24"/>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Valuable Assets / Vulnerabilities</a:t>
            </a:r>
            <a:endParaRPr b="1" sz="4000">
              <a:solidFill>
                <a:srgbClr val="FF00FF"/>
              </a:solidFill>
              <a:latin typeface="Fjalla One"/>
              <a:ea typeface="Fjalla One"/>
              <a:cs typeface="Fjalla One"/>
              <a:sym typeface="Fjalla One"/>
            </a:endParaRPr>
          </a:p>
        </p:txBody>
      </p:sp>
      <p:cxnSp>
        <p:nvCxnSpPr>
          <p:cNvPr id="149" name="Google Shape;149;p24"/>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53" name="Shape 153"/>
        <p:cNvGrpSpPr/>
        <p:nvPr/>
      </p:nvGrpSpPr>
      <p:grpSpPr>
        <a:xfrm>
          <a:off x="0" y="0"/>
          <a:ext cx="0" cy="0"/>
          <a:chOff x="0" y="0"/>
          <a:chExt cx="0" cy="0"/>
        </a:xfrm>
      </p:grpSpPr>
      <p:sp>
        <p:nvSpPr>
          <p:cNvPr id="154" name="Google Shape;154;p25"/>
          <p:cNvSpPr txBox="1"/>
          <p:nvPr>
            <p:ph idx="1" type="subTitle"/>
          </p:nvPr>
        </p:nvSpPr>
        <p:spPr>
          <a:xfrm>
            <a:off x="1991700" y="2175450"/>
            <a:ext cx="516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PDF GENERATION PROCESS</a:t>
            </a:r>
            <a:endParaRPr b="1" sz="4000">
              <a:solidFill>
                <a:srgbClr val="FF00FF"/>
              </a:solidFill>
              <a:latin typeface="Fjalla One"/>
              <a:ea typeface="Fjalla One"/>
              <a:cs typeface="Fjalla One"/>
              <a:sym typeface="Fjalla On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58" name="Shape 158"/>
        <p:cNvGrpSpPr/>
        <p:nvPr/>
      </p:nvGrpSpPr>
      <p:grpSpPr>
        <a:xfrm>
          <a:off x="0" y="0"/>
          <a:ext cx="0" cy="0"/>
          <a:chOff x="0" y="0"/>
          <a:chExt cx="0" cy="0"/>
        </a:xfrm>
      </p:grpSpPr>
      <p:sp>
        <p:nvSpPr>
          <p:cNvPr id="159" name="Google Shape;159;p26"/>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Headless Browsers</a:t>
            </a:r>
            <a:endParaRPr b="1" sz="4000">
              <a:solidFill>
                <a:srgbClr val="FF00FF"/>
              </a:solidFill>
              <a:latin typeface="Fjalla One"/>
              <a:ea typeface="Fjalla One"/>
              <a:cs typeface="Fjalla One"/>
              <a:sym typeface="Fjalla One"/>
            </a:endParaRPr>
          </a:p>
        </p:txBody>
      </p:sp>
      <p:sp>
        <p:nvSpPr>
          <p:cNvPr id="160" name="Google Shape;160;p26"/>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There are two common headless browsers in use: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w</a:t>
            </a:r>
            <a:r>
              <a:rPr lang="en" sz="2000">
                <a:solidFill>
                  <a:srgbClr val="FFFFFF"/>
                </a:solidFill>
                <a:latin typeface="Oswald Regular"/>
                <a:ea typeface="Oswald Regular"/>
                <a:cs typeface="Oswald Regular"/>
                <a:sym typeface="Oswald Regular"/>
              </a:rPr>
              <a:t>khtmlpdf is a Webkit implementation whose rendering backend is PDF.</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Headless Chrome is desktop Chrome minus the GUI and with a PDF or image rendering backend attached.</a:t>
            </a:r>
            <a:endParaRPr sz="2000">
              <a:solidFill>
                <a:srgbClr val="FFFFFF"/>
              </a:solidFill>
              <a:latin typeface="Oswald Regular"/>
              <a:ea typeface="Oswald Regular"/>
              <a:cs typeface="Oswald Regular"/>
              <a:sym typeface="Oswald Regular"/>
            </a:endParaRPr>
          </a:p>
        </p:txBody>
      </p:sp>
      <p:cxnSp>
        <p:nvCxnSpPr>
          <p:cNvPr id="161" name="Google Shape;161;p26"/>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
        <p:nvSpPr>
          <p:cNvPr id="162" name="Google Shape;162;p26"/>
          <p:cNvSpPr txBox="1"/>
          <p:nvPr/>
        </p:nvSpPr>
        <p:spPr>
          <a:xfrm>
            <a:off x="1456225" y="4135325"/>
            <a:ext cx="6385200" cy="634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a:solidFill>
                  <a:srgbClr val="00FF00"/>
                </a:solidFill>
              </a:rPr>
              <a:t>Lots of wrapper libraries providing easy integration with any language</a:t>
            </a:r>
            <a:endParaRPr>
              <a:solidFill>
                <a:srgbClr val="00FF00"/>
              </a:solidFill>
            </a:endParaRPr>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66" name="Shape 166"/>
        <p:cNvGrpSpPr/>
        <p:nvPr/>
      </p:nvGrpSpPr>
      <p:grpSpPr>
        <a:xfrm>
          <a:off x="0" y="0"/>
          <a:ext cx="0" cy="0"/>
          <a:chOff x="0" y="0"/>
          <a:chExt cx="0" cy="0"/>
        </a:xfrm>
      </p:grpSpPr>
      <p:sp>
        <p:nvSpPr>
          <p:cNvPr id="167" name="Google Shape;167;p27"/>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HTML Renderers</a:t>
            </a:r>
            <a:endParaRPr b="1" sz="4000">
              <a:solidFill>
                <a:srgbClr val="FF00FF"/>
              </a:solidFill>
              <a:latin typeface="Fjalla One"/>
              <a:ea typeface="Fjalla One"/>
              <a:cs typeface="Fjalla One"/>
              <a:sym typeface="Fjalla One"/>
            </a:endParaRPr>
          </a:p>
        </p:txBody>
      </p:sp>
      <p:sp>
        <p:nvSpPr>
          <p:cNvPr id="168" name="Google Shape;168;p27"/>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Rather than using an actual browser engine, these renderers work by doing the HTML and CSS parsing, without any kind of JavaScript support or dynamic layout engine.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tend to provide a restricted environment where most HTML can be handled safely and efficiently</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highlight>
                  <a:srgbClr val="00FF00"/>
                </a:highlight>
                <a:latin typeface="Oswald Regular"/>
                <a:ea typeface="Oswald Regular"/>
                <a:cs typeface="Oswald Regular"/>
                <a:sym typeface="Oswald Regular"/>
              </a:rPr>
              <a:t>WeasyPrint</a:t>
            </a:r>
            <a:r>
              <a:rPr lang="en" sz="2000">
                <a:solidFill>
                  <a:srgbClr val="FFFFFF"/>
                </a:solidFill>
                <a:latin typeface="Oswald Regular"/>
                <a:ea typeface="Oswald Regular"/>
                <a:cs typeface="Oswald Regular"/>
                <a:sym typeface="Oswald Regular"/>
              </a:rPr>
              <a:t> is a great example of this class of HTML-&gt;PDF converters</a:t>
            </a:r>
            <a:r>
              <a:rPr lang="en" sz="2000">
                <a:solidFill>
                  <a:srgbClr val="FFFFFF"/>
                </a:solidFill>
                <a:latin typeface="Oswald Regular"/>
                <a:ea typeface="Oswald Regular"/>
                <a:cs typeface="Oswald Regular"/>
                <a:sym typeface="Oswald Regular"/>
              </a:rPr>
              <a:t> (more later)</a:t>
            </a:r>
            <a:endParaRPr sz="2000">
              <a:solidFill>
                <a:srgbClr val="FFFFFF"/>
              </a:solidFill>
              <a:latin typeface="Oswald Regular"/>
              <a:ea typeface="Oswald Regular"/>
              <a:cs typeface="Oswald Regular"/>
              <a:sym typeface="Oswald Regular"/>
            </a:endParaRPr>
          </a:p>
        </p:txBody>
      </p:sp>
      <p:cxnSp>
        <p:nvCxnSpPr>
          <p:cNvPr id="169" name="Google Shape;169;p27"/>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73" name="Shape 173"/>
        <p:cNvGrpSpPr/>
        <p:nvPr/>
      </p:nvGrpSpPr>
      <p:grpSpPr>
        <a:xfrm>
          <a:off x="0" y="0"/>
          <a:ext cx="0" cy="0"/>
          <a:chOff x="0" y="0"/>
          <a:chExt cx="0" cy="0"/>
        </a:xfrm>
      </p:grpSpPr>
      <p:sp>
        <p:nvSpPr>
          <p:cNvPr id="174" name="Google Shape;174;p28"/>
          <p:cNvSpPr txBox="1"/>
          <p:nvPr>
            <p:ph idx="1" type="subTitle"/>
          </p:nvPr>
        </p:nvSpPr>
        <p:spPr>
          <a:xfrm>
            <a:off x="2873850" y="2175450"/>
            <a:ext cx="33963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XSS in PDF Files</a:t>
            </a:r>
            <a:endParaRPr b="1" sz="4000">
              <a:solidFill>
                <a:srgbClr val="FF00FF"/>
              </a:solidFill>
              <a:latin typeface="Fjalla One"/>
              <a:ea typeface="Fjalla One"/>
              <a:cs typeface="Fjalla One"/>
              <a:sym typeface="Fjalla On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78" name="Shape 178"/>
        <p:cNvGrpSpPr/>
        <p:nvPr/>
      </p:nvGrpSpPr>
      <p:grpSpPr>
        <a:xfrm>
          <a:off x="0" y="0"/>
          <a:ext cx="0" cy="0"/>
          <a:chOff x="0" y="0"/>
          <a:chExt cx="0" cy="0"/>
        </a:xfrm>
      </p:grpSpPr>
      <p:sp>
        <p:nvSpPr>
          <p:cNvPr id="179" name="Google Shape;179;p29"/>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PDF + XSS == SSRF</a:t>
            </a:r>
            <a:endParaRPr b="1" sz="4000">
              <a:solidFill>
                <a:srgbClr val="FF00FF"/>
              </a:solidFill>
              <a:latin typeface="Fjalla One"/>
              <a:ea typeface="Fjalla One"/>
              <a:cs typeface="Fjalla One"/>
              <a:sym typeface="Fjalla One"/>
            </a:endParaRPr>
          </a:p>
        </p:txBody>
      </p:sp>
      <p:sp>
        <p:nvSpPr>
          <p:cNvPr id="180" name="Google Shape;180;p29"/>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Most modern web applications performing PDF generation do not actually generate PDFs directly.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As such, any XSS into this data gets you running in the context of the server -- not the client!</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The attack strategy used will depend on what conversion system is in use in the application, but these can be broken into two categories: Headless browsers and HTML renderers.</a:t>
            </a:r>
            <a:endParaRPr sz="2000">
              <a:solidFill>
                <a:srgbClr val="FFFFFF"/>
              </a:solidFill>
              <a:latin typeface="Oswald Regular"/>
              <a:ea typeface="Oswald Regular"/>
              <a:cs typeface="Oswald Regular"/>
              <a:sym typeface="Oswald Regular"/>
            </a:endParaRPr>
          </a:p>
        </p:txBody>
      </p:sp>
      <p:cxnSp>
        <p:nvCxnSpPr>
          <p:cNvPr id="181" name="Google Shape;181;p29"/>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85" name="Shape 185"/>
        <p:cNvGrpSpPr/>
        <p:nvPr/>
      </p:nvGrpSpPr>
      <p:grpSpPr>
        <a:xfrm>
          <a:off x="0" y="0"/>
          <a:ext cx="0" cy="0"/>
          <a:chOff x="0" y="0"/>
          <a:chExt cx="0" cy="0"/>
        </a:xfrm>
      </p:grpSpPr>
      <p:sp>
        <p:nvSpPr>
          <p:cNvPr id="186" name="Google Shape;186;p30"/>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Simple XSS-&gt;SSRF via wkhtmltopdf</a:t>
            </a:r>
            <a:endParaRPr b="1" sz="4000">
              <a:solidFill>
                <a:srgbClr val="FF00FF"/>
              </a:solidFill>
              <a:latin typeface="Fjalla One"/>
              <a:ea typeface="Fjalla One"/>
              <a:cs typeface="Fjalla One"/>
              <a:sym typeface="Fjalla One"/>
            </a:endParaRPr>
          </a:p>
        </p:txBody>
      </p:sp>
      <p:sp>
        <p:nvSpPr>
          <p:cNvPr id="187" name="Google Shape;187;p30"/>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You notice HTML is rendering within your Generated PDF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we want to make sure this can communicate with other hosts</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&lt;iframe src=”http://myhost:myport:443”&gt;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a:p>
            <a:pPr indent="0" lvl="0" marL="457200" rtl="0" algn="l">
              <a:spcBef>
                <a:spcPts val="0"/>
              </a:spcBef>
              <a:spcAft>
                <a:spcPts val="0"/>
              </a:spcAft>
              <a:buNone/>
            </a:pPr>
            <a:r>
              <a:t/>
            </a:r>
            <a:endParaRPr sz="2000">
              <a:solidFill>
                <a:srgbClr val="FFFFFF"/>
              </a:solidFill>
              <a:latin typeface="Fjalla One"/>
              <a:ea typeface="Fjalla One"/>
              <a:cs typeface="Fjalla One"/>
              <a:sym typeface="Fjalla One"/>
            </a:endParaRPr>
          </a:p>
        </p:txBody>
      </p:sp>
      <p:cxnSp>
        <p:nvCxnSpPr>
          <p:cNvPr id="188" name="Google Shape;188;p30"/>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pic>
        <p:nvPicPr>
          <p:cNvPr id="189" name="Google Shape;189;p30"/>
          <p:cNvPicPr preferRelativeResize="0"/>
          <p:nvPr/>
        </p:nvPicPr>
        <p:blipFill>
          <a:blip r:embed="rId3">
            <a:alphaModFix/>
          </a:blip>
          <a:stretch>
            <a:fillRect/>
          </a:stretch>
        </p:blipFill>
        <p:spPr>
          <a:xfrm>
            <a:off x="1124311" y="3008823"/>
            <a:ext cx="6895374" cy="1209275"/>
          </a:xfrm>
          <a:prstGeom prst="rect">
            <a:avLst/>
          </a:prstGeom>
          <a:noFill/>
          <a:ln>
            <a:noFill/>
          </a:ln>
        </p:spPr>
      </p:pic>
      <p:cxnSp>
        <p:nvCxnSpPr>
          <p:cNvPr id="190" name="Google Shape;190;p30"/>
          <p:cNvCxnSpPr/>
          <p:nvPr/>
        </p:nvCxnSpPr>
        <p:spPr>
          <a:xfrm>
            <a:off x="2075675" y="3282050"/>
            <a:ext cx="888900" cy="0"/>
          </a:xfrm>
          <a:prstGeom prst="straightConnector1">
            <a:avLst/>
          </a:prstGeom>
          <a:noFill/>
          <a:ln cap="flat" cmpd="sng" w="76200">
            <a:solidFill>
              <a:srgbClr val="00FF00"/>
            </a:solidFill>
            <a:prstDash val="solid"/>
            <a:round/>
            <a:headEnd len="med" w="med" type="none"/>
            <a:tailEnd len="med" w="med" type="none"/>
          </a:ln>
        </p:spPr>
      </p:cxnSp>
      <p:cxnSp>
        <p:nvCxnSpPr>
          <p:cNvPr id="191" name="Google Shape;191;p30"/>
          <p:cNvCxnSpPr/>
          <p:nvPr/>
        </p:nvCxnSpPr>
        <p:spPr>
          <a:xfrm flipH="1" rot="10800000">
            <a:off x="1469575" y="4065900"/>
            <a:ext cx="706800" cy="6900"/>
          </a:xfrm>
          <a:prstGeom prst="straightConnector1">
            <a:avLst/>
          </a:prstGeom>
          <a:noFill/>
          <a:ln cap="flat" cmpd="sng" w="76200">
            <a:solidFill>
              <a:srgbClr val="00FF00"/>
            </a:solidFill>
            <a:prstDash val="solid"/>
            <a:round/>
            <a:headEnd len="med" w="med" type="none"/>
            <a:tailEnd len="med" w="med" type="none"/>
          </a:ln>
        </p:spPr>
      </p:cxnSp>
      <p:cxnSp>
        <p:nvCxnSpPr>
          <p:cNvPr id="192" name="Google Shape;192;p30"/>
          <p:cNvCxnSpPr/>
          <p:nvPr/>
        </p:nvCxnSpPr>
        <p:spPr>
          <a:xfrm rot="10800000">
            <a:off x="6603850" y="3584125"/>
            <a:ext cx="7200" cy="444600"/>
          </a:xfrm>
          <a:prstGeom prst="straightConnector1">
            <a:avLst/>
          </a:prstGeom>
          <a:noFill/>
          <a:ln cap="flat" cmpd="sng" w="9525">
            <a:solidFill>
              <a:srgbClr val="00FF00"/>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196" name="Shape 196"/>
        <p:cNvGrpSpPr/>
        <p:nvPr/>
      </p:nvGrpSpPr>
      <p:grpSpPr>
        <a:xfrm>
          <a:off x="0" y="0"/>
          <a:ext cx="0" cy="0"/>
          <a:chOff x="0" y="0"/>
          <a:chExt cx="0" cy="0"/>
        </a:xfrm>
      </p:grpSpPr>
      <p:sp>
        <p:nvSpPr>
          <p:cNvPr id="197" name="Google Shape;197;p31"/>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Simple XSS-&gt;SSRF via wkhtmltopdf</a:t>
            </a:r>
            <a:endParaRPr b="1" sz="4000">
              <a:solidFill>
                <a:srgbClr val="FF00FF"/>
              </a:solidFill>
              <a:latin typeface="Fjalla One"/>
              <a:ea typeface="Fjalla One"/>
              <a:cs typeface="Fjalla One"/>
              <a:sym typeface="Fjalla One"/>
            </a:endParaRPr>
          </a:p>
        </p:txBody>
      </p:sp>
      <p:sp>
        <p:nvSpPr>
          <p:cNvPr id="198" name="Google Shape;198;p31"/>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Oswald Regular"/>
                <a:ea typeface="Oswald Regular"/>
                <a:cs typeface="Oswald Regular"/>
                <a:sym typeface="Oswald Regular"/>
              </a:rPr>
              <a:t>&lt;iframe src=”http://169.254.169.254/user-data”&gt;</a:t>
            </a:r>
            <a:endParaRPr sz="2000">
              <a:solidFill>
                <a:srgbClr val="FFFFFF"/>
              </a:solidFill>
              <a:latin typeface="Oswald Regular"/>
              <a:ea typeface="Oswald Regular"/>
              <a:cs typeface="Oswald Regular"/>
              <a:sym typeface="Oswald Regular"/>
            </a:endParaRPr>
          </a:p>
        </p:txBody>
      </p:sp>
      <p:cxnSp>
        <p:nvCxnSpPr>
          <p:cNvPr id="199" name="Google Shape;199;p31"/>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pic>
        <p:nvPicPr>
          <p:cNvPr id="200" name="Google Shape;200;p31"/>
          <p:cNvPicPr preferRelativeResize="0"/>
          <p:nvPr/>
        </p:nvPicPr>
        <p:blipFill>
          <a:blip r:embed="rId3">
            <a:alphaModFix/>
          </a:blip>
          <a:stretch>
            <a:fillRect/>
          </a:stretch>
        </p:blipFill>
        <p:spPr>
          <a:xfrm>
            <a:off x="1660813" y="2138106"/>
            <a:ext cx="5503325" cy="2816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04" name="Shape 204"/>
        <p:cNvGrpSpPr/>
        <p:nvPr/>
      </p:nvGrpSpPr>
      <p:grpSpPr>
        <a:xfrm>
          <a:off x="0" y="0"/>
          <a:ext cx="0" cy="0"/>
          <a:chOff x="0" y="0"/>
          <a:chExt cx="0" cy="0"/>
        </a:xfrm>
      </p:grpSpPr>
      <p:sp>
        <p:nvSpPr>
          <p:cNvPr id="205" name="Google Shape;205;p32"/>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When Simple Fails</a:t>
            </a:r>
            <a:endParaRPr b="1" sz="4000">
              <a:solidFill>
                <a:srgbClr val="FF00FF"/>
              </a:solidFill>
              <a:latin typeface="Fjalla One"/>
              <a:ea typeface="Fjalla One"/>
              <a:cs typeface="Fjalla One"/>
              <a:sym typeface="Fjalla One"/>
            </a:endParaRPr>
          </a:p>
        </p:txBody>
      </p:sp>
      <p:sp>
        <p:nvSpPr>
          <p:cNvPr id="206" name="Google Shape;206;p32"/>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Headless Chrome is great for PDF conversion tasks like this, but it makes it harder for hackers.  Unlike wkhtmltopdf, it cares if you try to load an http resource inside an https page, like our previous example.  Also unlike wkhtmltopdf, you can’t typically redirect it to another page and get a render of the new location.</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Finally, the JS engine cares about Same-Origin Policy just like normal browsers do, so we can’t just make an XMLHttpRequest to the metadata service and steal their data that way.</a:t>
            </a:r>
            <a:endParaRPr sz="2000">
              <a:solidFill>
                <a:srgbClr val="FFFFFF"/>
              </a:solidFill>
              <a:latin typeface="Oswald Regular"/>
              <a:ea typeface="Oswald Regular"/>
              <a:cs typeface="Oswald Regular"/>
              <a:sym typeface="Oswald Regular"/>
            </a:endParaRPr>
          </a:p>
        </p:txBody>
      </p:sp>
      <p:cxnSp>
        <p:nvCxnSpPr>
          <p:cNvPr id="207" name="Google Shape;207;p32"/>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0">
  <p:cSld>
    <p:bg>
      <p:bgPr>
        <a:gradFill>
          <a:gsLst>
            <a:gs pos="0">
              <a:srgbClr val="4E29AA"/>
            </a:gs>
            <a:gs pos="100000">
              <a:srgbClr val="1E123D"/>
            </a:gs>
          </a:gsLst>
          <a:lin ang="5400012" scaled="0"/>
        </a:gradFill>
      </p:bgPr>
    </p:bg>
    <p:spTree>
      <p:nvGrpSpPr>
        <p:cNvPr id="211" name="Shape 211"/>
        <p:cNvGrpSpPr/>
        <p:nvPr/>
      </p:nvGrpSpPr>
      <p:grpSpPr>
        <a:xfrm>
          <a:off x="0" y="0"/>
          <a:ext cx="0" cy="0"/>
          <a:chOff x="0" y="0"/>
          <a:chExt cx="0" cy="0"/>
        </a:xfrm>
      </p:grpSpPr>
      <p:sp>
        <p:nvSpPr>
          <p:cNvPr id="212" name="Google Shape;212;p33"/>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Most user input gets sanitized/filtered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We haven’t found an XSS in our target app</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But… we are allowed to customize the fonts and styling of the generated PDF</a:t>
            </a:r>
            <a:endParaRPr sz="2000">
              <a:solidFill>
                <a:srgbClr val="FFFFFF"/>
              </a:solidFill>
              <a:latin typeface="Oswald Regular"/>
              <a:ea typeface="Oswald Regular"/>
              <a:cs typeface="Oswald Regular"/>
              <a:sym typeface="Oswald Regular"/>
            </a:endParaRPr>
          </a:p>
          <a:p>
            <a:pPr indent="0" lvl="0" marL="45720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p:txBody>
      </p:sp>
      <p:sp>
        <p:nvSpPr>
          <p:cNvPr id="213" name="Google Shape;213;p33"/>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HTML Renders but...</a:t>
            </a:r>
            <a:endParaRPr b="1" sz="4000">
              <a:solidFill>
                <a:srgbClr val="FF00FF"/>
              </a:solidFill>
              <a:latin typeface="Fjalla One"/>
              <a:ea typeface="Fjalla One"/>
              <a:cs typeface="Fjalla One"/>
              <a:sym typeface="Fjalla One"/>
            </a:endParaRPr>
          </a:p>
        </p:txBody>
      </p:sp>
      <p:cxnSp>
        <p:nvCxnSpPr>
          <p:cNvPr id="214" name="Google Shape;214;p33"/>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18" name="Shape 218"/>
        <p:cNvGrpSpPr/>
        <p:nvPr/>
      </p:nvGrpSpPr>
      <p:grpSpPr>
        <a:xfrm>
          <a:off x="0" y="0"/>
          <a:ext cx="0" cy="0"/>
          <a:chOff x="0" y="0"/>
          <a:chExt cx="0" cy="0"/>
        </a:xfrm>
      </p:grpSpPr>
      <p:sp>
        <p:nvSpPr>
          <p:cNvPr id="219" name="Google Shape;219;p34"/>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XSS via escaping &lt;style&gt; tag</a:t>
            </a:r>
            <a:endParaRPr b="1" sz="4000">
              <a:solidFill>
                <a:srgbClr val="FF00FF"/>
              </a:solidFill>
              <a:latin typeface="Fjalla One"/>
              <a:ea typeface="Fjalla One"/>
              <a:cs typeface="Fjalla One"/>
              <a:sym typeface="Fjalla One"/>
            </a:endParaRPr>
          </a:p>
        </p:txBody>
      </p:sp>
      <p:sp>
        <p:nvSpPr>
          <p:cNvPr id="220" name="Google Shape;220;p34"/>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Most user input gets sanitized/filtered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 XSS</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But… we are allowed to customize the fonts and styling</a:t>
            </a:r>
            <a:endParaRPr sz="2000">
              <a:solidFill>
                <a:srgbClr val="FFFFFF"/>
              </a:solidFill>
              <a:latin typeface="Oswald Regular"/>
              <a:ea typeface="Oswald Regular"/>
              <a:cs typeface="Oswald Regular"/>
              <a:sym typeface="Oswald Regular"/>
            </a:endParaRPr>
          </a:p>
          <a:p>
            <a:pPr indent="0" lvl="0" marL="457200" rtl="0" algn="l">
              <a:spcBef>
                <a:spcPts val="0"/>
              </a:spcBef>
              <a:spcAft>
                <a:spcPts val="0"/>
              </a:spcAft>
              <a:buNone/>
            </a:pPr>
            <a:r>
              <a:t/>
            </a:r>
            <a:endParaRPr sz="2000">
              <a:solidFill>
                <a:srgbClr val="FFFFFF"/>
              </a:solidFill>
              <a:latin typeface="Fjalla One"/>
              <a:ea typeface="Fjalla One"/>
              <a:cs typeface="Fjalla One"/>
              <a:sym typeface="Fjalla One"/>
            </a:endParaRPr>
          </a:p>
        </p:txBody>
      </p:sp>
      <p:cxnSp>
        <p:nvCxnSpPr>
          <p:cNvPr id="221" name="Google Shape;221;p34"/>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pic>
        <p:nvPicPr>
          <p:cNvPr id="222" name="Google Shape;222;p34"/>
          <p:cNvPicPr preferRelativeResize="0"/>
          <p:nvPr/>
        </p:nvPicPr>
        <p:blipFill rotWithShape="1">
          <a:blip r:embed="rId3">
            <a:alphaModFix/>
          </a:blip>
          <a:srcRect b="16665" l="0" r="0" t="68656"/>
          <a:stretch/>
        </p:blipFill>
        <p:spPr>
          <a:xfrm>
            <a:off x="1214050" y="2744601"/>
            <a:ext cx="6199252" cy="754923"/>
          </a:xfrm>
          <a:prstGeom prst="rect">
            <a:avLst/>
          </a:prstGeom>
          <a:noFill/>
          <a:ln>
            <a:noFill/>
          </a:ln>
        </p:spPr>
      </p:pic>
      <p:sp>
        <p:nvSpPr>
          <p:cNvPr id="223" name="Google Shape;223;p34"/>
          <p:cNvSpPr/>
          <p:nvPr/>
        </p:nvSpPr>
        <p:spPr>
          <a:xfrm>
            <a:off x="4000500" y="3499525"/>
            <a:ext cx="268200" cy="423300"/>
          </a:xfrm>
          <a:prstGeom prst="downArrow">
            <a:avLst>
              <a:gd fmla="val 50000" name="adj1"/>
              <a:gd fmla="val 50000" name="adj2"/>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CE5CD"/>
              </a:solidFill>
              <a:highlight>
                <a:srgbClr val="999999"/>
              </a:highlight>
            </a:endParaRPr>
          </a:p>
        </p:txBody>
      </p:sp>
      <p:pic>
        <p:nvPicPr>
          <p:cNvPr id="224" name="Google Shape;224;p34"/>
          <p:cNvPicPr preferRelativeResize="0"/>
          <p:nvPr/>
        </p:nvPicPr>
        <p:blipFill rotWithShape="1">
          <a:blip r:embed="rId4">
            <a:alphaModFix/>
          </a:blip>
          <a:srcRect b="0" l="0" r="0" t="43123"/>
          <a:stretch/>
        </p:blipFill>
        <p:spPr>
          <a:xfrm>
            <a:off x="1531725" y="3922825"/>
            <a:ext cx="5403300" cy="970500"/>
          </a:xfrm>
          <a:prstGeom prst="rect">
            <a:avLst/>
          </a:prstGeom>
          <a:noFill/>
          <a:ln>
            <a:noFill/>
          </a:ln>
        </p:spPr>
      </p:pic>
      <p:cxnSp>
        <p:nvCxnSpPr>
          <p:cNvPr id="225" name="Google Shape;225;p34"/>
          <p:cNvCxnSpPr/>
          <p:nvPr/>
        </p:nvCxnSpPr>
        <p:spPr>
          <a:xfrm>
            <a:off x="938400" y="3055050"/>
            <a:ext cx="550200" cy="0"/>
          </a:xfrm>
          <a:prstGeom prst="straightConnector1">
            <a:avLst/>
          </a:prstGeom>
          <a:noFill/>
          <a:ln cap="flat" cmpd="sng" w="9525">
            <a:solidFill>
              <a:srgbClr val="00FF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29" name="Shape 229"/>
        <p:cNvGrpSpPr/>
        <p:nvPr/>
      </p:nvGrpSpPr>
      <p:grpSpPr>
        <a:xfrm>
          <a:off x="0" y="0"/>
          <a:ext cx="0" cy="0"/>
          <a:chOff x="0" y="0"/>
          <a:chExt cx="0" cy="0"/>
        </a:xfrm>
      </p:grpSpPr>
      <p:sp>
        <p:nvSpPr>
          <p:cNvPr id="230" name="Google Shape;230;p35"/>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XSS via escaping &lt;style&gt; tag</a:t>
            </a:r>
            <a:endParaRPr b="1" sz="4000">
              <a:solidFill>
                <a:srgbClr val="FF00FF"/>
              </a:solidFill>
              <a:latin typeface="Fjalla One"/>
              <a:ea typeface="Fjalla One"/>
              <a:cs typeface="Fjalla One"/>
              <a:sym typeface="Fjalla One"/>
            </a:endParaRPr>
          </a:p>
        </p:txBody>
      </p:sp>
      <p:sp>
        <p:nvSpPr>
          <p:cNvPr id="231" name="Google Shape;231;p35"/>
          <p:cNvSpPr txBox="1"/>
          <p:nvPr/>
        </p:nvSpPr>
        <p:spPr>
          <a:xfrm>
            <a:off x="664425" y="1624600"/>
            <a:ext cx="7599300" cy="3258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Confirm it renders HTML within the PDF Generator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Can it fetch anything from a remote host”?</a:t>
            </a:r>
            <a:endParaRPr sz="2000">
              <a:solidFill>
                <a:srgbClr val="FFFFFF"/>
              </a:solidFill>
              <a:latin typeface="Oswald Regular"/>
              <a:ea typeface="Oswald Regular"/>
              <a:cs typeface="Oswald Regular"/>
              <a:sym typeface="Oswald Regular"/>
            </a:endParaRPr>
          </a:p>
        </p:txBody>
      </p:sp>
      <p:cxnSp>
        <p:nvCxnSpPr>
          <p:cNvPr id="232" name="Google Shape;232;p35"/>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
        <p:nvSpPr>
          <p:cNvPr id="233" name="Google Shape;233;p35"/>
          <p:cNvSpPr/>
          <p:nvPr/>
        </p:nvSpPr>
        <p:spPr>
          <a:xfrm>
            <a:off x="3993425" y="3164400"/>
            <a:ext cx="268200" cy="423300"/>
          </a:xfrm>
          <a:prstGeom prst="downArrow">
            <a:avLst>
              <a:gd fmla="val 50000" name="adj1"/>
              <a:gd fmla="val 50000" name="adj2"/>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CE5CD"/>
              </a:solidFill>
              <a:highlight>
                <a:srgbClr val="999999"/>
              </a:highlight>
            </a:endParaRPr>
          </a:p>
        </p:txBody>
      </p:sp>
      <p:pic>
        <p:nvPicPr>
          <p:cNvPr id="234" name="Google Shape;234;p35"/>
          <p:cNvPicPr preferRelativeResize="0"/>
          <p:nvPr/>
        </p:nvPicPr>
        <p:blipFill rotWithShape="1">
          <a:blip r:embed="rId3">
            <a:alphaModFix/>
          </a:blip>
          <a:srcRect b="17695" l="1370" r="-1370" t="69342"/>
          <a:stretch/>
        </p:blipFill>
        <p:spPr>
          <a:xfrm>
            <a:off x="1472375" y="2497676"/>
            <a:ext cx="6199252" cy="666724"/>
          </a:xfrm>
          <a:prstGeom prst="rect">
            <a:avLst/>
          </a:prstGeom>
          <a:noFill/>
          <a:ln>
            <a:noFill/>
          </a:ln>
        </p:spPr>
      </p:pic>
      <p:pic>
        <p:nvPicPr>
          <p:cNvPr id="235" name="Google Shape;235;p35"/>
          <p:cNvPicPr preferRelativeResize="0"/>
          <p:nvPr/>
        </p:nvPicPr>
        <p:blipFill>
          <a:blip r:embed="rId4">
            <a:alphaModFix/>
          </a:blip>
          <a:stretch>
            <a:fillRect/>
          </a:stretch>
        </p:blipFill>
        <p:spPr>
          <a:xfrm>
            <a:off x="1554975" y="3635713"/>
            <a:ext cx="5715000" cy="866775"/>
          </a:xfrm>
          <a:prstGeom prst="rect">
            <a:avLst/>
          </a:prstGeom>
          <a:noFill/>
          <a:ln>
            <a:noFill/>
          </a:ln>
        </p:spPr>
      </p:pic>
      <p:cxnSp>
        <p:nvCxnSpPr>
          <p:cNvPr id="236" name="Google Shape;236;p35"/>
          <p:cNvCxnSpPr/>
          <p:nvPr/>
        </p:nvCxnSpPr>
        <p:spPr>
          <a:xfrm>
            <a:off x="2600625" y="3722525"/>
            <a:ext cx="888900" cy="0"/>
          </a:xfrm>
          <a:prstGeom prst="straightConnector1">
            <a:avLst/>
          </a:prstGeom>
          <a:noFill/>
          <a:ln cap="flat" cmpd="sng" w="76200">
            <a:solidFill>
              <a:srgbClr val="00FF00"/>
            </a:solidFill>
            <a:prstDash val="solid"/>
            <a:round/>
            <a:headEnd len="med" w="med" type="none"/>
            <a:tailEnd len="med" w="med" type="none"/>
          </a:ln>
        </p:spPr>
      </p:cxnSp>
      <p:cxnSp>
        <p:nvCxnSpPr>
          <p:cNvPr id="237" name="Google Shape;237;p35"/>
          <p:cNvCxnSpPr/>
          <p:nvPr/>
        </p:nvCxnSpPr>
        <p:spPr>
          <a:xfrm>
            <a:off x="2477875" y="2781325"/>
            <a:ext cx="888900" cy="0"/>
          </a:xfrm>
          <a:prstGeom prst="straightConnector1">
            <a:avLst/>
          </a:prstGeom>
          <a:noFill/>
          <a:ln cap="flat" cmpd="sng" w="76200">
            <a:solidFill>
              <a:srgbClr val="00FF00"/>
            </a:solidFill>
            <a:prstDash val="solid"/>
            <a:round/>
            <a:headEnd len="med" w="med" type="none"/>
            <a:tailEnd len="med" w="med" type="none"/>
          </a:ln>
        </p:spPr>
      </p:cxnSp>
      <p:cxnSp>
        <p:nvCxnSpPr>
          <p:cNvPr id="238" name="Google Shape;238;p35"/>
          <p:cNvCxnSpPr/>
          <p:nvPr/>
        </p:nvCxnSpPr>
        <p:spPr>
          <a:xfrm>
            <a:off x="1903550" y="4140225"/>
            <a:ext cx="888900" cy="0"/>
          </a:xfrm>
          <a:prstGeom prst="straightConnector1">
            <a:avLst/>
          </a:prstGeom>
          <a:noFill/>
          <a:ln cap="flat" cmpd="sng" w="76200">
            <a:solidFill>
              <a:srgbClr val="00FF00"/>
            </a:solidFill>
            <a:prstDash val="solid"/>
            <a:round/>
            <a:headEnd len="med" w="med" type="none"/>
            <a:tailEnd len="med" w="med" type="none"/>
          </a:ln>
        </p:spPr>
      </p:cxnSp>
      <p:cxnSp>
        <p:nvCxnSpPr>
          <p:cNvPr id="239" name="Google Shape;239;p35"/>
          <p:cNvCxnSpPr/>
          <p:nvPr/>
        </p:nvCxnSpPr>
        <p:spPr>
          <a:xfrm flipH="1" rot="10800000">
            <a:off x="814275" y="3986250"/>
            <a:ext cx="740700" cy="21300"/>
          </a:xfrm>
          <a:prstGeom prst="straightConnector1">
            <a:avLst/>
          </a:prstGeom>
          <a:noFill/>
          <a:ln cap="flat" cmpd="sng" w="9525">
            <a:solidFill>
              <a:srgbClr val="00FF00"/>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43" name="Shape 243"/>
        <p:cNvGrpSpPr/>
        <p:nvPr/>
      </p:nvGrpSpPr>
      <p:grpSpPr>
        <a:xfrm>
          <a:off x="0" y="0"/>
          <a:ext cx="0" cy="0"/>
          <a:chOff x="0" y="0"/>
          <a:chExt cx="0" cy="0"/>
        </a:xfrm>
      </p:grpSpPr>
      <p:sp>
        <p:nvSpPr>
          <p:cNvPr id="244" name="Google Shape;244;p36"/>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XSS via escaping &lt;style&gt; tag</a:t>
            </a:r>
            <a:endParaRPr b="1" sz="4000">
              <a:solidFill>
                <a:srgbClr val="FF00FF"/>
              </a:solidFill>
              <a:latin typeface="Fjalla One"/>
              <a:ea typeface="Fjalla One"/>
              <a:cs typeface="Fjalla One"/>
              <a:sym typeface="Fjalla One"/>
            </a:endParaRPr>
          </a:p>
        </p:txBody>
      </p:sp>
      <p:cxnSp>
        <p:nvCxnSpPr>
          <p:cNvPr id="245" name="Google Shape;245;p36"/>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
        <p:nvSpPr>
          <p:cNvPr id="246" name="Google Shape;246;p36"/>
          <p:cNvSpPr txBox="1"/>
          <p:nvPr/>
        </p:nvSpPr>
        <p:spPr>
          <a:xfrm>
            <a:off x="710175" y="1624625"/>
            <a:ext cx="7599300" cy="6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Replace test payload with &lt;style&gt;</a:t>
            </a:r>
            <a:r>
              <a:rPr lang="en" sz="2000">
                <a:solidFill>
                  <a:srgbClr val="FFFFFF"/>
                </a:solidFill>
                <a:latin typeface="Oswald Regular"/>
                <a:ea typeface="Oswald Regular"/>
                <a:cs typeface="Oswald Regular"/>
                <a:sym typeface="Oswald Regular"/>
              </a:rPr>
              <a:t>&lt;iframe src=”</a:t>
            </a:r>
            <a:r>
              <a:rPr lang="en" sz="2000" u="sng">
                <a:solidFill>
                  <a:srgbClr val="F3F3F3"/>
                </a:solidFill>
                <a:latin typeface="Oswald Regular"/>
                <a:ea typeface="Oswald Regular"/>
                <a:cs typeface="Oswald Regular"/>
                <a:sym typeface="Oswald Regular"/>
                <a:hlinkClick r:id="rId3"/>
              </a:rPr>
              <a:t>http://169.254.169.254/user-data</a:t>
            </a:r>
            <a:r>
              <a:rPr lang="en" sz="2000">
                <a:solidFill>
                  <a:srgbClr val="FFFFFF"/>
                </a:solidFill>
                <a:latin typeface="Oswald Regular"/>
                <a:ea typeface="Oswald Regular"/>
                <a:cs typeface="Oswald Regular"/>
                <a:sym typeface="Oswald Regular"/>
              </a:rPr>
              <a:t>”&gt; and extract data:</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rgbClr val="FFFFFF"/>
                </a:solidFill>
                <a:latin typeface="Fjalla One"/>
                <a:ea typeface="Fjalla One"/>
                <a:cs typeface="Fjalla One"/>
                <a:sym typeface="Fjalla One"/>
              </a:rPr>
              <a:t> </a:t>
            </a:r>
            <a:endParaRPr sz="2000">
              <a:solidFill>
                <a:srgbClr val="FFFFFF"/>
              </a:solidFill>
              <a:latin typeface="Fjalla One"/>
              <a:ea typeface="Fjalla One"/>
              <a:cs typeface="Fjalla One"/>
              <a:sym typeface="Fjalla One"/>
            </a:endParaRPr>
          </a:p>
        </p:txBody>
      </p:sp>
      <p:pic>
        <p:nvPicPr>
          <p:cNvPr id="247" name="Google Shape;247;p36"/>
          <p:cNvPicPr preferRelativeResize="0"/>
          <p:nvPr/>
        </p:nvPicPr>
        <p:blipFill>
          <a:blip r:embed="rId4">
            <a:alphaModFix/>
          </a:blip>
          <a:stretch>
            <a:fillRect/>
          </a:stretch>
        </p:blipFill>
        <p:spPr>
          <a:xfrm>
            <a:off x="2559171" y="2616227"/>
            <a:ext cx="3706600" cy="18970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51" name="Shape 251"/>
        <p:cNvGrpSpPr/>
        <p:nvPr/>
      </p:nvGrpSpPr>
      <p:grpSpPr>
        <a:xfrm>
          <a:off x="0" y="0"/>
          <a:ext cx="0" cy="0"/>
          <a:chOff x="0" y="0"/>
          <a:chExt cx="0" cy="0"/>
        </a:xfrm>
      </p:grpSpPr>
      <p:sp>
        <p:nvSpPr>
          <p:cNvPr id="252" name="Google Shape;252;p37"/>
          <p:cNvSpPr txBox="1"/>
          <p:nvPr>
            <p:ph idx="1" type="subTitle"/>
          </p:nvPr>
        </p:nvSpPr>
        <p:spPr>
          <a:xfrm>
            <a:off x="720750" y="2175450"/>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WeasyPrint Makes Hacking (W)easy</a:t>
            </a:r>
            <a:endParaRPr b="1" sz="4000">
              <a:solidFill>
                <a:srgbClr val="FF00FF"/>
              </a:solidFill>
              <a:latin typeface="Fjalla One"/>
              <a:ea typeface="Fjalla One"/>
              <a:cs typeface="Fjalla One"/>
              <a:sym typeface="Fjalla On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56" name="Shape 256"/>
        <p:cNvGrpSpPr/>
        <p:nvPr/>
      </p:nvGrpSpPr>
      <p:grpSpPr>
        <a:xfrm>
          <a:off x="0" y="0"/>
          <a:ext cx="0" cy="0"/>
          <a:chOff x="0" y="0"/>
          <a:chExt cx="0" cy="0"/>
        </a:xfrm>
      </p:grpSpPr>
      <p:sp>
        <p:nvSpPr>
          <p:cNvPr id="257" name="Google Shape;257;p38"/>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WeasyPrint Makes Hacking (W)easy</a:t>
            </a:r>
            <a:endParaRPr b="1" sz="4000">
              <a:solidFill>
                <a:srgbClr val="FF00FF"/>
              </a:solidFill>
              <a:latin typeface="Fjalla One"/>
              <a:ea typeface="Fjalla One"/>
              <a:cs typeface="Fjalla One"/>
              <a:sym typeface="Fjalla One"/>
            </a:endParaRPr>
          </a:p>
        </p:txBody>
      </p:sp>
      <p:sp>
        <p:nvSpPr>
          <p:cNvPr id="258" name="Google Shape;258;p38"/>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 Once you know the trick, at least.</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This one stumped us for a while. We got XSS into a PDF no problem, but there were two things that made this hard:</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AutoNum type="arabicPeriod"/>
            </a:pPr>
            <a:r>
              <a:rPr lang="en" sz="2000">
                <a:solidFill>
                  <a:srgbClr val="FFFFFF"/>
                </a:solidFill>
                <a:latin typeface="Oswald Regular"/>
                <a:ea typeface="Oswald Regular"/>
                <a:cs typeface="Oswald Regular"/>
                <a:sym typeface="Oswald Regular"/>
              </a:rPr>
              <a:t>It didn’t seem to run any scripts, load iframes, or seemingly do anything but load images.</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AutoNum type="arabicPeriod"/>
            </a:pPr>
            <a:r>
              <a:rPr lang="en" sz="2000">
                <a:solidFill>
                  <a:srgbClr val="FFFFFF"/>
                </a:solidFill>
                <a:latin typeface="Oswald Regular"/>
                <a:ea typeface="Oswald Regular"/>
                <a:cs typeface="Oswald Regular"/>
                <a:sym typeface="Oswald Regular"/>
              </a:rPr>
              <a:t>Every single payload we wanted to test required us to take a rideshare somewhere.</a:t>
            </a:r>
            <a:endParaRPr sz="2000">
              <a:solidFill>
                <a:srgbClr val="FFFFFF"/>
              </a:solidFill>
              <a:latin typeface="Oswald Regular"/>
              <a:ea typeface="Oswald Regular"/>
              <a:cs typeface="Oswald Regular"/>
              <a:sym typeface="Oswald Regular"/>
            </a:endParaRPr>
          </a:p>
        </p:txBody>
      </p:sp>
      <p:cxnSp>
        <p:nvCxnSpPr>
          <p:cNvPr id="259" name="Google Shape;259;p38"/>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63" name="Shape 263"/>
        <p:cNvGrpSpPr/>
        <p:nvPr/>
      </p:nvGrpSpPr>
      <p:grpSpPr>
        <a:xfrm>
          <a:off x="0" y="0"/>
          <a:ext cx="0" cy="0"/>
          <a:chOff x="0" y="0"/>
          <a:chExt cx="0" cy="0"/>
        </a:xfrm>
      </p:grpSpPr>
      <p:sp>
        <p:nvSpPr>
          <p:cNvPr id="264" name="Google Shape;264;p39"/>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Use The Source</a:t>
            </a:r>
            <a:endParaRPr b="1" sz="4000">
              <a:solidFill>
                <a:srgbClr val="FF00FF"/>
              </a:solidFill>
              <a:latin typeface="Fjalla One"/>
              <a:ea typeface="Fjalla One"/>
              <a:cs typeface="Fjalla One"/>
              <a:sym typeface="Fjalla One"/>
            </a:endParaRPr>
          </a:p>
        </p:txBody>
      </p:sp>
      <p:sp>
        <p:nvSpPr>
          <p:cNvPr id="265" name="Google Shape;265;p39"/>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Once we got it to connect to a server where we could see the request, we noticed that the user agent said it was from WeasyPrint.  A quick Google search later and we learned it was a pretty straightforward HTML renderer </a:t>
            </a:r>
            <a:r>
              <a:rPr lang="en" sz="2000">
                <a:solidFill>
                  <a:srgbClr val="FFFFFF"/>
                </a:solidFill>
                <a:latin typeface="Oswald Regular"/>
                <a:ea typeface="Oswald Regular"/>
                <a:cs typeface="Oswald Regular"/>
                <a:sym typeface="Oswald Regular"/>
              </a:rPr>
              <a:t>written</a:t>
            </a:r>
            <a:r>
              <a:rPr lang="en" sz="2000">
                <a:solidFill>
                  <a:srgbClr val="FFFFFF"/>
                </a:solidFill>
                <a:latin typeface="Oswald Regular"/>
                <a:ea typeface="Oswald Regular"/>
                <a:cs typeface="Oswald Regular"/>
                <a:sym typeface="Oswald Regular"/>
              </a:rPr>
              <a:t> in Python and it was open source!</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Thankfully, we could run this locally and render pages just like the victim.</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Unfortunately, this was when we got really pessimistic.  This thing didn’t render </a:t>
            </a:r>
            <a:r>
              <a:rPr i="1" lang="en" sz="2000">
                <a:solidFill>
                  <a:srgbClr val="FFFFFF"/>
                </a:solidFill>
                <a:latin typeface="Oswald Regular"/>
                <a:ea typeface="Oswald Regular"/>
                <a:cs typeface="Oswald Regular"/>
                <a:sym typeface="Oswald Regular"/>
              </a:rPr>
              <a:t>anything</a:t>
            </a:r>
            <a:r>
              <a:rPr lang="en" sz="2000">
                <a:solidFill>
                  <a:srgbClr val="FFFFFF"/>
                </a:solidFill>
                <a:latin typeface="Oswald Regular"/>
                <a:ea typeface="Oswald Regular"/>
                <a:cs typeface="Oswald Regular"/>
                <a:sym typeface="Oswald Regular"/>
              </a:rPr>
              <a:t> fun. Text, some CSS, images -- that was about it.</a:t>
            </a:r>
            <a:endParaRPr sz="2000">
              <a:solidFill>
                <a:srgbClr val="FFFFFF"/>
              </a:solidFill>
              <a:latin typeface="Oswald Regular"/>
              <a:ea typeface="Oswald Regular"/>
              <a:cs typeface="Oswald Regular"/>
              <a:sym typeface="Oswald Regular"/>
            </a:endParaRPr>
          </a:p>
        </p:txBody>
      </p:sp>
      <p:cxnSp>
        <p:nvCxnSpPr>
          <p:cNvPr id="266" name="Google Shape;266;p39"/>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70" name="Shape 270"/>
        <p:cNvGrpSpPr/>
        <p:nvPr/>
      </p:nvGrpSpPr>
      <p:grpSpPr>
        <a:xfrm>
          <a:off x="0" y="0"/>
          <a:ext cx="0" cy="0"/>
          <a:chOff x="0" y="0"/>
          <a:chExt cx="0" cy="0"/>
        </a:xfrm>
      </p:grpSpPr>
      <p:sp>
        <p:nvSpPr>
          <p:cNvPr id="271" name="Google Shape;271;p40"/>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Use The Source</a:t>
            </a:r>
            <a:endParaRPr b="1" sz="4000">
              <a:solidFill>
                <a:srgbClr val="FF00FF"/>
              </a:solidFill>
              <a:latin typeface="Fjalla One"/>
              <a:ea typeface="Fjalla One"/>
              <a:cs typeface="Fjalla One"/>
              <a:sym typeface="Fjalla One"/>
            </a:endParaRPr>
          </a:p>
        </p:txBody>
      </p:sp>
      <p:sp>
        <p:nvSpPr>
          <p:cNvPr id="272" name="Google Shape;272;p40"/>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How does it work?	</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weasyprint input.html output.pdf</a:t>
            </a:r>
            <a:endParaRPr sz="2000">
              <a:solidFill>
                <a:srgbClr val="FFFFFF"/>
              </a:solidFill>
              <a:latin typeface="Oswald Regular"/>
              <a:ea typeface="Oswald Regular"/>
              <a:cs typeface="Oswald Regular"/>
              <a:sym typeface="Oswald Regular"/>
            </a:endParaRPr>
          </a:p>
          <a:p>
            <a:pPr indent="0" lvl="0" marL="457200" rtl="0" algn="l">
              <a:spcBef>
                <a:spcPts val="0"/>
              </a:spcBef>
              <a:spcAft>
                <a:spcPts val="0"/>
              </a:spcAft>
              <a:buNone/>
            </a:pPr>
            <a:r>
              <a:rPr lang="en" sz="2000">
                <a:solidFill>
                  <a:srgbClr val="FFFFFF"/>
                </a:solidFill>
                <a:latin typeface="Oswald Regular"/>
                <a:ea typeface="Oswald Regular"/>
                <a:cs typeface="Oswald Regular"/>
                <a:sym typeface="Oswald Regular"/>
              </a:rPr>
              <a:t>Example:</a:t>
            </a:r>
            <a:endParaRPr sz="2000">
              <a:solidFill>
                <a:srgbClr val="FFFFFF"/>
              </a:solidFill>
              <a:latin typeface="Oswald Regular"/>
              <a:ea typeface="Oswald Regular"/>
              <a:cs typeface="Oswald Regular"/>
              <a:sym typeface="Oswald Regular"/>
            </a:endParaRPr>
          </a:p>
        </p:txBody>
      </p:sp>
      <p:cxnSp>
        <p:nvCxnSpPr>
          <p:cNvPr id="273" name="Google Shape;273;p40"/>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pic>
        <p:nvPicPr>
          <p:cNvPr id="274" name="Google Shape;274;p40"/>
          <p:cNvPicPr preferRelativeResize="0"/>
          <p:nvPr/>
        </p:nvPicPr>
        <p:blipFill>
          <a:blip r:embed="rId3">
            <a:alphaModFix/>
          </a:blip>
          <a:stretch>
            <a:fillRect/>
          </a:stretch>
        </p:blipFill>
        <p:spPr>
          <a:xfrm>
            <a:off x="871975" y="2991510"/>
            <a:ext cx="3910725" cy="829100"/>
          </a:xfrm>
          <a:prstGeom prst="rect">
            <a:avLst/>
          </a:prstGeom>
          <a:noFill/>
          <a:ln>
            <a:noFill/>
          </a:ln>
        </p:spPr>
      </p:pic>
      <p:pic>
        <p:nvPicPr>
          <p:cNvPr id="275" name="Google Shape;275;p40"/>
          <p:cNvPicPr preferRelativeResize="0"/>
          <p:nvPr/>
        </p:nvPicPr>
        <p:blipFill>
          <a:blip r:embed="rId4">
            <a:alphaModFix/>
          </a:blip>
          <a:stretch>
            <a:fillRect/>
          </a:stretch>
        </p:blipFill>
        <p:spPr>
          <a:xfrm>
            <a:off x="5638818" y="2406713"/>
            <a:ext cx="2624900" cy="1998675"/>
          </a:xfrm>
          <a:prstGeom prst="rect">
            <a:avLst/>
          </a:prstGeom>
          <a:noFill/>
          <a:ln>
            <a:noFill/>
          </a:ln>
        </p:spPr>
      </p:pic>
      <p:sp>
        <p:nvSpPr>
          <p:cNvPr id="276" name="Google Shape;276;p40"/>
          <p:cNvSpPr/>
          <p:nvPr/>
        </p:nvSpPr>
        <p:spPr>
          <a:xfrm>
            <a:off x="4908288" y="3283663"/>
            <a:ext cx="650700" cy="2448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80" name="Shape 280"/>
        <p:cNvGrpSpPr/>
        <p:nvPr/>
      </p:nvGrpSpPr>
      <p:grpSpPr>
        <a:xfrm>
          <a:off x="0" y="0"/>
          <a:ext cx="0" cy="0"/>
          <a:chOff x="0" y="0"/>
          <a:chExt cx="0" cy="0"/>
        </a:xfrm>
      </p:grpSpPr>
      <p:sp>
        <p:nvSpPr>
          <p:cNvPr id="281" name="Google Shape;281;p41"/>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Use The Source</a:t>
            </a:r>
            <a:endParaRPr b="1" sz="4000">
              <a:solidFill>
                <a:srgbClr val="FF00FF"/>
              </a:solidFill>
              <a:latin typeface="Fjalla One"/>
              <a:ea typeface="Fjalla One"/>
              <a:cs typeface="Fjalla One"/>
              <a:sym typeface="Fjalla One"/>
            </a:endParaRPr>
          </a:p>
        </p:txBody>
      </p:sp>
      <p:sp>
        <p:nvSpPr>
          <p:cNvPr id="282" name="Google Shape;282;p41"/>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Only fetched images</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 Javascript</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 &lt;iframe&gt;</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Html.py from </a:t>
            </a:r>
            <a:r>
              <a:rPr lang="en" sz="2000">
                <a:solidFill>
                  <a:schemeClr val="lt1"/>
                </a:solidFill>
                <a:latin typeface="Oswald Regular"/>
                <a:ea typeface="Oswald Regular"/>
                <a:cs typeface="Oswald Regular"/>
                <a:sym typeface="Oswald Regular"/>
              </a:rPr>
              <a:t>WeasyPrint’s GitHub repository indicates we can use</a:t>
            </a:r>
            <a:endParaRPr sz="2000">
              <a:solidFill>
                <a:schemeClr val="lt1"/>
              </a:solidFill>
              <a:latin typeface="Oswald Regular"/>
              <a:ea typeface="Oswald Regular"/>
              <a:cs typeface="Oswald Regular"/>
              <a:sym typeface="Oswald Regular"/>
            </a:endParaRPr>
          </a:p>
          <a:p>
            <a:pPr indent="-355600" lvl="1" marL="9144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&lt;Img&gt; 🛑</a:t>
            </a:r>
            <a:endParaRPr sz="2000">
              <a:solidFill>
                <a:schemeClr val="lt1"/>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chemeClr val="lt1"/>
              </a:solidFill>
              <a:latin typeface="Fjalla One"/>
              <a:ea typeface="Fjalla One"/>
              <a:cs typeface="Fjalla One"/>
              <a:sym typeface="Fjalla One"/>
            </a:endParaRPr>
          </a:p>
        </p:txBody>
      </p:sp>
      <p:cxnSp>
        <p:nvCxnSpPr>
          <p:cNvPr id="283" name="Google Shape;283;p41"/>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Use The Source</a:t>
            </a:r>
            <a:endParaRPr b="1" sz="4000">
              <a:solidFill>
                <a:srgbClr val="FF00FF"/>
              </a:solidFill>
              <a:latin typeface="Fjalla One"/>
              <a:ea typeface="Fjalla One"/>
              <a:cs typeface="Fjalla One"/>
              <a:sym typeface="Fjalla One"/>
            </a:endParaRPr>
          </a:p>
        </p:txBody>
      </p:sp>
      <p:sp>
        <p:nvSpPr>
          <p:cNvPr id="289" name="Google Shape;289;p42"/>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Only fetched images</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 Javascript</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 &lt;iframe&gt;</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Html.py from </a:t>
            </a:r>
            <a:r>
              <a:rPr lang="en" sz="2000">
                <a:solidFill>
                  <a:schemeClr val="lt1"/>
                </a:solidFill>
                <a:latin typeface="Oswald Regular"/>
                <a:ea typeface="Oswald Regular"/>
                <a:cs typeface="Oswald Regular"/>
                <a:sym typeface="Oswald Regular"/>
              </a:rPr>
              <a:t>WeasyPrint’s GitHub repository indicates we can use</a:t>
            </a:r>
            <a:endParaRPr sz="2000">
              <a:solidFill>
                <a:schemeClr val="lt1"/>
              </a:solidFill>
              <a:latin typeface="Oswald Regular"/>
              <a:ea typeface="Oswald Regular"/>
              <a:cs typeface="Oswald Regular"/>
              <a:sym typeface="Oswald Regular"/>
            </a:endParaRPr>
          </a:p>
          <a:p>
            <a:pPr indent="-355600" lvl="1" marL="9144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&lt;Img&gt; 🛑</a:t>
            </a:r>
            <a:endParaRPr sz="2000">
              <a:solidFill>
                <a:schemeClr val="lt1"/>
              </a:solidFill>
              <a:latin typeface="Oswald Regular"/>
              <a:ea typeface="Oswald Regular"/>
              <a:cs typeface="Oswald Regular"/>
              <a:sym typeface="Oswald Regular"/>
            </a:endParaRPr>
          </a:p>
          <a:p>
            <a:pPr indent="-355600" lvl="1" marL="9144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&lt;Embed&gt; 🛑</a:t>
            </a:r>
            <a:endParaRPr sz="2000">
              <a:solidFill>
                <a:schemeClr val="lt1"/>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chemeClr val="lt1"/>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chemeClr val="lt1"/>
              </a:solidFill>
              <a:latin typeface="Oswald Regular"/>
              <a:ea typeface="Oswald Regular"/>
              <a:cs typeface="Oswald Regular"/>
              <a:sym typeface="Oswald Regular"/>
            </a:endParaRPr>
          </a:p>
        </p:txBody>
      </p:sp>
      <p:cxnSp>
        <p:nvCxnSpPr>
          <p:cNvPr id="290" name="Google Shape;290;p42"/>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294" name="Shape 294"/>
        <p:cNvGrpSpPr/>
        <p:nvPr/>
      </p:nvGrpSpPr>
      <p:grpSpPr>
        <a:xfrm>
          <a:off x="0" y="0"/>
          <a:ext cx="0" cy="0"/>
          <a:chOff x="0" y="0"/>
          <a:chExt cx="0" cy="0"/>
        </a:xfrm>
      </p:grpSpPr>
      <p:sp>
        <p:nvSpPr>
          <p:cNvPr id="295" name="Google Shape;295;p43"/>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Use The Source</a:t>
            </a:r>
            <a:endParaRPr b="1" sz="4000">
              <a:solidFill>
                <a:srgbClr val="FF00FF"/>
              </a:solidFill>
              <a:latin typeface="Fjalla One"/>
              <a:ea typeface="Fjalla One"/>
              <a:cs typeface="Fjalla One"/>
              <a:sym typeface="Fjalla One"/>
            </a:endParaRPr>
          </a:p>
        </p:txBody>
      </p:sp>
      <p:sp>
        <p:nvSpPr>
          <p:cNvPr id="296" name="Google Shape;296;p43"/>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Only fetched images</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 Javascript</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 &lt;iframe&gt;</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Html.py from </a:t>
            </a:r>
            <a:r>
              <a:rPr lang="en" sz="2000">
                <a:solidFill>
                  <a:schemeClr val="lt1"/>
                </a:solidFill>
                <a:latin typeface="Oswald Regular"/>
                <a:ea typeface="Oswald Regular"/>
                <a:cs typeface="Oswald Regular"/>
                <a:sym typeface="Oswald Regular"/>
              </a:rPr>
              <a:t>WeasyPrint’s GitHub repository indicates we can use</a:t>
            </a:r>
            <a:endParaRPr sz="2000">
              <a:solidFill>
                <a:schemeClr val="lt1"/>
              </a:solidFill>
              <a:latin typeface="Oswald Regular"/>
              <a:ea typeface="Oswald Regular"/>
              <a:cs typeface="Oswald Regular"/>
              <a:sym typeface="Oswald Regular"/>
            </a:endParaRPr>
          </a:p>
          <a:p>
            <a:pPr indent="-355600" lvl="1" marL="9144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&lt;Img&gt; 🛑</a:t>
            </a:r>
            <a:endParaRPr sz="2000">
              <a:solidFill>
                <a:schemeClr val="lt1"/>
              </a:solidFill>
              <a:latin typeface="Oswald Regular"/>
              <a:ea typeface="Oswald Regular"/>
              <a:cs typeface="Oswald Regular"/>
              <a:sym typeface="Oswald Regular"/>
            </a:endParaRPr>
          </a:p>
          <a:p>
            <a:pPr indent="-355600" lvl="1" marL="9144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&lt;Embed&gt; 🛑</a:t>
            </a:r>
            <a:endParaRPr sz="2000">
              <a:solidFill>
                <a:schemeClr val="lt1"/>
              </a:solidFill>
              <a:latin typeface="Oswald Regular"/>
              <a:ea typeface="Oswald Regular"/>
              <a:cs typeface="Oswald Regular"/>
              <a:sym typeface="Oswald Regular"/>
            </a:endParaRPr>
          </a:p>
          <a:p>
            <a:pPr indent="-355600" lvl="1" marL="9144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&lt;Object&gt; 🛑</a:t>
            </a:r>
            <a:endParaRPr sz="2000">
              <a:solidFill>
                <a:schemeClr val="lt1"/>
              </a:solidFill>
              <a:latin typeface="Oswald Regular"/>
              <a:ea typeface="Oswald Regular"/>
              <a:cs typeface="Oswald Regular"/>
              <a:sym typeface="Oswald Regular"/>
            </a:endParaRPr>
          </a:p>
          <a:p>
            <a:pPr indent="0" lvl="0" marL="914400" rtl="0" algn="l">
              <a:spcBef>
                <a:spcPts val="0"/>
              </a:spcBef>
              <a:spcAft>
                <a:spcPts val="0"/>
              </a:spcAft>
              <a:buNone/>
            </a:pPr>
            <a:r>
              <a:t/>
            </a:r>
            <a:endParaRPr sz="2000">
              <a:solidFill>
                <a:schemeClr val="lt1"/>
              </a:solidFill>
              <a:latin typeface="Oswald Regular"/>
              <a:ea typeface="Oswald Regular"/>
              <a:cs typeface="Oswald Regular"/>
              <a:sym typeface="Oswald Regular"/>
            </a:endParaRPr>
          </a:p>
        </p:txBody>
      </p:sp>
      <p:cxnSp>
        <p:nvCxnSpPr>
          <p:cNvPr id="297" name="Google Shape;297;p43"/>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01" name="Shape 301"/>
        <p:cNvGrpSpPr/>
        <p:nvPr/>
      </p:nvGrpSpPr>
      <p:grpSpPr>
        <a:xfrm>
          <a:off x="0" y="0"/>
          <a:ext cx="0" cy="0"/>
          <a:chOff x="0" y="0"/>
          <a:chExt cx="0" cy="0"/>
        </a:xfrm>
      </p:grpSpPr>
      <p:sp>
        <p:nvSpPr>
          <p:cNvPr id="302" name="Google Shape;302;p44"/>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Use The Source</a:t>
            </a:r>
            <a:endParaRPr b="1" sz="4000">
              <a:solidFill>
                <a:srgbClr val="FF00FF"/>
              </a:solidFill>
              <a:latin typeface="Fjalla One"/>
              <a:ea typeface="Fjalla One"/>
              <a:cs typeface="Fjalla One"/>
              <a:sym typeface="Fjalla One"/>
            </a:endParaRPr>
          </a:p>
        </p:txBody>
      </p:sp>
      <p:sp>
        <p:nvSpPr>
          <p:cNvPr id="303" name="Google Shape;303;p44"/>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Only fetched images</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 Javascript</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No &lt;iframe&gt;</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a:t>
            </a:r>
            <a:r>
              <a:rPr lang="en" sz="2000">
                <a:solidFill>
                  <a:srgbClr val="FFFFFF"/>
                </a:solidFill>
                <a:latin typeface="Oswald Regular"/>
                <a:ea typeface="Oswald Regular"/>
                <a:cs typeface="Oswald Regular"/>
                <a:sym typeface="Oswald Regular"/>
              </a:rPr>
              <a:t>tml.py from </a:t>
            </a:r>
            <a:r>
              <a:rPr lang="en" sz="2000">
                <a:solidFill>
                  <a:schemeClr val="lt1"/>
                </a:solidFill>
                <a:latin typeface="Oswald Regular"/>
                <a:ea typeface="Oswald Regular"/>
                <a:cs typeface="Oswald Regular"/>
                <a:sym typeface="Oswald Regular"/>
              </a:rPr>
              <a:t>WeasyPrint’s GitHub repository indicates we can use</a:t>
            </a:r>
            <a:endParaRPr sz="2000">
              <a:solidFill>
                <a:schemeClr val="lt1"/>
              </a:solidFill>
              <a:latin typeface="Oswald Regular"/>
              <a:ea typeface="Oswald Regular"/>
              <a:cs typeface="Oswald Regular"/>
              <a:sym typeface="Oswald Regular"/>
            </a:endParaRPr>
          </a:p>
          <a:p>
            <a:pPr indent="-355600" lvl="1" marL="9144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&lt;Img&gt; 🛑</a:t>
            </a:r>
            <a:endParaRPr sz="2000">
              <a:solidFill>
                <a:schemeClr val="lt1"/>
              </a:solidFill>
              <a:latin typeface="Oswald Regular"/>
              <a:ea typeface="Oswald Regular"/>
              <a:cs typeface="Oswald Regular"/>
              <a:sym typeface="Oswald Regular"/>
            </a:endParaRPr>
          </a:p>
          <a:p>
            <a:pPr indent="-355600" lvl="1" marL="9144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&lt;Embed&gt; 🛑</a:t>
            </a:r>
            <a:endParaRPr sz="2000">
              <a:solidFill>
                <a:schemeClr val="lt1"/>
              </a:solidFill>
              <a:latin typeface="Oswald Regular"/>
              <a:ea typeface="Oswald Regular"/>
              <a:cs typeface="Oswald Regular"/>
              <a:sym typeface="Oswald Regular"/>
            </a:endParaRPr>
          </a:p>
          <a:p>
            <a:pPr indent="-355600" lvl="1" marL="9144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&lt;Object&gt; 🛑</a:t>
            </a:r>
            <a:endParaRPr sz="2000">
              <a:solidFill>
                <a:schemeClr val="lt1"/>
              </a:solidFill>
              <a:latin typeface="Oswald Regular"/>
              <a:ea typeface="Oswald Regular"/>
              <a:cs typeface="Oswald Regular"/>
              <a:sym typeface="Oswald Regular"/>
            </a:endParaRPr>
          </a:p>
          <a:p>
            <a:pPr indent="-355600" lvl="1" marL="914400" rtl="0" algn="l">
              <a:spcBef>
                <a:spcPts val="0"/>
              </a:spcBef>
              <a:spcAft>
                <a:spcPts val="0"/>
              </a:spcAft>
              <a:buClr>
                <a:schemeClr val="lt1"/>
              </a:buClr>
              <a:buSzPts val="2000"/>
              <a:buFont typeface="Oswald Regular"/>
              <a:buChar char="○"/>
            </a:pPr>
            <a:r>
              <a:rPr lang="en" sz="2000">
                <a:solidFill>
                  <a:schemeClr val="lt1"/>
                </a:solidFill>
                <a:latin typeface="Oswald Regular"/>
                <a:ea typeface="Oswald Regular"/>
                <a:cs typeface="Oswald Regular"/>
                <a:sym typeface="Oswald Regular"/>
              </a:rPr>
              <a:t>&lt;Link&gt; 🤔</a:t>
            </a:r>
            <a:endParaRPr sz="2000">
              <a:solidFill>
                <a:schemeClr val="lt1"/>
              </a:solidFill>
              <a:latin typeface="Oswald Regular"/>
              <a:ea typeface="Oswald Regular"/>
              <a:cs typeface="Oswald Regular"/>
              <a:sym typeface="Oswald Regular"/>
            </a:endParaRPr>
          </a:p>
        </p:txBody>
      </p:sp>
      <p:cxnSp>
        <p:nvCxnSpPr>
          <p:cNvPr id="304" name="Google Shape;304;p44"/>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08" name="Shape 308"/>
        <p:cNvGrpSpPr/>
        <p:nvPr/>
      </p:nvGrpSpPr>
      <p:grpSpPr>
        <a:xfrm>
          <a:off x="0" y="0"/>
          <a:ext cx="0" cy="0"/>
          <a:chOff x="0" y="0"/>
          <a:chExt cx="0" cy="0"/>
        </a:xfrm>
      </p:grpSpPr>
      <p:sp>
        <p:nvSpPr>
          <p:cNvPr id="309" name="Google Shape;309;p45"/>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Attachments</a:t>
            </a:r>
            <a:endParaRPr b="1" sz="4000">
              <a:solidFill>
                <a:srgbClr val="FF00FF"/>
              </a:solidFill>
              <a:latin typeface="Fjalla One"/>
              <a:ea typeface="Fjalla One"/>
              <a:cs typeface="Fjalla One"/>
              <a:sym typeface="Fjalla One"/>
            </a:endParaRPr>
          </a:p>
        </p:txBody>
      </p:sp>
      <p:sp>
        <p:nvSpPr>
          <p:cNvPr id="310" name="Google Shape;310;p45"/>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chemeClr val="lt1"/>
                </a:solidFill>
                <a:latin typeface="Source Code Pro"/>
                <a:ea typeface="Source Code Pro"/>
                <a:cs typeface="Source Code Pro"/>
                <a:sym typeface="Source Code Pro"/>
              </a:rPr>
              <a:t>&lt;link rel=attachment href=”file:///etc/passwd”&gt;</a:t>
            </a:r>
            <a:endParaRPr sz="2000">
              <a:solidFill>
                <a:schemeClr val="lt1"/>
              </a:solidFill>
              <a:latin typeface="Source Code Pro"/>
              <a:ea typeface="Source Code Pro"/>
              <a:cs typeface="Source Code Pro"/>
              <a:sym typeface="Source Code Pro"/>
            </a:endParaRPr>
          </a:p>
          <a:p>
            <a:pPr indent="0" lvl="0" marL="0" rtl="0" algn="l">
              <a:spcBef>
                <a:spcPts val="0"/>
              </a:spcBef>
              <a:spcAft>
                <a:spcPts val="0"/>
              </a:spcAft>
              <a:buNone/>
            </a:pPr>
            <a:r>
              <a:t/>
            </a:r>
            <a:endParaRPr sz="2000">
              <a:solidFill>
                <a:srgbClr val="FFFFFF"/>
              </a:solidFill>
              <a:latin typeface="Source Code Pro"/>
              <a:ea typeface="Source Code Pro"/>
              <a:cs typeface="Source Code Pro"/>
              <a:sym typeface="Source Code Pro"/>
            </a:endParaRPr>
          </a:p>
          <a:p>
            <a:pPr indent="0" lvl="0" marL="0" rtl="0" algn="l">
              <a:spcBef>
                <a:spcPts val="0"/>
              </a:spcBef>
              <a:spcAft>
                <a:spcPts val="0"/>
              </a:spcAft>
              <a:buNone/>
            </a:pPr>
            <a:r>
              <a:t/>
            </a:r>
            <a:endParaRPr sz="2000">
              <a:solidFill>
                <a:srgbClr val="FFFFFF"/>
              </a:solidFill>
              <a:latin typeface="Source Code Pro"/>
              <a:ea typeface="Source Code Pro"/>
              <a:cs typeface="Source Code Pro"/>
              <a:sym typeface="Source Code Pro"/>
            </a:endParaRPr>
          </a:p>
          <a:p>
            <a:pPr indent="0" lvl="0" marL="0" rtl="0" algn="l">
              <a:spcBef>
                <a:spcPts val="0"/>
              </a:spcBef>
              <a:spcAft>
                <a:spcPts val="0"/>
              </a:spcAft>
              <a:buNone/>
            </a:pPr>
            <a:r>
              <a:t/>
            </a:r>
            <a:endParaRPr sz="2000">
              <a:solidFill>
                <a:srgbClr val="FFFFFF"/>
              </a:solidFill>
              <a:latin typeface="Fjalla One"/>
              <a:ea typeface="Fjalla One"/>
              <a:cs typeface="Fjalla One"/>
              <a:sym typeface="Fjalla One"/>
            </a:endParaRPr>
          </a:p>
        </p:txBody>
      </p:sp>
      <p:cxnSp>
        <p:nvCxnSpPr>
          <p:cNvPr id="311" name="Google Shape;311;p45"/>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15" name="Shape 315"/>
        <p:cNvGrpSpPr/>
        <p:nvPr/>
      </p:nvGrpSpPr>
      <p:grpSpPr>
        <a:xfrm>
          <a:off x="0" y="0"/>
          <a:ext cx="0" cy="0"/>
          <a:chOff x="0" y="0"/>
          <a:chExt cx="0" cy="0"/>
        </a:xfrm>
      </p:grpSpPr>
      <p:sp>
        <p:nvSpPr>
          <p:cNvPr id="316" name="Google Shape;316;p46"/>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Attachments</a:t>
            </a:r>
            <a:endParaRPr b="1" sz="4000">
              <a:solidFill>
                <a:srgbClr val="FF00FF"/>
              </a:solidFill>
              <a:latin typeface="Fjalla One"/>
              <a:ea typeface="Fjalla One"/>
              <a:cs typeface="Fjalla One"/>
              <a:sym typeface="Fjalla One"/>
            </a:endParaRPr>
          </a:p>
        </p:txBody>
      </p:sp>
      <p:sp>
        <p:nvSpPr>
          <p:cNvPr id="317" name="Google Shape;317;p46"/>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Source Code Pro"/>
                <a:ea typeface="Source Code Pro"/>
                <a:cs typeface="Source Code Pro"/>
                <a:sym typeface="Source Code Pro"/>
              </a:rPr>
              <a:t>&lt;link rel=attachment href=”file:///etc/passwd”&gt;</a:t>
            </a:r>
            <a:endParaRPr sz="2000">
              <a:solidFill>
                <a:srgbClr val="FFFFFF"/>
              </a:solidFill>
              <a:latin typeface="Source Code Pro"/>
              <a:ea typeface="Source Code Pro"/>
              <a:cs typeface="Source Code Pro"/>
              <a:sym typeface="Source Code Pro"/>
            </a:endParaRPr>
          </a:p>
          <a:p>
            <a:pPr indent="0" lvl="0" marL="0" rtl="0" algn="l">
              <a:spcBef>
                <a:spcPts val="0"/>
              </a:spcBef>
              <a:spcAft>
                <a:spcPts val="0"/>
              </a:spcAft>
              <a:buNone/>
            </a:pPr>
            <a:r>
              <a:t/>
            </a:r>
            <a:endParaRPr sz="2000">
              <a:solidFill>
                <a:srgbClr val="FFFFFF"/>
              </a:solidFill>
              <a:latin typeface="Source Code Pro"/>
              <a:ea typeface="Source Code Pro"/>
              <a:cs typeface="Source Code Pro"/>
              <a:sym typeface="Source Code Pro"/>
            </a:endParaRPr>
          </a:p>
          <a:p>
            <a:pPr indent="0" lvl="0" marL="0" rtl="0" algn="l">
              <a:spcBef>
                <a:spcPts val="0"/>
              </a:spcBef>
              <a:spcAft>
                <a:spcPts val="0"/>
              </a:spcAft>
              <a:buClr>
                <a:schemeClr val="dk1"/>
              </a:buClr>
              <a:buSzPts val="1100"/>
              <a:buFont typeface="Arial"/>
              <a:buNone/>
            </a:pPr>
            <a:r>
              <a:rPr lang="en" sz="2000">
                <a:solidFill>
                  <a:schemeClr val="lt1"/>
                </a:solidFill>
                <a:latin typeface="Oswald Regular"/>
                <a:ea typeface="Oswald Regular"/>
                <a:cs typeface="Oswald Regular"/>
                <a:sym typeface="Oswald Regular"/>
              </a:rPr>
              <a:t>This embeds files right into the PDF itself! They aren’t visible on the page, but they’re included as a hidden resource on the file.</a:t>
            </a:r>
            <a:endParaRPr sz="2000">
              <a:solidFill>
                <a:srgbClr val="FFFFFF"/>
              </a:solidFill>
              <a:latin typeface="Oswald Regular"/>
              <a:ea typeface="Oswald Regular"/>
              <a:cs typeface="Oswald Regular"/>
              <a:sym typeface="Oswald Regular"/>
            </a:endParaRPr>
          </a:p>
        </p:txBody>
      </p:sp>
      <p:cxnSp>
        <p:nvCxnSpPr>
          <p:cNvPr id="318" name="Google Shape;318;p46"/>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22" name="Shape 322"/>
        <p:cNvGrpSpPr/>
        <p:nvPr/>
      </p:nvGrpSpPr>
      <p:grpSpPr>
        <a:xfrm>
          <a:off x="0" y="0"/>
          <a:ext cx="0" cy="0"/>
          <a:chOff x="0" y="0"/>
          <a:chExt cx="0" cy="0"/>
        </a:xfrm>
      </p:grpSpPr>
      <p:sp>
        <p:nvSpPr>
          <p:cNvPr id="323" name="Google Shape;323;p47"/>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Attachments</a:t>
            </a:r>
            <a:endParaRPr b="1" sz="4000">
              <a:solidFill>
                <a:srgbClr val="FF00FF"/>
              </a:solidFill>
              <a:latin typeface="Fjalla One"/>
              <a:ea typeface="Fjalla One"/>
              <a:cs typeface="Fjalla One"/>
              <a:sym typeface="Fjalla One"/>
            </a:endParaRPr>
          </a:p>
        </p:txBody>
      </p:sp>
      <p:sp>
        <p:nvSpPr>
          <p:cNvPr id="324" name="Google Shape;324;p47"/>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Source Code Pro"/>
                <a:ea typeface="Source Code Pro"/>
                <a:cs typeface="Source Code Pro"/>
                <a:sym typeface="Source Code Pro"/>
              </a:rPr>
              <a:t>&lt;link rel=attachment href=”file:///etc/passwd”&gt;</a:t>
            </a:r>
            <a:endParaRPr sz="2000">
              <a:solidFill>
                <a:srgbClr val="FFFFFF"/>
              </a:solidFill>
              <a:latin typeface="Source Code Pro"/>
              <a:ea typeface="Source Code Pro"/>
              <a:cs typeface="Source Code Pro"/>
              <a:sym typeface="Source Code Pro"/>
            </a:endParaRPr>
          </a:p>
          <a:p>
            <a:pPr indent="0" lvl="0" marL="0" rtl="0" algn="l">
              <a:spcBef>
                <a:spcPts val="0"/>
              </a:spcBef>
              <a:spcAft>
                <a:spcPts val="0"/>
              </a:spcAft>
              <a:buNone/>
            </a:pPr>
            <a:r>
              <a:t/>
            </a:r>
            <a:endParaRPr sz="2000">
              <a:solidFill>
                <a:srgbClr val="FFFFFF"/>
              </a:solidFill>
              <a:latin typeface="Source Code Pro"/>
              <a:ea typeface="Source Code Pro"/>
              <a:cs typeface="Source Code Pro"/>
              <a:sym typeface="Source Code Pro"/>
            </a:endParaRPr>
          </a:p>
          <a:p>
            <a:pPr indent="0" lvl="0" marL="0" rtl="0" algn="l">
              <a:spcBef>
                <a:spcPts val="0"/>
              </a:spcBef>
              <a:spcAft>
                <a:spcPts val="0"/>
              </a:spcAft>
              <a:buNone/>
            </a:pPr>
            <a:r>
              <a:rPr lang="en" sz="2000">
                <a:solidFill>
                  <a:schemeClr val="lt1"/>
                </a:solidFill>
                <a:latin typeface="Oswald Regular"/>
                <a:ea typeface="Oswald Regular"/>
                <a:cs typeface="Oswald Regular"/>
                <a:sym typeface="Oswald Regular"/>
              </a:rPr>
              <a:t>This embeds files right into the PDF itself! They aren’t visible on the page, but they’re included as a hidden resource on the file. </a:t>
            </a:r>
            <a:endParaRPr sz="2000">
              <a:solidFill>
                <a:schemeClr val="lt1"/>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chemeClr val="lt1"/>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chemeClr val="lt1"/>
                </a:solidFill>
                <a:latin typeface="Oswald Regular"/>
                <a:ea typeface="Oswald Regular"/>
                <a:cs typeface="Oswald Regular"/>
                <a:sym typeface="Oswald Regular"/>
              </a:rPr>
              <a:t>We could not only read files, but make web requests.  Three rideshares later, we had their full EC2 access keys.</a:t>
            </a:r>
            <a:endParaRPr sz="2000">
              <a:solidFill>
                <a:schemeClr val="lt1"/>
              </a:solidFill>
              <a:latin typeface="Oswald Regular"/>
              <a:ea typeface="Oswald Regular"/>
              <a:cs typeface="Oswald Regular"/>
              <a:sym typeface="Oswald Regular"/>
            </a:endParaRPr>
          </a:p>
        </p:txBody>
      </p:sp>
      <p:cxnSp>
        <p:nvCxnSpPr>
          <p:cNvPr id="325" name="Google Shape;325;p47"/>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29" name="Shape 329"/>
        <p:cNvGrpSpPr/>
        <p:nvPr/>
      </p:nvGrpSpPr>
      <p:grpSpPr>
        <a:xfrm>
          <a:off x="0" y="0"/>
          <a:ext cx="0" cy="0"/>
          <a:chOff x="0" y="0"/>
          <a:chExt cx="0" cy="0"/>
        </a:xfrm>
      </p:grpSpPr>
      <p:sp>
        <p:nvSpPr>
          <p:cNvPr id="330" name="Google Shape;330;p48"/>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Attachments</a:t>
            </a:r>
            <a:endParaRPr b="1" sz="4000">
              <a:solidFill>
                <a:srgbClr val="FF00FF"/>
              </a:solidFill>
              <a:latin typeface="Fjalla One"/>
              <a:ea typeface="Fjalla One"/>
              <a:cs typeface="Fjalla One"/>
              <a:sym typeface="Fjalla One"/>
            </a:endParaRPr>
          </a:p>
        </p:txBody>
      </p:sp>
      <p:cxnSp>
        <p:nvCxnSpPr>
          <p:cNvPr id="331" name="Google Shape;331;p48"/>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pic>
        <p:nvPicPr>
          <p:cNvPr id="332" name="Google Shape;332;p48"/>
          <p:cNvPicPr preferRelativeResize="0"/>
          <p:nvPr/>
        </p:nvPicPr>
        <p:blipFill>
          <a:blip r:embed="rId3">
            <a:alphaModFix/>
          </a:blip>
          <a:stretch>
            <a:fillRect/>
          </a:stretch>
        </p:blipFill>
        <p:spPr>
          <a:xfrm>
            <a:off x="2221725" y="1723088"/>
            <a:ext cx="4381500" cy="638175"/>
          </a:xfrm>
          <a:prstGeom prst="rect">
            <a:avLst/>
          </a:prstGeom>
          <a:noFill/>
          <a:ln>
            <a:noFill/>
          </a:ln>
        </p:spPr>
      </p:pic>
      <p:pic>
        <p:nvPicPr>
          <p:cNvPr id="333" name="Google Shape;333;p48"/>
          <p:cNvPicPr preferRelativeResize="0"/>
          <p:nvPr/>
        </p:nvPicPr>
        <p:blipFill>
          <a:blip r:embed="rId4">
            <a:alphaModFix/>
          </a:blip>
          <a:stretch>
            <a:fillRect/>
          </a:stretch>
        </p:blipFill>
        <p:spPr>
          <a:xfrm>
            <a:off x="1993125" y="3500388"/>
            <a:ext cx="4838700" cy="1095375"/>
          </a:xfrm>
          <a:prstGeom prst="rect">
            <a:avLst/>
          </a:prstGeom>
          <a:noFill/>
          <a:ln>
            <a:noFill/>
          </a:ln>
        </p:spPr>
      </p:pic>
      <p:sp>
        <p:nvSpPr>
          <p:cNvPr id="334" name="Google Shape;334;p48"/>
          <p:cNvSpPr/>
          <p:nvPr/>
        </p:nvSpPr>
        <p:spPr>
          <a:xfrm>
            <a:off x="4139475" y="2402500"/>
            <a:ext cx="546000" cy="986700"/>
          </a:xfrm>
          <a:prstGeom prst="down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5" name="Google Shape;335;p48"/>
          <p:cNvCxnSpPr/>
          <p:nvPr/>
        </p:nvCxnSpPr>
        <p:spPr>
          <a:xfrm rot="10800000">
            <a:off x="5255600" y="3701800"/>
            <a:ext cx="650700" cy="762900"/>
          </a:xfrm>
          <a:prstGeom prst="straightConnector1">
            <a:avLst/>
          </a:prstGeom>
          <a:noFill/>
          <a:ln cap="flat" cmpd="sng" w="9525">
            <a:solidFill>
              <a:srgbClr val="00FF00"/>
            </a:solidFill>
            <a:prstDash val="solid"/>
            <a:round/>
            <a:headEnd len="med" w="med" type="none"/>
            <a:tailEnd len="med" w="med" type="triangle"/>
          </a:ln>
        </p:spPr>
      </p:cxnSp>
      <p:sp>
        <p:nvSpPr>
          <p:cNvPr id="336" name="Google Shape;336;p48"/>
          <p:cNvSpPr txBox="1"/>
          <p:nvPr/>
        </p:nvSpPr>
        <p:spPr>
          <a:xfrm>
            <a:off x="5759325" y="4380725"/>
            <a:ext cx="4030800" cy="4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Fjalla One"/>
                <a:ea typeface="Fjalla One"/>
                <a:cs typeface="Fjalla One"/>
                <a:sym typeface="Fjalla One"/>
              </a:rPr>
              <a:t>Unpacks the content from pdf</a:t>
            </a:r>
            <a:endParaRPr sz="15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40" name="Shape 340"/>
        <p:cNvGrpSpPr/>
        <p:nvPr/>
      </p:nvGrpSpPr>
      <p:grpSpPr>
        <a:xfrm>
          <a:off x="0" y="0"/>
          <a:ext cx="0" cy="0"/>
          <a:chOff x="0" y="0"/>
          <a:chExt cx="0" cy="0"/>
        </a:xfrm>
      </p:grpSpPr>
      <p:sp>
        <p:nvSpPr>
          <p:cNvPr id="341" name="Google Shape;341;p49"/>
          <p:cNvSpPr txBox="1"/>
          <p:nvPr>
            <p:ph idx="1" type="subTitle"/>
          </p:nvPr>
        </p:nvSpPr>
        <p:spPr>
          <a:xfrm>
            <a:off x="720750" y="2175450"/>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DNS Rebinding for Fun and Profit</a:t>
            </a:r>
            <a:endParaRPr b="1" sz="4000">
              <a:solidFill>
                <a:srgbClr val="FF00FF"/>
              </a:solidFill>
              <a:latin typeface="Fjalla One"/>
              <a:ea typeface="Fjalla One"/>
              <a:cs typeface="Fjalla One"/>
              <a:sym typeface="Fjalla On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45" name="Shape 345"/>
        <p:cNvGrpSpPr/>
        <p:nvPr/>
      </p:nvGrpSpPr>
      <p:grpSpPr>
        <a:xfrm>
          <a:off x="0" y="0"/>
          <a:ext cx="0" cy="0"/>
          <a:chOff x="0" y="0"/>
          <a:chExt cx="0" cy="0"/>
        </a:xfrm>
      </p:grpSpPr>
      <p:sp>
        <p:nvSpPr>
          <p:cNvPr id="346" name="Google Shape;346;p50"/>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DNS Rebinding for Fun and Profit</a:t>
            </a:r>
            <a:endParaRPr b="1" sz="4000">
              <a:solidFill>
                <a:srgbClr val="FF00FF"/>
              </a:solidFill>
              <a:latin typeface="Fjalla One"/>
              <a:ea typeface="Fjalla One"/>
              <a:cs typeface="Fjalla One"/>
              <a:sym typeface="Fjalla One"/>
            </a:endParaRPr>
          </a:p>
        </p:txBody>
      </p:sp>
      <p:sp>
        <p:nvSpPr>
          <p:cNvPr id="347" name="Google Shape;347;p50"/>
          <p:cNvSpPr txBox="1"/>
          <p:nvPr/>
        </p:nvSpPr>
        <p:spPr>
          <a:xfrm>
            <a:off x="664425" y="1624600"/>
            <a:ext cx="7599300" cy="116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DNS rebinding attacks provide a means to get around this.  We make the browser think it’s requesting data from the same domain the page was loaded from and it’s game over.</a:t>
            </a:r>
            <a:endParaRPr sz="2000">
              <a:solidFill>
                <a:srgbClr val="FFFFFF"/>
              </a:solidFill>
              <a:latin typeface="Oswald Regular"/>
              <a:ea typeface="Oswald Regular"/>
              <a:cs typeface="Oswald Regular"/>
              <a:sym typeface="Oswald Regular"/>
            </a:endParaRPr>
          </a:p>
        </p:txBody>
      </p:sp>
      <p:cxnSp>
        <p:nvCxnSpPr>
          <p:cNvPr id="348" name="Google Shape;348;p50"/>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pic>
        <p:nvPicPr>
          <p:cNvPr id="349" name="Google Shape;349;p50"/>
          <p:cNvPicPr preferRelativeResize="0"/>
          <p:nvPr/>
        </p:nvPicPr>
        <p:blipFill>
          <a:blip r:embed="rId3">
            <a:alphaModFix/>
          </a:blip>
          <a:stretch>
            <a:fillRect/>
          </a:stretch>
        </p:blipFill>
        <p:spPr>
          <a:xfrm>
            <a:off x="515475" y="2794309"/>
            <a:ext cx="8113048" cy="271128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53" name="Shape 353"/>
        <p:cNvGrpSpPr/>
        <p:nvPr/>
      </p:nvGrpSpPr>
      <p:grpSpPr>
        <a:xfrm>
          <a:off x="0" y="0"/>
          <a:ext cx="0" cy="0"/>
          <a:chOff x="0" y="0"/>
          <a:chExt cx="0" cy="0"/>
        </a:xfrm>
      </p:grpSpPr>
      <p:sp>
        <p:nvSpPr>
          <p:cNvPr id="354" name="Google Shape;354;p51"/>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DNS Rebinding for Fun and Profit</a:t>
            </a:r>
            <a:endParaRPr b="1" sz="4000">
              <a:solidFill>
                <a:srgbClr val="FF00FF"/>
              </a:solidFill>
              <a:latin typeface="Fjalla One"/>
              <a:ea typeface="Fjalla One"/>
              <a:cs typeface="Fjalla One"/>
              <a:sym typeface="Fjalla One"/>
            </a:endParaRPr>
          </a:p>
        </p:txBody>
      </p:sp>
      <p:sp>
        <p:nvSpPr>
          <p:cNvPr id="355" name="Google Shape;355;p51"/>
          <p:cNvSpPr txBox="1"/>
          <p:nvPr/>
        </p:nvSpPr>
        <p:spPr>
          <a:xfrm>
            <a:off x="664425" y="1624600"/>
            <a:ext cx="7599300" cy="3036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AutoNum type="arabicPeriod"/>
            </a:pPr>
            <a:r>
              <a:rPr lang="en" sz="2000">
                <a:solidFill>
                  <a:srgbClr val="FFFFFF"/>
                </a:solidFill>
                <a:latin typeface="Oswald Regular"/>
                <a:ea typeface="Oswald Regular"/>
                <a:cs typeface="Oswald Regular"/>
                <a:sym typeface="Oswald Regular"/>
              </a:rPr>
              <a:t>Browser loads </a:t>
            </a:r>
            <a:r>
              <a:rPr lang="en" sz="2000" u="sng">
                <a:solidFill>
                  <a:schemeClr val="hlink"/>
                </a:solidFill>
                <a:latin typeface="Oswald Regular"/>
                <a:ea typeface="Oswald Regular"/>
                <a:cs typeface="Oswald Regular"/>
                <a:sym typeface="Oswald Regular"/>
                <a:hlinkClick r:id="rId3"/>
              </a:rPr>
              <a:t>http://ex.ploit.info/</a:t>
            </a:r>
            <a:r>
              <a:rPr lang="en" sz="2000">
                <a:solidFill>
                  <a:srgbClr val="FFFFFF"/>
                </a:solidFill>
                <a:latin typeface="Oswald Regular"/>
                <a:ea typeface="Oswald Regular"/>
                <a:cs typeface="Oswald Regular"/>
                <a:sym typeface="Oswald Regular"/>
              </a:rPr>
              <a:t> and the script sends a message to the server to rebind ex.ploit.info to 169.254.169.</a:t>
            </a:r>
            <a:r>
              <a:rPr lang="en" sz="2000">
                <a:solidFill>
                  <a:srgbClr val="FFFFFF"/>
                </a:solidFill>
                <a:latin typeface="Oswald Regular"/>
                <a:ea typeface="Oswald Regular"/>
                <a:cs typeface="Oswald Regular"/>
                <a:sym typeface="Oswald Regular"/>
              </a:rPr>
              <a:t>254</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AutoNum type="arabicPeriod"/>
            </a:pPr>
            <a:r>
              <a:rPr lang="en" sz="2000">
                <a:solidFill>
                  <a:srgbClr val="FFFFFF"/>
                </a:solidFill>
                <a:latin typeface="Oswald Regular"/>
                <a:ea typeface="Oswald Regular"/>
                <a:cs typeface="Oswald Regular"/>
                <a:sym typeface="Oswald Regular"/>
              </a:rPr>
              <a:t>The script then resolves a0.ex.ploit.info through a2499.ex.ploit.info, flushing the DNS cache for the original domain</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AutoNum type="arabicPeriod"/>
            </a:pPr>
            <a:r>
              <a:rPr lang="en" sz="2000">
                <a:solidFill>
                  <a:srgbClr val="FFFFFF"/>
                </a:solidFill>
                <a:latin typeface="Oswald Regular"/>
                <a:ea typeface="Oswald Regular"/>
                <a:cs typeface="Oswald Regular"/>
                <a:sym typeface="Oswald Regular"/>
              </a:rPr>
              <a:t>Then the script can request any data from the metadata service using requests to ex.ploit.info; the metadata services don’t care what hostname is used to make requests to them</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AutoNum type="arabicPeriod"/>
            </a:pPr>
            <a:r>
              <a:rPr lang="en" sz="2000">
                <a:solidFill>
                  <a:srgbClr val="FFFFFF"/>
                </a:solidFill>
                <a:latin typeface="Oswald Regular"/>
                <a:ea typeface="Oswald Regular"/>
                <a:cs typeface="Oswald Regular"/>
                <a:sym typeface="Oswald Regular"/>
              </a:rPr>
              <a:t>Data can be sent to bc.ex.ploit.info, which serves as a backchannel for exfiltration</a:t>
            </a:r>
            <a:endParaRPr sz="2000">
              <a:solidFill>
                <a:srgbClr val="FFFFFF"/>
              </a:solidFill>
              <a:latin typeface="Oswald Regular"/>
              <a:ea typeface="Oswald Regular"/>
              <a:cs typeface="Oswald Regular"/>
              <a:sym typeface="Oswald Regular"/>
            </a:endParaRPr>
          </a:p>
        </p:txBody>
      </p:sp>
      <p:cxnSp>
        <p:nvCxnSpPr>
          <p:cNvPr id="356" name="Google Shape;356;p51"/>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0" name="Shape 360"/>
        <p:cNvGrpSpPr/>
        <p:nvPr/>
      </p:nvGrpSpPr>
      <p:grpSpPr>
        <a:xfrm>
          <a:off x="0" y="0"/>
          <a:ext cx="0" cy="0"/>
          <a:chOff x="0" y="0"/>
          <a:chExt cx="0" cy="0"/>
        </a:xfrm>
      </p:grpSpPr>
      <p:pic>
        <p:nvPicPr>
          <p:cNvPr descr="Video presented at Defcon 27 for 'Owning the Clout through SSRF &amp; PDF Generators' with Cody Brocious. (Credit: Cody Brocious)&#10;&#10;Live Every Sunday on Twitch:&#10;https://twitch.tv/nahamsec&#10;&#10;Follow me on social media:&#10;https://twitter.com/nahamsec&#10;https://instagram.com/nahamsec&#10;https://twitch.com/nahamsec&#10;https://hackerone.com/nahamsec&#10;https://facebook.com/nahamsec1" id="361" name="Google Shape;361;p52" title="Owning the Clout through SSRF &amp; PDF Generators - Defcon 27 -  (SSRF on ads.snapchat.com)">
            <a:hlinkClick r:id="rId3"/>
          </p:cNvPr>
          <p:cNvPicPr preferRelativeResize="0"/>
          <p:nvPr/>
        </p:nvPicPr>
        <p:blipFill>
          <a:blip r:embed="rId4">
            <a:alphaModFix/>
          </a:blip>
          <a:stretch>
            <a:fillRect/>
          </a:stretch>
        </p:blipFill>
        <p:spPr>
          <a:xfrm>
            <a:off x="1576000" y="324750"/>
            <a:ext cx="5992000" cy="4494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65" name="Shape 365"/>
        <p:cNvGrpSpPr/>
        <p:nvPr/>
      </p:nvGrpSpPr>
      <p:grpSpPr>
        <a:xfrm>
          <a:off x="0" y="0"/>
          <a:ext cx="0" cy="0"/>
          <a:chOff x="0" y="0"/>
          <a:chExt cx="0" cy="0"/>
        </a:xfrm>
      </p:grpSpPr>
      <p:sp>
        <p:nvSpPr>
          <p:cNvPr id="366" name="Google Shape;366;p53"/>
          <p:cNvSpPr txBox="1"/>
          <p:nvPr>
            <p:ph idx="1" type="subTitle"/>
          </p:nvPr>
        </p:nvSpPr>
        <p:spPr>
          <a:xfrm>
            <a:off x="3240450" y="2204725"/>
            <a:ext cx="26631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SSRF Tools</a:t>
            </a:r>
            <a:endParaRPr b="1" sz="4000">
              <a:solidFill>
                <a:srgbClr val="FF00FF"/>
              </a:solidFill>
              <a:latin typeface="Fjalla One"/>
              <a:ea typeface="Fjalla One"/>
              <a:cs typeface="Fjalla One"/>
              <a:sym typeface="Fjalla One"/>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70" name="Shape 370"/>
        <p:cNvGrpSpPr/>
        <p:nvPr/>
      </p:nvGrpSpPr>
      <p:grpSpPr>
        <a:xfrm>
          <a:off x="0" y="0"/>
          <a:ext cx="0" cy="0"/>
          <a:chOff x="0" y="0"/>
          <a:chExt cx="0" cy="0"/>
        </a:xfrm>
      </p:grpSpPr>
      <p:sp>
        <p:nvSpPr>
          <p:cNvPr id="371" name="Google Shape;371;p54"/>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HTTPRebind</a:t>
            </a:r>
            <a:endParaRPr b="1" sz="4000">
              <a:solidFill>
                <a:srgbClr val="FF00FF"/>
              </a:solidFill>
              <a:latin typeface="Fjalla One"/>
              <a:ea typeface="Fjalla One"/>
              <a:cs typeface="Fjalla One"/>
              <a:sym typeface="Fjalla One"/>
            </a:endParaRPr>
          </a:p>
        </p:txBody>
      </p:sp>
      <p:sp>
        <p:nvSpPr>
          <p:cNvPr id="372" name="Google Shape;372;p54"/>
          <p:cNvSpPr txBox="1"/>
          <p:nvPr/>
        </p:nvSpPr>
        <p:spPr>
          <a:xfrm>
            <a:off x="664425" y="1624600"/>
            <a:ext cx="7599300" cy="29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Rebinding attacks can be very valuable for SSRF, but they require a lot of setup work, tweaking, and programming.  HTTPRebind combines a DNS server with an HTTP server to automatically handle all of this for you.</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Usable against any headless browser</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Takes only seconds to run due to DNS cache flushing</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Automatically pulls critical data from GCP, AWS, and Azure</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Get the source at </a:t>
            </a:r>
            <a:r>
              <a:rPr lang="en" sz="2000" u="sng">
                <a:solidFill>
                  <a:schemeClr val="hlink"/>
                </a:solidFill>
                <a:latin typeface="Oswald Regular"/>
                <a:ea typeface="Oswald Regular"/>
                <a:cs typeface="Oswald Regular"/>
                <a:sym typeface="Oswald Regular"/>
                <a:hlinkClick r:id="rId3"/>
              </a:rPr>
              <a:t>https://github.com/daeken/httprebind</a:t>
            </a:r>
            <a:endParaRPr sz="2000">
              <a:solidFill>
                <a:srgbClr val="FFFFFF"/>
              </a:solidFill>
              <a:latin typeface="Oswald Regular"/>
              <a:ea typeface="Oswald Regular"/>
              <a:cs typeface="Oswald Regular"/>
              <a:sym typeface="Oswald Regular"/>
            </a:endParaRPr>
          </a:p>
        </p:txBody>
      </p:sp>
      <p:cxnSp>
        <p:nvCxnSpPr>
          <p:cNvPr id="373" name="Google Shape;373;p54"/>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77" name="Shape 377"/>
        <p:cNvGrpSpPr/>
        <p:nvPr/>
      </p:nvGrpSpPr>
      <p:grpSpPr>
        <a:xfrm>
          <a:off x="0" y="0"/>
          <a:ext cx="0" cy="0"/>
          <a:chOff x="0" y="0"/>
          <a:chExt cx="0" cy="0"/>
        </a:xfrm>
      </p:grpSpPr>
      <p:sp>
        <p:nvSpPr>
          <p:cNvPr id="378" name="Google Shape;378;p55"/>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SSRFTest</a:t>
            </a:r>
            <a:endParaRPr b="1" sz="4000">
              <a:solidFill>
                <a:srgbClr val="FF00FF"/>
              </a:solidFill>
              <a:latin typeface="Fjalla One"/>
              <a:ea typeface="Fjalla One"/>
              <a:cs typeface="Fjalla One"/>
              <a:sym typeface="Fjalla One"/>
            </a:endParaRPr>
          </a:p>
        </p:txBody>
      </p:sp>
      <p:sp>
        <p:nvSpPr>
          <p:cNvPr id="379" name="Google Shape;379;p55"/>
          <p:cNvSpPr txBox="1"/>
          <p:nvPr/>
        </p:nvSpPr>
        <p:spPr>
          <a:xfrm>
            <a:off x="664425" y="1624600"/>
            <a:ext cx="7599300" cy="31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This tool lets you quickly do a first-pass test for SSRF. It will record incoming requests for your different targets as well as automatically attempt to access and dump data from EC2 metadata service.</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The optimal targets for SSRFTest’s automated functionality are real headless browsers living in the cloud, but it’s a useful starting point for any SSRF exploitation.</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rPr lang="en" sz="2000">
                <a:solidFill>
                  <a:srgbClr val="FFFFFF"/>
                </a:solidFill>
                <a:latin typeface="Oswald Regular"/>
                <a:ea typeface="Oswald Regular"/>
                <a:cs typeface="Oswald Regular"/>
                <a:sym typeface="Oswald Regular"/>
              </a:rPr>
              <a:t>Get the code at </a:t>
            </a:r>
            <a:r>
              <a:rPr lang="en" sz="2000" u="sng">
                <a:solidFill>
                  <a:schemeClr val="hlink"/>
                </a:solidFill>
                <a:latin typeface="Oswald Regular"/>
                <a:ea typeface="Oswald Regular"/>
                <a:cs typeface="Oswald Regular"/>
                <a:sym typeface="Oswald Regular"/>
                <a:hlinkClick r:id="rId3"/>
              </a:rPr>
              <a:t>https://github.com/daeken/SSRFTest</a:t>
            </a:r>
            <a:r>
              <a:rPr lang="en" sz="2000">
                <a:solidFill>
                  <a:srgbClr val="FFFFFF"/>
                </a:solidFill>
                <a:latin typeface="Oswald Regular"/>
                <a:ea typeface="Oswald Regular"/>
                <a:cs typeface="Oswald Regular"/>
                <a:sym typeface="Oswald Regular"/>
              </a:rPr>
              <a:t> or use the public instance at </a:t>
            </a:r>
            <a:r>
              <a:rPr lang="en" sz="2000" u="sng">
                <a:solidFill>
                  <a:schemeClr val="hlink"/>
                </a:solidFill>
                <a:latin typeface="Oswald Regular"/>
                <a:ea typeface="Oswald Regular"/>
                <a:cs typeface="Oswald Regular"/>
                <a:sym typeface="Oswald Regular"/>
                <a:hlinkClick r:id="rId4"/>
              </a:rPr>
              <a:t>https://ssrftest.com/</a:t>
            </a:r>
            <a:r>
              <a:rPr lang="en" sz="2000">
                <a:solidFill>
                  <a:srgbClr val="FFFFFF"/>
                </a:solidFill>
                <a:latin typeface="Oswald Regular"/>
                <a:ea typeface="Oswald Regular"/>
                <a:cs typeface="Oswald Regular"/>
                <a:sym typeface="Oswald Regular"/>
              </a:rPr>
              <a:t> </a:t>
            </a:r>
            <a:endParaRPr sz="2000">
              <a:solidFill>
                <a:srgbClr val="FFFFFF"/>
              </a:solidFill>
              <a:latin typeface="Oswald Regular"/>
              <a:ea typeface="Oswald Regular"/>
              <a:cs typeface="Oswald Regular"/>
              <a:sym typeface="Oswald Regular"/>
            </a:endParaRPr>
          </a:p>
        </p:txBody>
      </p:sp>
      <p:cxnSp>
        <p:nvCxnSpPr>
          <p:cNvPr id="380" name="Google Shape;380;p55"/>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84" name="Shape 384"/>
        <p:cNvGrpSpPr/>
        <p:nvPr/>
      </p:nvGrpSpPr>
      <p:grpSpPr>
        <a:xfrm>
          <a:off x="0" y="0"/>
          <a:ext cx="0" cy="0"/>
          <a:chOff x="0" y="0"/>
          <a:chExt cx="0" cy="0"/>
        </a:xfrm>
      </p:grpSpPr>
      <p:sp>
        <p:nvSpPr>
          <p:cNvPr id="385" name="Google Shape;385;p56"/>
          <p:cNvSpPr txBox="1"/>
          <p:nvPr>
            <p:ph idx="1" type="subTitle"/>
          </p:nvPr>
        </p:nvSpPr>
        <p:spPr>
          <a:xfrm>
            <a:off x="3755400" y="2175450"/>
            <a:ext cx="16332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Recap</a:t>
            </a:r>
            <a:endParaRPr b="1" sz="4000">
              <a:solidFill>
                <a:srgbClr val="FF00FF"/>
              </a:solidFill>
              <a:latin typeface="Fjalla One"/>
              <a:ea typeface="Fjalla One"/>
              <a:cs typeface="Fjalla One"/>
              <a:sym typeface="Fjalla One"/>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89" name="Shape 389"/>
        <p:cNvGrpSpPr/>
        <p:nvPr/>
      </p:nvGrpSpPr>
      <p:grpSpPr>
        <a:xfrm>
          <a:off x="0" y="0"/>
          <a:ext cx="0" cy="0"/>
          <a:chOff x="0" y="0"/>
          <a:chExt cx="0" cy="0"/>
        </a:xfrm>
      </p:grpSpPr>
      <p:sp>
        <p:nvSpPr>
          <p:cNvPr id="390" name="Google Shape;390;p57"/>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Recap</a:t>
            </a:r>
            <a:endParaRPr b="1" sz="4000">
              <a:solidFill>
                <a:srgbClr val="FF00FF"/>
              </a:solidFill>
              <a:latin typeface="Fjalla One"/>
              <a:ea typeface="Fjalla One"/>
              <a:cs typeface="Fjalla One"/>
              <a:sym typeface="Fjalla One"/>
            </a:endParaRPr>
          </a:p>
        </p:txBody>
      </p:sp>
      <p:sp>
        <p:nvSpPr>
          <p:cNvPr id="391" name="Google Shape;391;p57"/>
          <p:cNvSpPr txBox="1"/>
          <p:nvPr/>
        </p:nvSpPr>
        <p:spPr>
          <a:xfrm>
            <a:off x="664425" y="1624600"/>
            <a:ext cx="7599300" cy="31734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SSRFs can be very dangerous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Don’t give up on your bugs until you have tried every possible scenario </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WeasyPrint took us ~3 months to piece together</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If you see a PDF generator somewhere, 9/10 it’s vulnerable</a:t>
            </a:r>
            <a:endParaRPr sz="2000">
              <a:solidFill>
                <a:srgbClr val="FFFFFF"/>
              </a:solidFill>
              <a:latin typeface="Oswald Regular"/>
              <a:ea typeface="Oswald Regular"/>
              <a:cs typeface="Oswald Regular"/>
              <a:sym typeface="Oswald Regular"/>
            </a:endParaRPr>
          </a:p>
          <a:p>
            <a:pPr indent="-355600" lvl="1" marL="9144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Especially if you chain with other </a:t>
            </a:r>
            <a:r>
              <a:rPr lang="en" sz="2000">
                <a:solidFill>
                  <a:srgbClr val="FFFFFF"/>
                </a:solidFill>
                <a:latin typeface="Oswald Regular"/>
                <a:ea typeface="Oswald Regular"/>
                <a:cs typeface="Oswald Regular"/>
                <a:sym typeface="Oswald Regular"/>
              </a:rPr>
              <a:t>vulnerabilities</a:t>
            </a:r>
            <a:r>
              <a:rPr lang="en" sz="2000">
                <a:solidFill>
                  <a:srgbClr val="FFFFFF"/>
                </a:solidFill>
                <a:latin typeface="Oswald Regular"/>
                <a:ea typeface="Oswald Regular"/>
                <a:cs typeface="Oswald Regular"/>
                <a:sym typeface="Oswald Regular"/>
              </a:rPr>
              <a:t> (XSS, Open Redirect, etc)</a:t>
            </a:r>
            <a:endParaRPr sz="2000">
              <a:solidFill>
                <a:srgbClr val="FFFFFF"/>
              </a:solidFill>
              <a:latin typeface="Oswald Regular"/>
              <a:ea typeface="Oswald Regular"/>
              <a:cs typeface="Oswald Regular"/>
              <a:sym typeface="Oswald Regular"/>
            </a:endParaRPr>
          </a:p>
          <a:p>
            <a:pPr indent="0" lvl="0" marL="0" rtl="0" algn="l">
              <a:spcBef>
                <a:spcPts val="0"/>
              </a:spcBef>
              <a:spcAft>
                <a:spcPts val="0"/>
              </a:spcAft>
              <a:buNone/>
            </a:pPr>
            <a:r>
              <a:t/>
            </a:r>
            <a:endParaRPr sz="2000">
              <a:solidFill>
                <a:srgbClr val="FFFFFF"/>
              </a:solidFill>
              <a:latin typeface="Oswald Regular"/>
              <a:ea typeface="Oswald Regular"/>
              <a:cs typeface="Oswald Regular"/>
              <a:sym typeface="Oswald Regular"/>
            </a:endParaRPr>
          </a:p>
        </p:txBody>
      </p:sp>
      <p:cxnSp>
        <p:nvCxnSpPr>
          <p:cNvPr id="392" name="Google Shape;392;p57"/>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396" name="Shape 396"/>
        <p:cNvGrpSpPr/>
        <p:nvPr/>
      </p:nvGrpSpPr>
      <p:grpSpPr>
        <a:xfrm>
          <a:off x="0" y="0"/>
          <a:ext cx="0" cy="0"/>
          <a:chOff x="0" y="0"/>
          <a:chExt cx="0" cy="0"/>
        </a:xfrm>
      </p:grpSpPr>
      <p:sp>
        <p:nvSpPr>
          <p:cNvPr id="397" name="Google Shape;397;p58"/>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Recap</a:t>
            </a:r>
            <a:endParaRPr b="1" sz="4000">
              <a:solidFill>
                <a:srgbClr val="FF00FF"/>
              </a:solidFill>
              <a:latin typeface="Fjalla One"/>
              <a:ea typeface="Fjalla One"/>
              <a:cs typeface="Fjalla One"/>
              <a:sym typeface="Fjalla One"/>
            </a:endParaRPr>
          </a:p>
        </p:txBody>
      </p:sp>
      <p:sp>
        <p:nvSpPr>
          <p:cNvPr id="398" name="Google Shape;398;p58"/>
          <p:cNvSpPr txBox="1"/>
          <p:nvPr/>
        </p:nvSpPr>
        <p:spPr>
          <a:xfrm>
            <a:off x="664425" y="1624600"/>
            <a:ext cx="7599300" cy="31734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chemeClr val="lt1"/>
                </a:solidFill>
                <a:latin typeface="Oswald Regular"/>
                <a:ea typeface="Oswald Regular"/>
                <a:cs typeface="Oswald Regular"/>
                <a:sym typeface="Oswald Regular"/>
              </a:rPr>
              <a:t>Disable Javascript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Create some good whitelisting </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Properly configure your cloud instances to minimize impact</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Be nice to hackers </a:t>
            </a:r>
            <a:endParaRPr sz="2000">
              <a:solidFill>
                <a:srgbClr val="FFFFFF"/>
              </a:solidFill>
              <a:latin typeface="Oswald Regular"/>
              <a:ea typeface="Oswald Regular"/>
              <a:cs typeface="Oswald Regular"/>
              <a:sym typeface="Oswald Regular"/>
            </a:endParaRPr>
          </a:p>
        </p:txBody>
      </p:sp>
      <p:cxnSp>
        <p:nvCxnSpPr>
          <p:cNvPr id="399" name="Google Shape;399;p58"/>
          <p:cNvCxnSpPr/>
          <p:nvPr/>
        </p:nvCxnSpPr>
        <p:spPr>
          <a:xfrm flipH="1" rot="10800000">
            <a:off x="515475" y="14585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403" name="Shape 403"/>
        <p:cNvGrpSpPr/>
        <p:nvPr/>
      </p:nvGrpSpPr>
      <p:grpSpPr>
        <a:xfrm>
          <a:off x="0" y="0"/>
          <a:ext cx="0" cy="0"/>
          <a:chOff x="0" y="0"/>
          <a:chExt cx="0" cy="0"/>
        </a:xfrm>
      </p:grpSpPr>
      <p:sp>
        <p:nvSpPr>
          <p:cNvPr id="404" name="Google Shape;404;p59"/>
          <p:cNvSpPr txBox="1"/>
          <p:nvPr>
            <p:ph idx="1" type="subTitle"/>
          </p:nvPr>
        </p:nvSpPr>
        <p:spPr>
          <a:xfrm>
            <a:off x="561225" y="507025"/>
            <a:ext cx="77025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Keep in Touch</a:t>
            </a:r>
            <a:endParaRPr b="1" sz="4000">
              <a:solidFill>
                <a:srgbClr val="FF00FF"/>
              </a:solidFill>
              <a:latin typeface="Fjalla One"/>
              <a:ea typeface="Fjalla One"/>
              <a:cs typeface="Fjalla One"/>
              <a:sym typeface="Fjalla One"/>
            </a:endParaRPr>
          </a:p>
        </p:txBody>
      </p:sp>
      <p:pic>
        <p:nvPicPr>
          <p:cNvPr id="405" name="Google Shape;405;p59"/>
          <p:cNvPicPr preferRelativeResize="0"/>
          <p:nvPr/>
        </p:nvPicPr>
        <p:blipFill>
          <a:blip r:embed="rId3">
            <a:alphaModFix/>
          </a:blip>
          <a:stretch>
            <a:fillRect/>
          </a:stretch>
        </p:blipFill>
        <p:spPr>
          <a:xfrm>
            <a:off x="1168700" y="1530675"/>
            <a:ext cx="1133400" cy="1133400"/>
          </a:xfrm>
          <a:prstGeom prst="ellipse">
            <a:avLst/>
          </a:prstGeom>
          <a:noFill/>
          <a:ln>
            <a:noFill/>
          </a:ln>
        </p:spPr>
      </p:pic>
      <p:sp>
        <p:nvSpPr>
          <p:cNvPr id="406" name="Google Shape;406;p59"/>
          <p:cNvSpPr txBox="1"/>
          <p:nvPr/>
        </p:nvSpPr>
        <p:spPr>
          <a:xfrm>
            <a:off x="2927925" y="1675125"/>
            <a:ext cx="5142300" cy="8445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me@nahamsec.com</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Youtube/Twitch/social media: @NahamSec</a:t>
            </a:r>
            <a:endParaRPr sz="2000">
              <a:solidFill>
                <a:srgbClr val="FFFFFF"/>
              </a:solidFill>
              <a:latin typeface="Oswald Regular"/>
              <a:ea typeface="Oswald Regular"/>
              <a:cs typeface="Oswald Regular"/>
              <a:sym typeface="Oswald Regular"/>
            </a:endParaRPr>
          </a:p>
        </p:txBody>
      </p:sp>
      <p:sp>
        <p:nvSpPr>
          <p:cNvPr id="407" name="Google Shape;407;p59"/>
          <p:cNvSpPr txBox="1"/>
          <p:nvPr/>
        </p:nvSpPr>
        <p:spPr>
          <a:xfrm>
            <a:off x="980750" y="2664075"/>
            <a:ext cx="1509300" cy="40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FFFFFF"/>
                </a:solidFill>
                <a:latin typeface="Fjalla One"/>
                <a:ea typeface="Fjalla One"/>
                <a:cs typeface="Fjalla One"/>
                <a:sym typeface="Fjalla One"/>
              </a:rPr>
              <a:t>Ben Sadeghipour</a:t>
            </a:r>
            <a:endParaRPr sz="1500">
              <a:solidFill>
                <a:srgbClr val="FFFFFF"/>
              </a:solidFill>
              <a:latin typeface="Fjalla One"/>
              <a:ea typeface="Fjalla One"/>
              <a:cs typeface="Fjalla One"/>
              <a:sym typeface="Fjalla One"/>
            </a:endParaRPr>
          </a:p>
        </p:txBody>
      </p:sp>
      <p:pic>
        <p:nvPicPr>
          <p:cNvPr id="408" name="Google Shape;408;p59"/>
          <p:cNvPicPr preferRelativeResize="0"/>
          <p:nvPr/>
        </p:nvPicPr>
        <p:blipFill rotWithShape="1">
          <a:blip r:embed="rId4">
            <a:alphaModFix/>
          </a:blip>
          <a:srcRect b="99" l="0" r="0" t="99"/>
          <a:stretch/>
        </p:blipFill>
        <p:spPr>
          <a:xfrm>
            <a:off x="1168700" y="3242725"/>
            <a:ext cx="1133400" cy="1133400"/>
          </a:xfrm>
          <a:prstGeom prst="ellipse">
            <a:avLst/>
          </a:prstGeom>
          <a:noFill/>
          <a:ln>
            <a:noFill/>
          </a:ln>
        </p:spPr>
      </p:pic>
      <p:sp>
        <p:nvSpPr>
          <p:cNvPr id="409" name="Google Shape;409;p59"/>
          <p:cNvSpPr txBox="1"/>
          <p:nvPr/>
        </p:nvSpPr>
        <p:spPr>
          <a:xfrm>
            <a:off x="2927925" y="3413125"/>
            <a:ext cx="5142300" cy="792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Twitter: @daeken</a:t>
            </a:r>
            <a:endParaRPr sz="2000">
              <a:solidFill>
                <a:srgbClr val="FFFFFF"/>
              </a:solidFill>
              <a:latin typeface="Oswald Regular"/>
              <a:ea typeface="Oswald Regular"/>
              <a:cs typeface="Oswald Regular"/>
              <a:sym typeface="Oswald Regular"/>
            </a:endParaRPr>
          </a:p>
          <a:p>
            <a:pPr indent="-355600" lvl="0" marL="457200" rtl="0" algn="l">
              <a:spcBef>
                <a:spcPts val="0"/>
              </a:spcBef>
              <a:spcAft>
                <a:spcPts val="0"/>
              </a:spcAft>
              <a:buClr>
                <a:srgbClr val="FFFFFF"/>
              </a:buClr>
              <a:buSzPts val="2000"/>
              <a:buFont typeface="Oswald Regular"/>
              <a:buChar char="●"/>
            </a:pPr>
            <a:r>
              <a:rPr lang="en" sz="2000">
                <a:solidFill>
                  <a:srgbClr val="FFFFFF"/>
                </a:solidFill>
                <a:latin typeface="Oswald Regular"/>
                <a:ea typeface="Oswald Regular"/>
                <a:cs typeface="Oswald Regular"/>
                <a:sym typeface="Oswald Regular"/>
              </a:rPr>
              <a:t>Hacker101 Discord </a:t>
            </a:r>
            <a:endParaRPr sz="2000">
              <a:solidFill>
                <a:srgbClr val="FFFFFF"/>
              </a:solidFill>
              <a:latin typeface="Oswald Regular"/>
              <a:ea typeface="Oswald Regular"/>
              <a:cs typeface="Oswald Regular"/>
              <a:sym typeface="Oswald Regular"/>
            </a:endParaRPr>
          </a:p>
        </p:txBody>
      </p:sp>
      <p:sp>
        <p:nvSpPr>
          <p:cNvPr id="410" name="Google Shape;410;p59"/>
          <p:cNvSpPr txBox="1"/>
          <p:nvPr/>
        </p:nvSpPr>
        <p:spPr>
          <a:xfrm>
            <a:off x="980750" y="4430225"/>
            <a:ext cx="1509300" cy="40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FFFFFF"/>
                </a:solidFill>
                <a:latin typeface="Fjalla One"/>
                <a:ea typeface="Fjalla One"/>
                <a:cs typeface="Fjalla One"/>
                <a:sym typeface="Fjalla One"/>
              </a:rPr>
              <a:t>Cody Brocious</a:t>
            </a:r>
            <a:endParaRPr sz="1500">
              <a:solidFill>
                <a:srgbClr val="FFFFFF"/>
              </a:solidFill>
              <a:latin typeface="Fjalla One"/>
              <a:ea typeface="Fjalla One"/>
              <a:cs typeface="Fjalla One"/>
              <a:sym typeface="Fjalla One"/>
            </a:endParaRPr>
          </a:p>
        </p:txBody>
      </p:sp>
      <p:cxnSp>
        <p:nvCxnSpPr>
          <p:cNvPr id="411" name="Google Shape;411;p59"/>
          <p:cNvCxnSpPr/>
          <p:nvPr/>
        </p:nvCxnSpPr>
        <p:spPr>
          <a:xfrm flipH="1" rot="10800000">
            <a:off x="515475" y="1292413"/>
            <a:ext cx="7794000" cy="7200"/>
          </a:xfrm>
          <a:prstGeom prst="straightConnector1">
            <a:avLst/>
          </a:prstGeom>
          <a:noFill/>
          <a:ln cap="flat" cmpd="sng" w="9525">
            <a:solidFill>
              <a:srgbClr val="FFFFFF"/>
            </a:solidFill>
            <a:prstDash val="solid"/>
            <a:round/>
            <a:headEnd len="med" w="med" type="none"/>
            <a:tailEnd len="med" w="med" type="non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4E29AA"/>
            </a:gs>
            <a:gs pos="100000">
              <a:srgbClr val="1E123D"/>
            </a:gs>
          </a:gsLst>
          <a:lin ang="5400012" scaled="0"/>
        </a:gradFill>
      </p:bgPr>
    </p:bg>
    <p:spTree>
      <p:nvGrpSpPr>
        <p:cNvPr id="415" name="Shape 415"/>
        <p:cNvGrpSpPr/>
        <p:nvPr/>
      </p:nvGrpSpPr>
      <p:grpSpPr>
        <a:xfrm>
          <a:off x="0" y="0"/>
          <a:ext cx="0" cy="0"/>
          <a:chOff x="0" y="0"/>
          <a:chExt cx="0" cy="0"/>
        </a:xfrm>
      </p:grpSpPr>
      <p:sp>
        <p:nvSpPr>
          <p:cNvPr id="416" name="Google Shape;416;p60"/>
          <p:cNvSpPr txBox="1"/>
          <p:nvPr>
            <p:ph idx="1" type="subTitle"/>
          </p:nvPr>
        </p:nvSpPr>
        <p:spPr>
          <a:xfrm>
            <a:off x="3196950" y="2175450"/>
            <a:ext cx="27501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FF00FF"/>
                </a:solidFill>
                <a:latin typeface="Fjalla One"/>
                <a:ea typeface="Fjalla One"/>
                <a:cs typeface="Fjalla One"/>
                <a:sym typeface="Fjalla One"/>
              </a:rPr>
              <a:t>Thank You!</a:t>
            </a:r>
            <a:endParaRPr b="1" sz="4000">
              <a:solidFill>
                <a:srgbClr val="FF00FF"/>
              </a:solidFill>
              <a:latin typeface="Fjalla One"/>
              <a:ea typeface="Fjalla One"/>
              <a:cs typeface="Fjalla One"/>
              <a:sym typeface="Fjalla On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